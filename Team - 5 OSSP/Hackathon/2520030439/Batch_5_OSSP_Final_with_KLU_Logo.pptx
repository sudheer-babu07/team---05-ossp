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fd9c27d63db46bb" Type="http://schemas.openxmlformats.org/officeDocument/2006/relationships/officeDocument" Target="ppt/presentation.xml"/><Relationship Id="R300a1658ae1443e0" Type="http://schemas.openxmlformats.org/officeDocument/2006/relationships/extended-properties" Target="docProps/app.xml"/><Relationship Id="R4952c1f4820d4fc7"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3dc62604984942cc"/>
  </p:sldMasterIdLst>
  <p:notesMasterIdLst>
    <p:notesMasterId xmlns:r="http://schemas.openxmlformats.org/officeDocument/2006/relationships" r:id="R1e83b9e9eac24d53"/>
  </p:notesMasterIdLst>
  <p:sldIdLst>
    <p:sldId xmlns:r="http://schemas.openxmlformats.org/officeDocument/2006/relationships" id="256" r:id="R445d17cdc2e6441e"/>
    <p:sldId xmlns:r="http://schemas.openxmlformats.org/officeDocument/2006/relationships" id="257" r:id="R6fddb2ab24954657"/>
    <p:sldId xmlns:r="http://schemas.openxmlformats.org/officeDocument/2006/relationships" id="258" r:id="R2c3db285e1484947"/>
    <p:sldId xmlns:r="http://schemas.openxmlformats.org/officeDocument/2006/relationships" id="259" r:id="R3d88eaf56b2a47f0"/>
    <p:sldId xmlns:r="http://schemas.openxmlformats.org/officeDocument/2006/relationships" id="260" r:id="R1f4c2f7e80be4831"/>
    <p:sldId xmlns:r="http://schemas.openxmlformats.org/officeDocument/2006/relationships" id="261" r:id="R5e65fe4139a24cd9"/>
    <p:sldId xmlns:r="http://schemas.openxmlformats.org/officeDocument/2006/relationships" id="262" r:id="R701c7cdcdcf34e90"/>
    <p:sldId xmlns:r="http://schemas.openxmlformats.org/officeDocument/2006/relationships" id="263" r:id="R9d4efb6251ed4d98"/>
    <p:sldId xmlns:r="http://schemas.openxmlformats.org/officeDocument/2006/relationships" id="264" r:id="R60d3f6e304294e0e"/>
    <p:sldId xmlns:r="http://schemas.openxmlformats.org/officeDocument/2006/relationships" id="265" r:id="R242bc834c1124c0d"/>
    <p:sldId xmlns:r="http://schemas.openxmlformats.org/officeDocument/2006/relationships" id="266" r:id="R9b8d2a5ee53f4c5e"/>
    <p:sldId xmlns:r="http://schemas.openxmlformats.org/officeDocument/2006/relationships" id="267" r:id="R914930971ad94166"/>
    <p:sldId xmlns:r="http://schemas.openxmlformats.org/officeDocument/2006/relationships" id="268" r:id="R7754ba7b2105457b"/>
    <p:sldId xmlns:r="http://schemas.openxmlformats.org/officeDocument/2006/relationships" id="269" r:id="R5a79df4fc7a54922"/>
    <p:sldId xmlns:r="http://schemas.openxmlformats.org/officeDocument/2006/relationships" id="270" r:id="Re1aec797376541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77e466d2091420b" Type="http://schemas.openxmlformats.org/officeDocument/2006/relationships/theme" Target="theme/theme1.xml"/><Relationship Id="R1e83b9e9eac24d53" Type="http://schemas.openxmlformats.org/officeDocument/2006/relationships/notesMaster" Target="notesMasters/notesMaster1.xml"/><Relationship Id="R1f4c2f7e80be4831" Type="http://schemas.openxmlformats.org/officeDocument/2006/relationships/slide" Target="slides/slide5.xml"/><Relationship Id="R242bc834c1124c0d" Type="http://schemas.openxmlformats.org/officeDocument/2006/relationships/slide" Target="slides/slide10.xml"/><Relationship Id="R2c3db285e1484947" Type="http://schemas.openxmlformats.org/officeDocument/2006/relationships/slide" Target="slides/slide3.xml"/><Relationship Id="R3d88eaf56b2a47f0" Type="http://schemas.openxmlformats.org/officeDocument/2006/relationships/slide" Target="slides/slide4.xml"/><Relationship Id="R3dc62604984942cc" Type="http://schemas.openxmlformats.org/officeDocument/2006/relationships/slideMaster" Target="slideMasters/slideMaster1.xml"/><Relationship Id="R445d17cdc2e6441e" Type="http://schemas.openxmlformats.org/officeDocument/2006/relationships/slide" Target="slides/slide1.xml"/><Relationship Id="R5a79df4fc7a54922" Type="http://schemas.openxmlformats.org/officeDocument/2006/relationships/slide" Target="slides/slide14.xml"/><Relationship Id="R5e65fe4139a24cd9" Type="http://schemas.openxmlformats.org/officeDocument/2006/relationships/slide" Target="slides/slide6.xml"/><Relationship Id="R60d3f6e304294e0e" Type="http://schemas.openxmlformats.org/officeDocument/2006/relationships/slide" Target="slides/slide9.xml"/><Relationship Id="R6fddb2ab24954657" Type="http://schemas.openxmlformats.org/officeDocument/2006/relationships/slide" Target="slides/slide2.xml"/><Relationship Id="R701c7cdcdcf34e90" Type="http://schemas.openxmlformats.org/officeDocument/2006/relationships/slide" Target="slides/slide7.xml"/><Relationship Id="R7754ba7b2105457b" Type="http://schemas.openxmlformats.org/officeDocument/2006/relationships/slide" Target="slides/slide13.xml"/><Relationship Id="R86a09a6fdd66485d" Type="http://schemas.openxmlformats.org/officeDocument/2006/relationships/presProps" Target="presProps.xml"/><Relationship Id="R914930971ad94166" Type="http://schemas.openxmlformats.org/officeDocument/2006/relationships/slide" Target="slides/slide12.xml"/><Relationship Id="R9b8d2a5ee53f4c5e" Type="http://schemas.openxmlformats.org/officeDocument/2006/relationships/slide" Target="slides/slide11.xml"/><Relationship Id="R9d4efb6251ed4d98" Type="http://schemas.openxmlformats.org/officeDocument/2006/relationships/slide" Target="slides/slide8.xml"/><Relationship Id="Rde1e435076bb48e4" Type="http://schemas.openxmlformats.org/officeDocument/2006/relationships/tableStyles" Target="tableStyles.xml"/><Relationship Id="Re1aec797376541bd"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d46f2cfd449e44f4"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6d1e8cf56bf4e04" Type="http://schemas.openxmlformats.org/officeDocument/2006/relationships/notesMaster" Target="../notesMasters/notesMaster1.xml"/><Relationship Id="R769e1206f6874c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835130a21bb44da7" Type="http://schemas.openxmlformats.org/officeDocument/2006/relationships/notesMaster" Target="../notesMasters/notesMaster1.xml"/><Relationship Id="Rb8b903028a4f4b76"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699d6215acaa4107" Type="http://schemas.openxmlformats.org/officeDocument/2006/relationships/slide" Target="../slides/slide3.xml"/><Relationship Id="Rbc9f695b87e84ef0"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964c4e36253847c6" Type="http://schemas.openxmlformats.org/officeDocument/2006/relationships/notesMaster" Target="../notesMasters/notesMaster1.xml"/><Relationship Id="Rf6ac1fc659184846"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5d29a7c02cd6412a" Type="http://schemas.openxmlformats.org/officeDocument/2006/relationships/notesMaster" Target="../notesMasters/notesMaster1.xml"/><Relationship Id="Ra443d3aae43b468f"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5e8a077873074421" Type="http://schemas.openxmlformats.org/officeDocument/2006/relationships/notesMaster" Target="../notesMasters/notesMaster1.xml"/><Relationship Id="Rb0f1b6c48f8144ed"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2d46b1f2c5124931" Type="http://schemas.openxmlformats.org/officeDocument/2006/relationships/slide" Target="../slides/slide7.xml"/><Relationship Id="R8f00dfee9c0341a9"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05be8b6821f34388" Type="http://schemas.openxmlformats.org/officeDocument/2006/relationships/slide" Target="../slides/slide8.xml"/><Relationship Id="R8a610f3fd918429e"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044e429535ec418e" Type="http://schemas.openxmlformats.org/officeDocument/2006/relationships/notesMaster" Target="../notesMasters/notesMaster1.xml"/><Relationship Id="R818da46348864f96"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8e5af7ea25944349" Type="http://schemas.openxmlformats.org/officeDocument/2006/relationships/slide" Target="../slides/slide10.xml"/><Relationship Id="Re795973712524f59"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08e11beef8e34b93" Type="http://schemas.openxmlformats.org/officeDocument/2006/relationships/slide" Target="../slides/slide11.xml"/><Relationship Id="R6da94071b96d4009"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19c93c51860547a5" Type="http://schemas.openxmlformats.org/officeDocument/2006/relationships/notesMaster" Target="../notesMasters/notesMaster1.xml"/><Relationship Id="Rb04388e403694376"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062a2442f7c54ae0" Type="http://schemas.openxmlformats.org/officeDocument/2006/relationships/slide" Target="../slides/slide13.xml"/><Relationship Id="Rccff354ebbe84e26"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398cadecf808485c" Type="http://schemas.openxmlformats.org/officeDocument/2006/relationships/slide" Target="../slides/slide14.xml"/><Relationship Id="Redb0ded30e864457"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a2a8fdb27b734411" Type="http://schemas.openxmlformats.org/officeDocument/2006/relationships/slide" Target="../slides/slide15.xml"/><Relationship Id="Re9e05c4c395c4337"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Our Batch 5 topic is Zombie and Orphan Process Detection System. The project aims to show process states and explain parent–child relationships in Linux. This presentation describes a proposed Python prototype. Implementation and measured results require validation on the team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problem is to identify zombie and orphan processes and display their parent–child relationships in an understandable way. We focus on a controlled Linux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zombie is a terminated child whose exit status has not yet been collected. An orphan has lost its original parent and is adopted by another process. These are different concepts. A zombie does not keep executing. Source: https://man7.org/linux/man-pages/man2/waitpid.2.html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PID means process ID and PPID means parent process ID. The monitor reads process information. It does not automatically terminate processes. A browser-only page cannot inspect local Linux processes without a local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collector reads process data. The history store keeps earlier snapshots. The detection engine compares the data and passes findings to the interface. Proposed technology choices are Python, psutil and Tkinter. Source: https://psutil.readthedocs.io/stable/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PID and creation time help distinguish a process from a later process that reuses its PID. For an orphan event, verify that the original parent ended and the child survived. A parent change alone needs confirmation. Catch AccessDenied and NoSuchProcess exceptions. Source: https://psutil.readthedocs.io/stable/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Linux may adopt an orphan under PID 1 or a child subreaper. Some services normally have PID 1 as their parent. The monitor must avoid treating all such processes as errors. Reparenting is normal OS behaviour. Source: https://man7.org/linux/man-pages/man2/waitpid.2.html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file structure. Tkinter after() schedules refresh without a blocking sleep in the interface. Keep scanning work small or move it to a worker if needed. Demo scripts should end automatically and clean up their own child processes.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recommended technologies, not a statement that development is complete. Use a Linux virtual machine for the live demonstration. The Linux fork tests do not run as native Windows programs.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test, record the process IDs, timestamps, expected behaviour and actual outcome. Compare status and PPID with ps -o pid,ppid,stat,comm -p PID. The table lists expected results only. No execution evidence has been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PID values on this slide are examples. Replace this example with actual prototype evidence before evaluation. A demo may adopt the orphan under a subreaper with a PID other than 1. Do not claim measured accuracy or speed until tests have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dedicated Linux VM or test environment. Keep each demo short and bounded. Record the child PID before triggering the change. Complete cleanup for only the team-created test processes. Do not terminate unrelated processes. Finally show exported evidence and the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 the real repository URL and member names after the team assigns work. Suggested work areas are monitoring and detection, interface and export, and testing and documentation. Combine areas according to team size. Every member should explain fork, exit, wait and reparenting. The user supplied the submission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expected impact is educational and diagnostic. Orphans are not automatically faulty processes. Polling can miss short-lived events and permissions can limit visibility. Future event-based tracing could improve coverage, with suitable privileges and a controlled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proposed tool identifies zombies from their state and investigates orphan events through process history. The live demo should prove both behaviours using controlled tests. References: https://man7.org/linux/man-pages/man2/waitpid.2.html and https://psutil.readthedocs.io/stable/. Hackathon requirements supplied by the user.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4437ba661dc4e8b"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2eeec2cdfdf431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fe3fb966d7724595"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e5a2379fd123483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355a142297a3488f"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27455fd0f3584bc8"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C94A32-C048-43FB-87A4-5960059CC44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E67577-BDFB-4549-BE9D-6F1E68C80D7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A0165A-5A66-4917-AA0D-8D7990FF99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E3F670-FDC2-4009-9D94-CD52F049FC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9ACD35F-0D04-48AA-85AC-BD2075537E3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DB47CD3-E4F3-41E3-98F6-BC8D5DCB01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2BD8D0-CC8D-4859-A13D-A9CC97A66F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EC9F069-92BE-4C3E-B815-2D423E90988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8E9A46-29B4-494C-822C-21FA843567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B6860-A4C6-49CF-B7D3-E03C6072F6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e5c28f660fe4633" Type="http://schemas.openxmlformats.org/officeDocument/2006/relationships/slideLayout" Target="../slideLayouts/slideLayout6.xml"/><Relationship Id="R29420271f7184301" Type="http://schemas.openxmlformats.org/officeDocument/2006/relationships/slideLayout" Target="../slideLayouts/slideLayout2.xml"/><Relationship Id="R70ce3cf4b21c43bd" Type="http://schemas.openxmlformats.org/officeDocument/2006/relationships/slideLayout" Target="../slideLayouts/slideLayout1.xml"/><Relationship Id="Rb5ce9e9892b74c20" Type="http://schemas.openxmlformats.org/officeDocument/2006/relationships/slideLayout" Target="../slideLayouts/slideLayout3.xml"/><Relationship Id="Rba2c13d465274d42" Type="http://schemas.openxmlformats.org/officeDocument/2006/relationships/slideLayout" Target="../slideLayouts/slideLayout4.xml"/><Relationship Id="Rc2119997e6f643ed" Type="http://schemas.openxmlformats.org/officeDocument/2006/relationships/theme" Target="theme/theme2.xml"/><Relationship Id="Rd7fce5769ace4841" Type="http://schemas.openxmlformats.org/officeDocument/2006/relationships/slideLayout" Target="../slideLayouts/slideLayout5.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ce3cf4b21c43bd"/>
    <p:sldLayoutId xmlns:r="http://schemas.openxmlformats.org/officeDocument/2006/relationships" id="2147483650" r:id="R29420271f7184301"/>
    <p:sldLayoutId xmlns:r="http://schemas.openxmlformats.org/officeDocument/2006/relationships" id="2147483651" r:id="Rb5ce9e9892b74c20"/>
    <p:sldLayoutId xmlns:r="http://schemas.openxmlformats.org/officeDocument/2006/relationships" id="2147483652" r:id="Rba2c13d465274d42"/>
    <p:sldLayoutId xmlns:r="http://schemas.openxmlformats.org/officeDocument/2006/relationships" id="2147483653" r:id="Rd7fce5769ace4841"/>
    <p:sldLayoutId xmlns:r="http://schemas.openxmlformats.org/officeDocument/2006/relationships" id="2147483654" r:id="R1e5c28f660fe46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f4f1e3eb63d4398" Type="http://schemas.openxmlformats.org/officeDocument/2006/relationships/slideLayout" Target="../slideLayouts/slideLayout6.xml"/><Relationship Id="Rb0635705deab4a4c"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55a6335573e1481a" Type="http://schemas.openxmlformats.org/officeDocument/2006/relationships/slideLayout" Target="../slideLayouts/slideLayout6.xml"/><Relationship Id="Raa762aaedae94bc0"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72c9307fda344707" Type="http://schemas.openxmlformats.org/officeDocument/2006/relationships/slideLayout" Target="../slideLayouts/slideLayout6.xml"/><Relationship Id="R9d94c79fa6a14d1a"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15c85f2cf3174786" Type="http://schemas.openxmlformats.org/officeDocument/2006/relationships/notesSlide" Target="../notesSlides/notesSlide4.xml"/><Relationship Id="R680c4d0135374443" Type="http://schemas.openxmlformats.org/officeDocument/2006/relationships/slideLayout" Target="../slideLayouts/slideLayout6.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6d8b097deeb848de" Type="http://schemas.openxmlformats.org/officeDocument/2006/relationships/slideLayout" Target="../slideLayouts/slideLayout6.xml"/><Relationship Id="Re5e4e776be39487b"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582b8ddec04944a5" Type="http://schemas.openxmlformats.org/officeDocument/2006/relationships/slideLayout" Target="../slideLayouts/slideLayout6.xml"/><Relationship Id="R8cb46b4853cc4c0c"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13df7253b56f446f" Type="http://schemas.openxmlformats.org/officeDocument/2006/relationships/notesSlide" Target="../notesSlides/notesSlide7.xml"/><Relationship Id="Rf81484c268e94d31" Type="http://schemas.openxmlformats.org/officeDocument/2006/relationships/slideLayout" Target="../slideLayouts/slideLayout6.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07bf54c6d336449b" Type="http://schemas.openxmlformats.org/officeDocument/2006/relationships/notesSlide" Target="../notesSlides/notesSlide8.xml"/><Relationship Id="Rc7e4199cacc54db8" Type="http://schemas.openxmlformats.org/officeDocument/2006/relationships/slideLayout" Target="../slideLayouts/slideLayout6.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3005c6bfc29743ea" Type="http://schemas.openxmlformats.org/officeDocument/2006/relationships/notesSlide" Target="../notesSlides/notesSlide9.xml"/><Relationship Id="Rc0f19bc5c6ab42d6" Type="http://schemas.openxmlformats.org/officeDocument/2006/relationships/slideLayout" Target="../slideLayouts/slideLayout6.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0967ca25076b463c" Type="http://schemas.openxmlformats.org/officeDocument/2006/relationships/slideLayout" Target="../slideLayouts/slideLayout6.xml"/><Relationship Id="R2dcc4889659145ed"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5fa49313d75848c5" Type="http://schemas.openxmlformats.org/officeDocument/2006/relationships/slideLayout" Target="../slideLayouts/slideLayout6.xml"/><Relationship Id="R93cfd981514244ce"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c02dc199a5c040ad" Type="http://schemas.openxmlformats.org/officeDocument/2006/relationships/notesSlide" Target="../notesSlides/notesSlide12.xml"/><Relationship Id="Rcab97d7026654b97" Type="http://schemas.openxmlformats.org/officeDocument/2006/relationships/slideLayout" Target="../slideLayouts/slideLayout6.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3b6c251bb1154536" Type="http://schemas.openxmlformats.org/officeDocument/2006/relationships/slideLayout" Target="../slideLayouts/slideLayout6.xml"/><Relationship Id="R6b94485468aa4a7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a5d6863feb8348f6" Type="http://schemas.openxmlformats.org/officeDocument/2006/relationships/notesSlide" Target="../notesSlides/notesSlide14.xml"/><Relationship Id="Rfe71878992b347dc" Type="http://schemas.openxmlformats.org/officeDocument/2006/relationships/slideLayout" Target="../slideLayouts/slideLayout6.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a76b72bf1ebd45aa" Type="http://schemas.openxmlformats.org/officeDocument/2006/relationships/notesSlide" Target="../notesSlides/notesSlide15.xml"/><Relationship Id="Re0dca89b3e0b457c" Type="http://schemas.openxmlformats.org/officeDocument/2006/relationships/slideLayout" Target="../slideLayouts/slideLayout6.xml"/><Relationship Id="rId3" Type="http://schemas.openxmlformats.org/officeDocument/2006/relationships/image" Target="../media/image1.png"/></Relationships>
</file>

<file path=ppt/slides/slide1.xml><?xml version="1.0" encoding="utf-8"?>
<p:sld xmlns:p="http://schemas.openxmlformats.org/presentationml/2006/main">
  <p:cSld>
    <p:bg>
      <p:bgPr>
        <a:solidFill xmlns:a="http://schemas.openxmlformats.org/drawingml/2006/main">
          <a:srgbClr val="102A3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BD509B4-89F4-4A6F-AC08-92255B1C2EA1}"/>
              </a:ext>
            </a:extLst>
          </p:cNvPr>
          <p:cNvSpPr>
            <a:spLocks xmlns:a="http://schemas.openxmlformats.org/drawingml/2006/main" noGrp="1"/>
          </p:cNvSpPr>
          <p:nvPr/>
        </p:nvSpPr>
        <p:spPr>
          <a:xfrm xmlns:a="http://schemas.openxmlformats.org/drawingml/2006/main">
            <a:off x="609600" y="6667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74DBCC"/>
                </a:solidFill>
                <a:latin typeface="DejaVu Sans"/>
                <a:ea typeface="DejaVu Sans"/>
                <a:cs typeface="DejaVu Sans"/>
              </a:defRPr>
            </a:defPPr>
            <a:lvl1pPr>
              <a:buNone/>
              <a:defRPr sz="1875" b="1">
                <a:solidFill>
                  <a:srgbClr val="74DBCC"/>
                </a:solidFill>
                <a:latin typeface="DejaVu Sans"/>
                <a:ea typeface="DejaVu Sans"/>
                <a:cs typeface="DejaVu Sans"/>
              </a:defRPr>
            </a:lvl1pPr>
            <a:lvl2pPr>
              <a:buNone/>
              <a:defRPr sz="1875" b="1">
                <a:solidFill>
                  <a:srgbClr val="74DBCC"/>
                </a:solidFill>
                <a:latin typeface="DejaVu Sans"/>
                <a:ea typeface="DejaVu Sans"/>
                <a:cs typeface="DejaVu Sans"/>
              </a:defRPr>
            </a:lvl2pPr>
            <a:lvl3pPr>
              <a:buNone/>
              <a:defRPr sz="1875" b="1">
                <a:solidFill>
                  <a:srgbClr val="74DBCC"/>
                </a:solidFill>
                <a:latin typeface="DejaVu Sans"/>
                <a:ea typeface="DejaVu Sans"/>
                <a:cs typeface="DejaVu Sans"/>
              </a:defRPr>
            </a:lvl3pPr>
            <a:lvl4pPr>
              <a:buNone/>
              <a:defRPr sz="1875" b="1">
                <a:solidFill>
                  <a:srgbClr val="74DBCC"/>
                </a:solidFill>
                <a:latin typeface="DejaVu Sans"/>
                <a:ea typeface="DejaVu Sans"/>
                <a:cs typeface="DejaVu Sans"/>
              </a:defRPr>
            </a:lvl4pPr>
            <a:lvl5pPr>
              <a:buNone/>
              <a:defRPr sz="1875" b="1">
                <a:solidFill>
                  <a:srgbClr val="74DBCC"/>
                </a:solidFill>
                <a:latin typeface="DejaVu Sans"/>
                <a:ea typeface="DejaVu Sans"/>
                <a:cs typeface="DejaVu Sans"/>
              </a:defRPr>
            </a:lvl5pPr>
            <a:lvl6pPr>
              <a:buNone/>
              <a:defRPr sz="1875" b="1">
                <a:solidFill>
                  <a:srgbClr val="74DBCC"/>
                </a:solidFill>
                <a:latin typeface="DejaVu Sans"/>
                <a:ea typeface="DejaVu Sans"/>
                <a:cs typeface="DejaVu Sans"/>
              </a:defRPr>
            </a:lvl6pPr>
            <a:lvl7pPr>
              <a:buNone/>
              <a:defRPr sz="1875" b="1">
                <a:solidFill>
                  <a:srgbClr val="74DBCC"/>
                </a:solidFill>
                <a:latin typeface="DejaVu Sans"/>
                <a:ea typeface="DejaVu Sans"/>
                <a:cs typeface="DejaVu Sans"/>
              </a:defRPr>
            </a:lvl7pPr>
            <a:lvl8pPr>
              <a:buNone/>
              <a:defRPr sz="1875" b="1">
                <a:solidFill>
                  <a:srgbClr val="74DBCC"/>
                </a:solidFill>
                <a:latin typeface="DejaVu Sans"/>
                <a:ea typeface="DejaVu Sans"/>
                <a:cs typeface="DejaVu Sans"/>
              </a:defRPr>
            </a:lvl8pPr>
            <a:lvl9pPr>
              <a:buNone/>
              <a:defRPr sz="1875" b="1">
                <a:solidFill>
                  <a:srgbClr val="74DBCC"/>
                </a:solidFill>
                <a:latin typeface="DejaVu Sans"/>
                <a:ea typeface="DejaVu Sans"/>
                <a:cs typeface="DejaVu Sans"/>
              </a:defRPr>
            </a:lvl9pPr>
          </a:lstStyle>
          <a:p xmlns:a="http://schemas.openxmlformats.org/drawingml/2006/main">
            <a:pPr>
              <a:buNone/>
              <a:defRPr sz="1875" b="1">
                <a:solidFill>
                  <a:srgbClr val="74DBCC"/>
                </a:solidFill>
                <a:latin typeface="DejaVu Sans"/>
                <a:ea typeface="DejaVu Sans"/>
                <a:cs typeface="DejaVu Sans"/>
              </a:defRPr>
            </a:pPr>
            <a:r>
              <a:rPr sz="1875" b="1">
                <a:solidFill>
                  <a:srgbClr val="74DBCC"/>
                </a:solidFill>
                <a:latin typeface="DejaVu Sans"/>
                <a:ea typeface="DejaVu Sans"/>
                <a:cs typeface="DejaVu Sans"/>
              </a:rPr>
              <a:t>BATCH 5    OSSP HACKATHON</a:t>
            </a:r>
          </a:p>
        </p:txBody>
      </p:sp>
      <p:sp>
        <p:nvSpPr>
          <p:cNvPr id="2" name="">
            <a:extLst xmlns:a="http://schemas.openxmlformats.org/drawingml/2006/main">
              <a:ext uri="{FF2B5EF4-FFF2-40B4-BE49-F238E27FC236}">
                <a16:creationId xmlns:a16="http://schemas.microsoft.com/office/drawing/2014/main" id="{C3DA8823-6E3D-4357-849E-3E8B39D590EC}"/>
              </a:ext>
            </a:extLst>
          </p:cNvPr>
          <p:cNvSpPr>
            <a:spLocks xmlns:a="http://schemas.openxmlformats.org/drawingml/2006/main" noGrp="1"/>
          </p:cNvSpPr>
          <p:nvPr/>
        </p:nvSpPr>
        <p:spPr>
          <a:xfrm xmlns:a="http://schemas.openxmlformats.org/drawingml/2006/main">
            <a:off x="609600" y="1809750"/>
            <a:ext cx="10763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500" b="1">
                <a:solidFill>
                  <a:srgbClr val="FFFFFF"/>
                </a:solidFill>
                <a:latin typeface="DejaVu Sans"/>
                <a:ea typeface="DejaVu Sans"/>
                <a:cs typeface="DejaVu Sans"/>
              </a:defRPr>
            </a:defPPr>
            <a:lvl1pPr>
              <a:buNone/>
              <a:defRPr sz="4500" b="1">
                <a:solidFill>
                  <a:srgbClr val="FFFFFF"/>
                </a:solidFill>
                <a:latin typeface="DejaVu Sans"/>
                <a:ea typeface="DejaVu Sans"/>
                <a:cs typeface="DejaVu Sans"/>
              </a:defRPr>
            </a:lvl1pPr>
            <a:lvl2pPr>
              <a:buNone/>
              <a:defRPr sz="4500" b="1">
                <a:solidFill>
                  <a:srgbClr val="FFFFFF"/>
                </a:solidFill>
                <a:latin typeface="DejaVu Sans"/>
                <a:ea typeface="DejaVu Sans"/>
                <a:cs typeface="DejaVu Sans"/>
              </a:defRPr>
            </a:lvl2pPr>
            <a:lvl3pPr>
              <a:buNone/>
              <a:defRPr sz="4500" b="1">
                <a:solidFill>
                  <a:srgbClr val="FFFFFF"/>
                </a:solidFill>
                <a:latin typeface="DejaVu Sans"/>
                <a:ea typeface="DejaVu Sans"/>
                <a:cs typeface="DejaVu Sans"/>
              </a:defRPr>
            </a:lvl3pPr>
            <a:lvl4pPr>
              <a:buNone/>
              <a:defRPr sz="4500" b="1">
                <a:solidFill>
                  <a:srgbClr val="FFFFFF"/>
                </a:solidFill>
                <a:latin typeface="DejaVu Sans"/>
                <a:ea typeface="DejaVu Sans"/>
                <a:cs typeface="DejaVu Sans"/>
              </a:defRPr>
            </a:lvl4pPr>
            <a:lvl5pPr>
              <a:buNone/>
              <a:defRPr sz="4500" b="1">
                <a:solidFill>
                  <a:srgbClr val="FFFFFF"/>
                </a:solidFill>
                <a:latin typeface="DejaVu Sans"/>
                <a:ea typeface="DejaVu Sans"/>
                <a:cs typeface="DejaVu Sans"/>
              </a:defRPr>
            </a:lvl5pPr>
            <a:lvl6pPr>
              <a:buNone/>
              <a:defRPr sz="4500" b="1">
                <a:solidFill>
                  <a:srgbClr val="FFFFFF"/>
                </a:solidFill>
                <a:latin typeface="DejaVu Sans"/>
                <a:ea typeface="DejaVu Sans"/>
                <a:cs typeface="DejaVu Sans"/>
              </a:defRPr>
            </a:lvl6pPr>
            <a:lvl7pPr>
              <a:buNone/>
              <a:defRPr sz="4500" b="1">
                <a:solidFill>
                  <a:srgbClr val="FFFFFF"/>
                </a:solidFill>
                <a:latin typeface="DejaVu Sans"/>
                <a:ea typeface="DejaVu Sans"/>
                <a:cs typeface="DejaVu Sans"/>
              </a:defRPr>
            </a:lvl7pPr>
            <a:lvl8pPr>
              <a:buNone/>
              <a:defRPr sz="4500" b="1">
                <a:solidFill>
                  <a:srgbClr val="FFFFFF"/>
                </a:solidFill>
                <a:latin typeface="DejaVu Sans"/>
                <a:ea typeface="DejaVu Sans"/>
                <a:cs typeface="DejaVu Sans"/>
              </a:defRPr>
            </a:lvl8pPr>
            <a:lvl9pPr>
              <a:buNone/>
              <a:defRPr sz="4500" b="1">
                <a:solidFill>
                  <a:srgbClr val="FFFFFF"/>
                </a:solidFill>
                <a:latin typeface="DejaVu Sans"/>
                <a:ea typeface="DejaVu Sans"/>
                <a:cs typeface="DejaVu Sans"/>
              </a:defRPr>
            </a:lvl9pPr>
          </a:lstStyle>
          <a:p xmlns:a="http://schemas.openxmlformats.org/drawingml/2006/main">
            <a:pPr>
              <a:buNone/>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Zombie and Orphan</a:t>
            </a:r>
          </a:p>
          <a:p xmlns:a="http://schemas.openxmlformats.org/drawingml/2006/main">
            <a:pPr>
              <a:buNone/>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Process Detection</a:t>
            </a:r>
          </a:p>
          <a:p xmlns:a="http://schemas.openxmlformats.org/drawingml/2006/main">
            <a:pPr>
              <a:buNone/>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System</a:t>
            </a:r>
          </a:p>
        </p:txBody>
      </p:sp>
      <p:sp>
        <p:nvSpPr>
          <p:cNvPr id="3" name="">
            <a:extLst xmlns:a="http://schemas.openxmlformats.org/drawingml/2006/main">
              <a:ext uri="{FF2B5EF4-FFF2-40B4-BE49-F238E27FC236}">
                <a16:creationId xmlns:a16="http://schemas.microsoft.com/office/drawing/2014/main" id="{A5421169-FC0C-4916-86CF-A8B3B96ED13F}"/>
              </a:ext>
            </a:extLst>
          </p:cNvPr>
          <p:cNvSpPr>
            <a:spLocks xmlns:a="http://schemas.openxmlformats.org/drawingml/2006/main" noGrp="1"/>
          </p:cNvSpPr>
          <p:nvPr/>
        </p:nvSpPr>
        <p:spPr>
          <a:xfrm xmlns:a="http://schemas.openxmlformats.org/drawingml/2006/main">
            <a:off x="609600" y="4524375"/>
            <a:ext cx="1076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C7DCD9"/>
                </a:solidFill>
                <a:latin typeface="DejaVu Sans"/>
                <a:ea typeface="DejaVu Sans"/>
                <a:cs typeface="DejaVu Sans"/>
              </a:defRPr>
            </a:defPPr>
            <a:lvl1pPr>
              <a:buNone/>
              <a:defRPr sz="2175" b="0">
                <a:solidFill>
                  <a:srgbClr val="C7DCD9"/>
                </a:solidFill>
                <a:latin typeface="DejaVu Sans"/>
                <a:ea typeface="DejaVu Sans"/>
                <a:cs typeface="DejaVu Sans"/>
              </a:defRPr>
            </a:lvl1pPr>
            <a:lvl2pPr>
              <a:buNone/>
              <a:defRPr sz="2175" b="0">
                <a:solidFill>
                  <a:srgbClr val="C7DCD9"/>
                </a:solidFill>
                <a:latin typeface="DejaVu Sans"/>
                <a:ea typeface="DejaVu Sans"/>
                <a:cs typeface="DejaVu Sans"/>
              </a:defRPr>
            </a:lvl2pPr>
            <a:lvl3pPr>
              <a:buNone/>
              <a:defRPr sz="2175" b="0">
                <a:solidFill>
                  <a:srgbClr val="C7DCD9"/>
                </a:solidFill>
                <a:latin typeface="DejaVu Sans"/>
                <a:ea typeface="DejaVu Sans"/>
                <a:cs typeface="DejaVu Sans"/>
              </a:defRPr>
            </a:lvl3pPr>
            <a:lvl4pPr>
              <a:buNone/>
              <a:defRPr sz="2175" b="0">
                <a:solidFill>
                  <a:srgbClr val="C7DCD9"/>
                </a:solidFill>
                <a:latin typeface="DejaVu Sans"/>
                <a:ea typeface="DejaVu Sans"/>
                <a:cs typeface="DejaVu Sans"/>
              </a:defRPr>
            </a:lvl4pPr>
            <a:lvl5pPr>
              <a:buNone/>
              <a:defRPr sz="2175" b="0">
                <a:solidFill>
                  <a:srgbClr val="C7DCD9"/>
                </a:solidFill>
                <a:latin typeface="DejaVu Sans"/>
                <a:ea typeface="DejaVu Sans"/>
                <a:cs typeface="DejaVu Sans"/>
              </a:defRPr>
            </a:lvl5pPr>
            <a:lvl6pPr>
              <a:buNone/>
              <a:defRPr sz="2175" b="0">
                <a:solidFill>
                  <a:srgbClr val="C7DCD9"/>
                </a:solidFill>
                <a:latin typeface="DejaVu Sans"/>
                <a:ea typeface="DejaVu Sans"/>
                <a:cs typeface="DejaVu Sans"/>
              </a:defRPr>
            </a:lvl6pPr>
            <a:lvl7pPr>
              <a:buNone/>
              <a:defRPr sz="2175" b="0">
                <a:solidFill>
                  <a:srgbClr val="C7DCD9"/>
                </a:solidFill>
                <a:latin typeface="DejaVu Sans"/>
                <a:ea typeface="DejaVu Sans"/>
                <a:cs typeface="DejaVu Sans"/>
              </a:defRPr>
            </a:lvl7pPr>
            <a:lvl8pPr>
              <a:buNone/>
              <a:defRPr sz="2175" b="0">
                <a:solidFill>
                  <a:srgbClr val="C7DCD9"/>
                </a:solidFill>
                <a:latin typeface="DejaVu Sans"/>
                <a:ea typeface="DejaVu Sans"/>
                <a:cs typeface="DejaVu Sans"/>
              </a:defRPr>
            </a:lvl8pPr>
            <a:lvl9pPr>
              <a:buNone/>
              <a:defRPr sz="2175" b="0">
                <a:solidFill>
                  <a:srgbClr val="C7DCD9"/>
                </a:solidFill>
                <a:latin typeface="DejaVu Sans"/>
                <a:ea typeface="DejaVu Sans"/>
                <a:cs typeface="DejaVu Sans"/>
              </a:defRPr>
            </a:lvl9pPr>
          </a:lstStyle>
          <a:p xmlns:a="http://schemas.openxmlformats.org/drawingml/2006/main">
            <a:pPr>
              <a:buNone/>
              <a:defRPr sz="2175" b="0">
                <a:solidFill>
                  <a:srgbClr val="C7DCD9"/>
                </a:solidFill>
                <a:latin typeface="DejaVu Sans"/>
                <a:ea typeface="DejaVu Sans"/>
                <a:cs typeface="DejaVu Sans"/>
              </a:defRPr>
            </a:pPr>
            <a:r>
              <a:rPr sz="2025" b="0">
                <a:solidFill>
                  <a:srgbClr val="C7DCD9"/>
                </a:solidFill>
                <a:latin typeface="DejaVu Sans"/>
                <a:ea typeface="DejaVu Sans"/>
                <a:cs typeface="DejaVu Sans"/>
              </a:rPr>
              <a:t>Linux process monitoring and parent–child relationships</a:t>
            </a:r>
          </a:p>
        </p:txBody>
      </p:sp>
      <p:sp>
        <p:nvSpPr>
          <p:cNvPr id="5" name="team-members">
            <a:extLst xmlns:a="http://schemas.openxmlformats.org/drawingml/2006/main">
              <a:ext uri="{FF2B5EF4-FFF2-40B4-BE49-F238E27FC236}">
                <a16:creationId xmlns:a16="http://schemas.microsoft.com/office/drawing/2014/main" id="{B63790E2-576B-4A9C-90C9-32F3C7CAF33B}"/>
              </a:ext>
            </a:extLst>
          </p:cNvPr>
          <p:cNvSpPr>
            <a:spLocks xmlns:a="http://schemas.openxmlformats.org/drawingml/2006/main" noGrp="1"/>
          </p:cNvSpPr>
          <p:nvPr/>
        </p:nvSpPr>
        <p:spPr>
          <a:xfrm xmlns:a="http://schemas.openxmlformats.org/drawingml/2006/main">
            <a:off x="609600" y="5219700"/>
            <a:ext cx="10477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a:solidFill>
                  <a:srgbClr val="FFFFFF"/>
                </a:solidFill>
                <a:latin typeface="DejaVu Sans"/>
                <a:ea typeface="DejaVu Sans"/>
                <a:cs typeface="DejaVu Sans"/>
              </a:defRPr>
            </a:defPPr>
            <a:lvl1pPr>
              <a:buNone/>
              <a:defRPr sz="2025">
                <a:solidFill>
                  <a:srgbClr val="FFFFFF"/>
                </a:solidFill>
                <a:latin typeface="DejaVu Sans"/>
                <a:ea typeface="DejaVu Sans"/>
                <a:cs typeface="DejaVu Sans"/>
              </a:defRPr>
            </a:lvl1pPr>
            <a:lvl2pPr>
              <a:buNone/>
              <a:defRPr sz="2025">
                <a:solidFill>
                  <a:srgbClr val="FFFFFF"/>
                </a:solidFill>
                <a:latin typeface="DejaVu Sans"/>
                <a:ea typeface="DejaVu Sans"/>
                <a:cs typeface="DejaVu Sans"/>
              </a:defRPr>
            </a:lvl2pPr>
            <a:lvl3pPr>
              <a:buNone/>
              <a:defRPr sz="2025">
                <a:solidFill>
                  <a:srgbClr val="FFFFFF"/>
                </a:solidFill>
                <a:latin typeface="DejaVu Sans"/>
                <a:ea typeface="DejaVu Sans"/>
                <a:cs typeface="DejaVu Sans"/>
              </a:defRPr>
            </a:lvl3pPr>
            <a:lvl4pPr>
              <a:buNone/>
              <a:defRPr sz="2025">
                <a:solidFill>
                  <a:srgbClr val="FFFFFF"/>
                </a:solidFill>
                <a:latin typeface="DejaVu Sans"/>
                <a:ea typeface="DejaVu Sans"/>
                <a:cs typeface="DejaVu Sans"/>
              </a:defRPr>
            </a:lvl4pPr>
            <a:lvl5pPr>
              <a:buNone/>
              <a:defRPr sz="2025">
                <a:solidFill>
                  <a:srgbClr val="FFFFFF"/>
                </a:solidFill>
                <a:latin typeface="DejaVu Sans"/>
                <a:ea typeface="DejaVu Sans"/>
                <a:cs typeface="DejaVu Sans"/>
              </a:defRPr>
            </a:lvl5pPr>
            <a:lvl6pPr>
              <a:buNone/>
              <a:defRPr sz="2025">
                <a:solidFill>
                  <a:srgbClr val="FFFFFF"/>
                </a:solidFill>
                <a:latin typeface="DejaVu Sans"/>
                <a:ea typeface="DejaVu Sans"/>
                <a:cs typeface="DejaVu Sans"/>
              </a:defRPr>
            </a:lvl6pPr>
            <a:lvl7pPr>
              <a:buNone/>
              <a:defRPr sz="2025">
                <a:solidFill>
                  <a:srgbClr val="FFFFFF"/>
                </a:solidFill>
                <a:latin typeface="DejaVu Sans"/>
                <a:ea typeface="DejaVu Sans"/>
                <a:cs typeface="DejaVu Sans"/>
              </a:defRPr>
            </a:lvl7pPr>
            <a:lvl8pPr>
              <a:buNone/>
              <a:defRPr sz="2025">
                <a:solidFill>
                  <a:srgbClr val="FFFFFF"/>
                </a:solidFill>
                <a:latin typeface="DejaVu Sans"/>
                <a:ea typeface="DejaVu Sans"/>
                <a:cs typeface="DejaVu Sans"/>
              </a:defRPr>
            </a:lvl8pPr>
            <a:lvl9pPr>
              <a:buNone/>
              <a:defRPr sz="2025">
                <a:solidFill>
                  <a:srgbClr val="FFFFFF"/>
                </a:solidFill>
                <a:latin typeface="DejaVu Sans"/>
                <a:ea typeface="DejaVu Sans"/>
                <a:cs typeface="DejaVu Sans"/>
              </a:defRPr>
            </a:lvl9pPr>
          </a:lstStyle>
          <a:p xmlns:a="http://schemas.openxmlformats.org/drawingml/2006/main">
            <a:pPr>
              <a:buNone/>
              <a:defRPr sz="2025">
                <a:solidFill>
                  <a:srgbClr val="FFFFFF"/>
                </a:solidFill>
                <a:latin typeface="DejaVu Sans"/>
                <a:ea typeface="DejaVu Sans"/>
                <a:cs typeface="DejaVu Sans"/>
              </a:defRPr>
            </a:pPr>
            <a:r>
              <a:rPr sz="2025">
                <a:solidFill>
                  <a:srgbClr val="FFFFFF"/>
                </a:solidFill>
                <a:latin typeface="DejaVu Sans"/>
                <a:ea typeface="DejaVu Sans"/>
                <a:cs typeface="DejaVu Sans"/>
              </a:rPr>
              <a:t>2520030439  Y.Uttej</a:t>
            </a:r>
          </a:p>
          <a:p xmlns:a="http://schemas.openxmlformats.org/drawingml/2006/main">
            <a:pPr>
              <a:buNone/>
              <a:defRPr sz="2025">
                <a:solidFill>
                  <a:srgbClr val="FFFFFF"/>
                </a:solidFill>
                <a:latin typeface="DejaVu Sans"/>
                <a:ea typeface="DejaVu Sans"/>
                <a:cs typeface="DejaVu Sans"/>
              </a:defRPr>
            </a:pPr>
            <a:r>
              <a:rPr sz="2025">
                <a:solidFill>
                  <a:srgbClr val="FFFFFF"/>
                </a:solidFill>
                <a:latin typeface="DejaVu Sans"/>
                <a:ea typeface="DejaVu Sans"/>
                <a:cs typeface="DejaVu Sans"/>
              </a:rPr>
              <a:t>2520030370  G.Hitesh</a:t>
            </a:r>
          </a:p>
          <a:p xmlns:a="http://schemas.openxmlformats.org/drawingml/2006/main">
            <a:pPr>
              <a:buNone/>
              <a:defRPr sz="2025">
                <a:solidFill>
                  <a:srgbClr val="FFFFFF"/>
                </a:solidFill>
                <a:latin typeface="DejaVu Sans"/>
                <a:ea typeface="DejaVu Sans"/>
                <a:cs typeface="DejaVu Sans"/>
              </a:defRPr>
            </a:pPr>
            <a:r>
              <a:rPr sz="2025">
                <a:solidFill>
                  <a:srgbClr val="FFFFFF"/>
                </a:solidFill>
                <a:latin typeface="DejaVu Sans"/>
                <a:ea typeface="DejaVu Sans"/>
                <a:cs typeface="DejaVu Sans"/>
              </a:rPr>
              <a:t>2520030470  K.Sudheer</a:t>
            </a:r>
          </a:p>
        </p:txBody>
      </p:sp>
      <p:pic xmlns:a="http://schemas.openxmlformats.org/drawingml/2006/main" xmlns:r="http://schemas.openxmlformats.org/officeDocument/2006/relationships">
        <p:nvPicPr>
          <p:cNvPr id="6" name="Picture 5" descr="image.png"/>
          <p:cNvPicPr>
            <a:picLocks noChangeAspect="1"/>
          </p:cNvPicPr>
          <p:nvPr/>
        </p:nvPicPr>
        <p:blipFill>
          <a:blip r:embed="rId3"/>
          <a:stretch>
            <a:fillRect/>
          </a:stretch>
        </p:blipFill>
        <p:spPr>
          <a:xfrm>
            <a:off x="137160" y="91440"/>
            <a:ext cx="960120" cy="526398"/>
          </a:xfrm>
          <a:prstGeom prst="rect">
            <a:avLst/>
          </a:prstGeom>
        </p:spPr>
      </p:pic>
    </p:spTree>
    <p:extLst>
      <p:ext uri="{BB962C8B-B14F-4D97-AF65-F5344CB8AC3E}">
        <p14:creationId xmlns:p14="http://schemas.microsoft.com/office/powerpoint/2010/main" val="144298994"/>
      </p:ext>
    </p:extLst>
  </p:cSld>
</p:sld>
</file>

<file path=ppt/slides/slide2.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0A07845-6049-410F-AC3E-F76E191D92EB}"/>
              </a:ext>
            </a:extLst>
          </p:cNvPr>
          <p:cNvSpPr>
            <a:spLocks xmlns:a="http://schemas.openxmlformats.org/drawingml/2006/main" noGrp="1"/>
          </p:cNvSpPr>
          <p:nvPr/>
        </p:nvSpPr>
        <p:spPr>
          <a:xfrm xmlns:a="http://schemas.openxmlformats.org/drawingml/2006/main">
            <a:off x="609600" y="514350"/>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02A36"/>
                </a:solidFill>
                <a:latin typeface="DejaVu Sans"/>
                <a:ea typeface="DejaVu Sans"/>
                <a:cs typeface="DejaVu Sans"/>
              </a:defRPr>
            </a:defPPr>
            <a:lvl1pPr>
              <a:buNone/>
              <a:defRPr sz="3225" b="1">
                <a:solidFill>
                  <a:srgbClr val="102A36"/>
                </a:solidFill>
                <a:latin typeface="DejaVu Sans"/>
                <a:ea typeface="DejaVu Sans"/>
                <a:cs typeface="DejaVu Sans"/>
              </a:defRPr>
            </a:lvl1pPr>
            <a:lvl2pPr>
              <a:buNone/>
              <a:defRPr sz="3225" b="1">
                <a:solidFill>
                  <a:srgbClr val="102A36"/>
                </a:solidFill>
                <a:latin typeface="DejaVu Sans"/>
                <a:ea typeface="DejaVu Sans"/>
                <a:cs typeface="DejaVu Sans"/>
              </a:defRPr>
            </a:lvl2pPr>
            <a:lvl3pPr>
              <a:buNone/>
              <a:defRPr sz="3225" b="1">
                <a:solidFill>
                  <a:srgbClr val="102A36"/>
                </a:solidFill>
                <a:latin typeface="DejaVu Sans"/>
                <a:ea typeface="DejaVu Sans"/>
                <a:cs typeface="DejaVu Sans"/>
              </a:defRPr>
            </a:lvl3pPr>
            <a:lvl4pPr>
              <a:buNone/>
              <a:defRPr sz="3225" b="1">
                <a:solidFill>
                  <a:srgbClr val="102A36"/>
                </a:solidFill>
                <a:latin typeface="DejaVu Sans"/>
                <a:ea typeface="DejaVu Sans"/>
                <a:cs typeface="DejaVu Sans"/>
              </a:defRPr>
            </a:lvl4pPr>
            <a:lvl5pPr>
              <a:buNone/>
              <a:defRPr sz="3225" b="1">
                <a:solidFill>
                  <a:srgbClr val="102A36"/>
                </a:solidFill>
                <a:latin typeface="DejaVu Sans"/>
                <a:ea typeface="DejaVu Sans"/>
                <a:cs typeface="DejaVu Sans"/>
              </a:defRPr>
            </a:lvl5pPr>
            <a:lvl6pPr>
              <a:buNone/>
              <a:defRPr sz="3225" b="1">
                <a:solidFill>
                  <a:srgbClr val="102A36"/>
                </a:solidFill>
                <a:latin typeface="DejaVu Sans"/>
                <a:ea typeface="DejaVu Sans"/>
                <a:cs typeface="DejaVu Sans"/>
              </a:defRPr>
            </a:lvl6pPr>
            <a:lvl7pPr>
              <a:buNone/>
              <a:defRPr sz="3225" b="1">
                <a:solidFill>
                  <a:srgbClr val="102A36"/>
                </a:solidFill>
                <a:latin typeface="DejaVu Sans"/>
                <a:ea typeface="DejaVu Sans"/>
                <a:cs typeface="DejaVu Sans"/>
              </a:defRPr>
            </a:lvl7pPr>
            <a:lvl8pPr>
              <a:buNone/>
              <a:defRPr sz="3225" b="1">
                <a:solidFill>
                  <a:srgbClr val="102A36"/>
                </a:solidFill>
                <a:latin typeface="DejaVu Sans"/>
                <a:ea typeface="DejaVu Sans"/>
                <a:cs typeface="DejaVu Sans"/>
              </a:defRPr>
            </a:lvl8pPr>
            <a:lvl9pPr>
              <a:buNone/>
              <a:defRPr sz="3225" b="1">
                <a:solidFill>
                  <a:srgbClr val="102A36"/>
                </a:solidFill>
                <a:latin typeface="DejaVu Sans"/>
                <a:ea typeface="DejaVu Sans"/>
                <a:cs typeface="DejaVu Sans"/>
              </a:defRPr>
            </a:lvl9pPr>
          </a:lstStyle>
          <a:p xmlns:a="http://schemas.openxmlformats.org/drawingml/2006/main">
            <a:pPr>
              <a:buNone/>
              <a:defRPr sz="3225" b="1">
                <a:solidFill>
                  <a:srgbClr val="102A36"/>
                </a:solidFill>
                <a:latin typeface="DejaVu Sans"/>
                <a:ea typeface="DejaVu Sans"/>
                <a:cs typeface="DejaVu Sans"/>
              </a:defRPr>
            </a:pPr>
            <a:r>
              <a:rPr sz="3225" b="1">
                <a:solidFill>
                  <a:srgbClr val="102A36"/>
                </a:solidFill>
                <a:latin typeface="DejaVu Sans"/>
                <a:ea typeface="DejaVu Sans"/>
                <a:cs typeface="DejaVu Sans"/>
              </a:rPr>
              <a:t>Problem statement</a:t>
            </a:r>
          </a:p>
        </p:txBody>
      </p:sp>
      <p:sp>
        <p:nvSpPr>
          <p:cNvPr id="2" name="">
            <a:extLst xmlns:a="http://schemas.openxmlformats.org/drawingml/2006/main">
              <a:ext uri="{FF2B5EF4-FFF2-40B4-BE49-F238E27FC236}">
                <a16:creationId xmlns:a16="http://schemas.microsoft.com/office/drawing/2014/main" id="{0CFE7CD3-ED0F-46DD-B3FC-BED5F52C7F0A}"/>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50616A"/>
                </a:solidFill>
                <a:latin typeface="DejaVu Sans"/>
                <a:ea typeface="DejaVu Sans"/>
                <a:cs typeface="DejaVu Sans"/>
              </a:defRPr>
            </a:defPPr>
            <a:lvl1pPr>
              <a:buNone/>
              <a:defRPr sz="1800" b="0">
                <a:solidFill>
                  <a:srgbClr val="50616A"/>
                </a:solidFill>
                <a:latin typeface="DejaVu Sans"/>
                <a:ea typeface="DejaVu Sans"/>
                <a:cs typeface="DejaVu Sans"/>
              </a:defRPr>
            </a:lvl1pPr>
            <a:lvl2pPr>
              <a:buNone/>
              <a:defRPr sz="1800" b="0">
                <a:solidFill>
                  <a:srgbClr val="50616A"/>
                </a:solidFill>
                <a:latin typeface="DejaVu Sans"/>
                <a:ea typeface="DejaVu Sans"/>
                <a:cs typeface="DejaVu Sans"/>
              </a:defRPr>
            </a:lvl2pPr>
            <a:lvl3pPr>
              <a:buNone/>
              <a:defRPr sz="1800" b="0">
                <a:solidFill>
                  <a:srgbClr val="50616A"/>
                </a:solidFill>
                <a:latin typeface="DejaVu Sans"/>
                <a:ea typeface="DejaVu Sans"/>
                <a:cs typeface="DejaVu Sans"/>
              </a:defRPr>
            </a:lvl3pPr>
            <a:lvl4pPr>
              <a:buNone/>
              <a:defRPr sz="1800" b="0">
                <a:solidFill>
                  <a:srgbClr val="50616A"/>
                </a:solidFill>
                <a:latin typeface="DejaVu Sans"/>
                <a:ea typeface="DejaVu Sans"/>
                <a:cs typeface="DejaVu Sans"/>
              </a:defRPr>
            </a:lvl4pPr>
            <a:lvl5pPr>
              <a:buNone/>
              <a:defRPr sz="1800" b="0">
                <a:solidFill>
                  <a:srgbClr val="50616A"/>
                </a:solidFill>
                <a:latin typeface="DejaVu Sans"/>
                <a:ea typeface="DejaVu Sans"/>
                <a:cs typeface="DejaVu Sans"/>
              </a:defRPr>
            </a:lvl5pPr>
            <a:lvl6pPr>
              <a:buNone/>
              <a:defRPr sz="1800" b="0">
                <a:solidFill>
                  <a:srgbClr val="50616A"/>
                </a:solidFill>
                <a:latin typeface="DejaVu Sans"/>
                <a:ea typeface="DejaVu Sans"/>
                <a:cs typeface="DejaVu Sans"/>
              </a:defRPr>
            </a:lvl6pPr>
            <a:lvl7pPr>
              <a:buNone/>
              <a:defRPr sz="1800" b="0">
                <a:solidFill>
                  <a:srgbClr val="50616A"/>
                </a:solidFill>
                <a:latin typeface="DejaVu Sans"/>
                <a:ea typeface="DejaVu Sans"/>
                <a:cs typeface="DejaVu Sans"/>
              </a:defRPr>
            </a:lvl7pPr>
            <a:lvl8pPr>
              <a:buNone/>
              <a:defRPr sz="1800" b="0">
                <a:solidFill>
                  <a:srgbClr val="50616A"/>
                </a:solidFill>
                <a:latin typeface="DejaVu Sans"/>
                <a:ea typeface="DejaVu Sans"/>
                <a:cs typeface="DejaVu Sans"/>
              </a:defRPr>
            </a:lvl8pPr>
            <a:lvl9pPr>
              <a:buNone/>
              <a:defRPr sz="1800" b="0">
                <a:solidFill>
                  <a:srgbClr val="50616A"/>
                </a:solidFill>
                <a:latin typeface="DejaVu Sans"/>
                <a:ea typeface="DejaVu Sans"/>
                <a:cs typeface="DejaVu Sans"/>
              </a:defRPr>
            </a:lvl9pPr>
          </a:lstStyle>
          <a:p xmlns:a="http://schemas.openxmlformats.org/drawingml/2006/main">
            <a:pPr>
              <a:buNone/>
              <a:defRPr sz="1800" b="0">
                <a:solidFill>
                  <a:srgbClr val="50616A"/>
                </a:solidFill>
                <a:latin typeface="DejaVu Sans"/>
                <a:ea typeface="DejaVu Sans"/>
                <a:cs typeface="DejaVu Sans"/>
              </a:defRPr>
            </a:pPr>
            <a:r>
              <a:rPr sz="1800" b="0">
                <a:solidFill>
                  <a:srgbClr val="50616A"/>
                </a:solidFill>
                <a:latin typeface="DejaVu Sans"/>
                <a:ea typeface="DejaVu Sans"/>
                <a:cs typeface="DejaVu Sans"/>
              </a:rPr>
              <a:t>Linux process information can be difficult to interpret during debugging.</a:t>
            </a:r>
          </a:p>
        </p:txBody>
      </p:sp>
      <p:sp>
        <p:nvSpPr>
          <p:cNvPr id="3" name="">
            <a:extLst xmlns:a="http://schemas.openxmlformats.org/drawingml/2006/main">
              <a:ext uri="{FF2B5EF4-FFF2-40B4-BE49-F238E27FC236}">
                <a16:creationId xmlns:a16="http://schemas.microsoft.com/office/drawing/2014/main" id="{A3E0FDB9-2413-463B-8C4A-42F9F96AE7AF}"/>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0616A"/>
                </a:solidFill>
                <a:latin typeface="DejaVu Sans"/>
                <a:ea typeface="DejaVu Sans"/>
                <a:cs typeface="DejaVu Sans"/>
              </a:defRPr>
            </a:defPPr>
            <a:lvl1pPr>
              <a:buNone/>
              <a:defRPr sz="1350" b="0">
                <a:solidFill>
                  <a:srgbClr val="50616A"/>
                </a:solidFill>
                <a:latin typeface="DejaVu Sans"/>
                <a:ea typeface="DejaVu Sans"/>
                <a:cs typeface="DejaVu Sans"/>
              </a:defRPr>
            </a:lvl1pPr>
            <a:lvl2pPr>
              <a:buNone/>
              <a:defRPr sz="1350" b="0">
                <a:solidFill>
                  <a:srgbClr val="50616A"/>
                </a:solidFill>
                <a:latin typeface="DejaVu Sans"/>
                <a:ea typeface="DejaVu Sans"/>
                <a:cs typeface="DejaVu Sans"/>
              </a:defRPr>
            </a:lvl2pPr>
            <a:lvl3pPr>
              <a:buNone/>
              <a:defRPr sz="1350" b="0">
                <a:solidFill>
                  <a:srgbClr val="50616A"/>
                </a:solidFill>
                <a:latin typeface="DejaVu Sans"/>
                <a:ea typeface="DejaVu Sans"/>
                <a:cs typeface="DejaVu Sans"/>
              </a:defRPr>
            </a:lvl3pPr>
            <a:lvl4pPr>
              <a:buNone/>
              <a:defRPr sz="1350" b="0">
                <a:solidFill>
                  <a:srgbClr val="50616A"/>
                </a:solidFill>
                <a:latin typeface="DejaVu Sans"/>
                <a:ea typeface="DejaVu Sans"/>
                <a:cs typeface="DejaVu Sans"/>
              </a:defRPr>
            </a:lvl4pPr>
            <a:lvl5pPr>
              <a:buNone/>
              <a:defRPr sz="1350" b="0">
                <a:solidFill>
                  <a:srgbClr val="50616A"/>
                </a:solidFill>
                <a:latin typeface="DejaVu Sans"/>
                <a:ea typeface="DejaVu Sans"/>
                <a:cs typeface="DejaVu Sans"/>
              </a:defRPr>
            </a:lvl5pPr>
            <a:lvl6pPr>
              <a:buNone/>
              <a:defRPr sz="1350" b="0">
                <a:solidFill>
                  <a:srgbClr val="50616A"/>
                </a:solidFill>
                <a:latin typeface="DejaVu Sans"/>
                <a:ea typeface="DejaVu Sans"/>
                <a:cs typeface="DejaVu Sans"/>
              </a:defRPr>
            </a:lvl6pPr>
            <a:lvl7pPr>
              <a:buNone/>
              <a:defRPr sz="1350" b="0">
                <a:solidFill>
                  <a:srgbClr val="50616A"/>
                </a:solidFill>
                <a:latin typeface="DejaVu Sans"/>
                <a:ea typeface="DejaVu Sans"/>
                <a:cs typeface="DejaVu Sans"/>
              </a:defRPr>
            </a:lvl7pPr>
            <a:lvl8pPr>
              <a:buNone/>
              <a:defRPr sz="1350" b="0">
                <a:solidFill>
                  <a:srgbClr val="50616A"/>
                </a:solidFill>
                <a:latin typeface="DejaVu Sans"/>
                <a:ea typeface="DejaVu Sans"/>
                <a:cs typeface="DejaVu Sans"/>
              </a:defRPr>
            </a:lvl8pPr>
            <a:lvl9pPr>
              <a:buNone/>
              <a:defRPr sz="1350" b="0">
                <a:solidFill>
                  <a:srgbClr val="50616A"/>
                </a:solidFill>
                <a:latin typeface="DejaVu Sans"/>
                <a:ea typeface="DejaVu Sans"/>
                <a:cs typeface="DejaVu Sans"/>
              </a:defRPr>
            </a:lvl9pPr>
          </a:lstStyle>
          <a:p xmlns:a="http://schemas.openxmlformats.org/drawingml/2006/main">
            <a:pPr>
              <a:buNone/>
              <a:defRPr sz="1350" b="0">
                <a:solidFill>
                  <a:srgbClr val="50616A"/>
                </a:solidFill>
                <a:latin typeface="DejaVu Sans"/>
                <a:ea typeface="DejaVu Sans"/>
                <a:cs typeface="DejaVu Sans"/>
              </a:defRPr>
            </a:pPr>
            <a:r>
              <a:rPr sz="1350" b="0">
                <a:solidFill>
                  <a:srgbClr val="50616A"/>
                </a:solidFill>
                <a:latin typeface="DejaVu Sans"/>
                <a:ea typeface="DejaVu Sans"/>
                <a:cs typeface="DejaVu Sans"/>
              </a:rPr>
              <a:t>02</a:t>
            </a:r>
          </a:p>
        </p:txBody>
      </p:sp>
      <p:sp>
        <p:nvSpPr>
          <p:cNvPr id="4" name="">
            <a:extLst xmlns:a="http://schemas.openxmlformats.org/drawingml/2006/main">
              <a:ext uri="{FF2B5EF4-FFF2-40B4-BE49-F238E27FC236}">
                <a16:creationId xmlns:a16="http://schemas.microsoft.com/office/drawing/2014/main" id="{F47533C4-FBF6-4129-9518-F217C961FDC8}"/>
              </a:ext>
            </a:extLst>
          </p:cNvPr>
          <p:cNvSpPr>
            <a:spLocks xmlns:a="http://schemas.openxmlformats.org/drawingml/2006/main" noGrp="1"/>
          </p:cNvSpPr>
          <p:nvPr/>
        </p:nvSpPr>
        <p:spPr>
          <a:xfrm xmlns:a="http://schemas.openxmlformats.org/drawingml/2006/main">
            <a:off x="609600" y="21907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8D393DE2-79B1-4276-AF8C-4B6420D0D8B5}"/>
              </a:ext>
            </a:extLst>
          </p:cNvPr>
          <p:cNvSpPr>
            <a:spLocks xmlns:a="http://schemas.openxmlformats.org/drawingml/2006/main" noGrp="1"/>
          </p:cNvSpPr>
          <p:nvPr/>
        </p:nvSpPr>
        <p:spPr>
          <a:xfrm xmlns:a="http://schemas.openxmlformats.org/drawingml/2006/main">
            <a:off x="1524000" y="219075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A process list alone does not explain a child’s history.</a:t>
            </a:r>
          </a:p>
        </p:txBody>
      </p:sp>
      <p:sp>
        <p:nvSpPr>
          <p:cNvPr id="6" name="">
            <a:extLst xmlns:a="http://schemas.openxmlformats.org/drawingml/2006/main">
              <a:ext uri="{FF2B5EF4-FFF2-40B4-BE49-F238E27FC236}">
                <a16:creationId xmlns:a16="http://schemas.microsoft.com/office/drawing/2014/main" id="{5461F418-CC48-4205-A497-819813463E32}"/>
              </a:ext>
            </a:extLst>
          </p:cNvPr>
          <p:cNvSpPr>
            <a:spLocks xmlns:a="http://schemas.openxmlformats.org/drawingml/2006/main" noGrp="1"/>
          </p:cNvSpPr>
          <p:nvPr/>
        </p:nvSpPr>
        <p:spPr>
          <a:xfrm xmlns:a="http://schemas.openxmlformats.org/drawingml/2006/main">
            <a:off x="609600" y="3057525"/>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02</a:t>
            </a:r>
          </a:p>
        </p:txBody>
      </p:sp>
      <p:sp>
        <p:nvSpPr>
          <p:cNvPr id="7" name="">
            <a:extLst xmlns:a="http://schemas.openxmlformats.org/drawingml/2006/main">
              <a:ext uri="{FF2B5EF4-FFF2-40B4-BE49-F238E27FC236}">
                <a16:creationId xmlns:a16="http://schemas.microsoft.com/office/drawing/2014/main" id="{B50A56C8-8324-42A1-A2B1-5151305BAA7B}"/>
              </a:ext>
            </a:extLst>
          </p:cNvPr>
          <p:cNvSpPr>
            <a:spLocks xmlns:a="http://schemas.openxmlformats.org/drawingml/2006/main" noGrp="1"/>
          </p:cNvSpPr>
          <p:nvPr/>
        </p:nvSpPr>
        <p:spPr>
          <a:xfrm xmlns:a="http://schemas.openxmlformats.org/drawingml/2006/main">
            <a:off x="1524000" y="3057525"/>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Students need a clear view of process states and parents.</a:t>
            </a:r>
          </a:p>
        </p:txBody>
      </p:sp>
      <p:sp>
        <p:nvSpPr>
          <p:cNvPr id="8" name="">
            <a:extLst xmlns:a="http://schemas.openxmlformats.org/drawingml/2006/main">
              <a:ext uri="{FF2B5EF4-FFF2-40B4-BE49-F238E27FC236}">
                <a16:creationId xmlns:a16="http://schemas.microsoft.com/office/drawing/2014/main" id="{DE96068A-7820-4EE2-95A1-724E4668A338}"/>
              </a:ext>
            </a:extLst>
          </p:cNvPr>
          <p:cNvSpPr>
            <a:spLocks xmlns:a="http://schemas.openxmlformats.org/drawingml/2006/main" noGrp="1"/>
          </p:cNvSpPr>
          <p:nvPr/>
        </p:nvSpPr>
        <p:spPr>
          <a:xfrm xmlns:a="http://schemas.openxmlformats.org/drawingml/2006/main">
            <a:off x="609600" y="39243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03</a:t>
            </a:r>
          </a:p>
        </p:txBody>
      </p:sp>
      <p:sp>
        <p:nvSpPr>
          <p:cNvPr id="9" name="">
            <a:extLst xmlns:a="http://schemas.openxmlformats.org/drawingml/2006/main">
              <a:ext uri="{FF2B5EF4-FFF2-40B4-BE49-F238E27FC236}">
                <a16:creationId xmlns:a16="http://schemas.microsoft.com/office/drawing/2014/main" id="{7A9998C7-20D7-498B-B654-081205DDE274}"/>
              </a:ext>
            </a:extLst>
          </p:cNvPr>
          <p:cNvSpPr>
            <a:spLocks xmlns:a="http://schemas.openxmlformats.org/drawingml/2006/main" noGrp="1"/>
          </p:cNvSpPr>
          <p:nvPr/>
        </p:nvSpPr>
        <p:spPr>
          <a:xfrm xmlns:a="http://schemas.openxmlformats.org/drawingml/2006/main">
            <a:off x="1524000" y="392430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The tool must identify zombies and track orphan events.</a:t>
            </a:r>
          </a:p>
        </p:txBody>
      </p:sp>
      <p:sp>
        <p:nvSpPr>
          <p:cNvPr id="10" name="">
            <a:extLst xmlns:a="http://schemas.openxmlformats.org/drawingml/2006/main">
              <a:ext uri="{FF2B5EF4-FFF2-40B4-BE49-F238E27FC236}">
                <a16:creationId xmlns:a16="http://schemas.microsoft.com/office/drawing/2014/main" id="{C5EAE539-DE33-4942-8E40-DBF5388F1586}"/>
              </a:ext>
            </a:extLst>
          </p:cNvPr>
          <p:cNvSpPr>
            <a:spLocks xmlns:a="http://schemas.openxmlformats.org/drawingml/2006/main" noGrp="1"/>
          </p:cNvSpPr>
          <p:nvPr/>
        </p:nvSpPr>
        <p:spPr>
          <a:xfrm xmlns:a="http://schemas.openxmlformats.org/drawingml/2006/main">
            <a:off x="609600" y="4791075"/>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04</a:t>
            </a:r>
          </a:p>
        </p:txBody>
      </p:sp>
      <p:sp>
        <p:nvSpPr>
          <p:cNvPr id="11" name="">
            <a:extLst xmlns:a="http://schemas.openxmlformats.org/drawingml/2006/main">
              <a:ext uri="{FF2B5EF4-FFF2-40B4-BE49-F238E27FC236}">
                <a16:creationId xmlns:a16="http://schemas.microsoft.com/office/drawing/2014/main" id="{9F3FC40D-E2B1-4C84-A1B5-1CDA5F93B5BA}"/>
              </a:ext>
            </a:extLst>
          </p:cNvPr>
          <p:cNvSpPr>
            <a:spLocks xmlns:a="http://schemas.openxmlformats.org/drawingml/2006/main" noGrp="1"/>
          </p:cNvSpPr>
          <p:nvPr/>
        </p:nvSpPr>
        <p:spPr>
          <a:xfrm xmlns:a="http://schemas.openxmlformats.org/drawingml/2006/main">
            <a:off x="1524000" y="4791075"/>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The display must explain the relationship behind each finding.</a:t>
            </a:r>
          </a:p>
        </p:txBody>
      </p:sp>
      <p:pic xmlns:a="http://schemas.openxmlformats.org/drawingml/2006/main" xmlns:r="http://schemas.openxmlformats.org/officeDocument/2006/relationships">
        <p:nvPicPr>
          <p:cNvPr id="13" name="Picture 12" descr="image.png"/>
          <p:cNvPicPr>
            <a:picLocks noChangeAspect="1"/>
          </p:cNvPicPr>
          <p:nvPr/>
        </p:nvPicPr>
        <p:blipFill>
          <a:blip r:embed="rId3"/>
          <a:stretch>
            <a:fillRect/>
          </a:stretch>
        </p:blipFill>
        <p:spPr>
          <a:xfrm>
            <a:off x="137160" y="91440"/>
            <a:ext cx="960120" cy="526398"/>
          </a:xfrm>
          <a:prstGeom prst="rect">
            <a:avLst/>
          </a:prstGeom>
        </p:spPr>
      </p:pic>
    </p:spTree>
    <p:extLst>
      <p:ext uri="{BB962C8B-B14F-4D97-AF65-F5344CB8AC3E}">
        <p14:creationId xmlns:p14="http://schemas.microsoft.com/office/powerpoint/2010/main" val="871260901"/>
      </p:ext>
    </p:extLst>
  </p:cSld>
</p:sld>
</file>

<file path=ppt/slides/slide3.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E987F3-1C35-4AA5-957E-485C6E8C1821}"/>
              </a:ext>
            </a:extLst>
          </p:cNvPr>
          <p:cNvSpPr>
            <a:spLocks xmlns:a="http://schemas.openxmlformats.org/drawingml/2006/main" noGrp="1"/>
          </p:cNvSpPr>
          <p:nvPr/>
        </p:nvSpPr>
        <p:spPr>
          <a:xfrm xmlns:a="http://schemas.openxmlformats.org/drawingml/2006/main">
            <a:off x="609600" y="514350"/>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02A36"/>
                </a:solidFill>
                <a:latin typeface="DejaVu Sans"/>
                <a:ea typeface="DejaVu Sans"/>
                <a:cs typeface="DejaVu Sans"/>
              </a:defRPr>
            </a:defPPr>
            <a:lvl1pPr>
              <a:buNone/>
              <a:defRPr sz="3225" b="1">
                <a:solidFill>
                  <a:srgbClr val="102A36"/>
                </a:solidFill>
                <a:latin typeface="DejaVu Sans"/>
                <a:ea typeface="DejaVu Sans"/>
                <a:cs typeface="DejaVu Sans"/>
              </a:defRPr>
            </a:lvl1pPr>
            <a:lvl2pPr>
              <a:buNone/>
              <a:defRPr sz="3225" b="1">
                <a:solidFill>
                  <a:srgbClr val="102A36"/>
                </a:solidFill>
                <a:latin typeface="DejaVu Sans"/>
                <a:ea typeface="DejaVu Sans"/>
                <a:cs typeface="DejaVu Sans"/>
              </a:defRPr>
            </a:lvl2pPr>
            <a:lvl3pPr>
              <a:buNone/>
              <a:defRPr sz="3225" b="1">
                <a:solidFill>
                  <a:srgbClr val="102A36"/>
                </a:solidFill>
                <a:latin typeface="DejaVu Sans"/>
                <a:ea typeface="DejaVu Sans"/>
                <a:cs typeface="DejaVu Sans"/>
              </a:defRPr>
            </a:lvl3pPr>
            <a:lvl4pPr>
              <a:buNone/>
              <a:defRPr sz="3225" b="1">
                <a:solidFill>
                  <a:srgbClr val="102A36"/>
                </a:solidFill>
                <a:latin typeface="DejaVu Sans"/>
                <a:ea typeface="DejaVu Sans"/>
                <a:cs typeface="DejaVu Sans"/>
              </a:defRPr>
            </a:lvl4pPr>
            <a:lvl5pPr>
              <a:buNone/>
              <a:defRPr sz="3225" b="1">
                <a:solidFill>
                  <a:srgbClr val="102A36"/>
                </a:solidFill>
                <a:latin typeface="DejaVu Sans"/>
                <a:ea typeface="DejaVu Sans"/>
                <a:cs typeface="DejaVu Sans"/>
              </a:defRPr>
            </a:lvl5pPr>
            <a:lvl6pPr>
              <a:buNone/>
              <a:defRPr sz="3225" b="1">
                <a:solidFill>
                  <a:srgbClr val="102A36"/>
                </a:solidFill>
                <a:latin typeface="DejaVu Sans"/>
                <a:ea typeface="DejaVu Sans"/>
                <a:cs typeface="DejaVu Sans"/>
              </a:defRPr>
            </a:lvl6pPr>
            <a:lvl7pPr>
              <a:buNone/>
              <a:defRPr sz="3225" b="1">
                <a:solidFill>
                  <a:srgbClr val="102A36"/>
                </a:solidFill>
                <a:latin typeface="DejaVu Sans"/>
                <a:ea typeface="DejaVu Sans"/>
                <a:cs typeface="DejaVu Sans"/>
              </a:defRPr>
            </a:lvl7pPr>
            <a:lvl8pPr>
              <a:buNone/>
              <a:defRPr sz="3225" b="1">
                <a:solidFill>
                  <a:srgbClr val="102A36"/>
                </a:solidFill>
                <a:latin typeface="DejaVu Sans"/>
                <a:ea typeface="DejaVu Sans"/>
                <a:cs typeface="DejaVu Sans"/>
              </a:defRPr>
            </a:lvl8pPr>
            <a:lvl9pPr>
              <a:buNone/>
              <a:defRPr sz="3225" b="1">
                <a:solidFill>
                  <a:srgbClr val="102A36"/>
                </a:solidFill>
                <a:latin typeface="DejaVu Sans"/>
                <a:ea typeface="DejaVu Sans"/>
                <a:cs typeface="DejaVu Sans"/>
              </a:defRPr>
            </a:lvl9pPr>
          </a:lstStyle>
          <a:p xmlns:a="http://schemas.openxmlformats.org/drawingml/2006/main">
            <a:pPr>
              <a:buNone/>
              <a:defRPr sz="3225" b="1">
                <a:solidFill>
                  <a:srgbClr val="102A36"/>
                </a:solidFill>
                <a:latin typeface="DejaVu Sans"/>
                <a:ea typeface="DejaVu Sans"/>
                <a:cs typeface="DejaVu Sans"/>
              </a:defRPr>
            </a:pPr>
            <a:r>
              <a:rPr sz="3225" b="1">
                <a:solidFill>
                  <a:srgbClr val="102A36"/>
                </a:solidFill>
                <a:latin typeface="DejaVu Sans"/>
                <a:ea typeface="DejaVu Sans"/>
                <a:cs typeface="DejaVu Sans"/>
              </a:rPr>
              <a:t>Zombie and orphan processes</a:t>
            </a:r>
          </a:p>
        </p:txBody>
      </p:sp>
      <p:sp>
        <p:nvSpPr>
          <p:cNvPr id="2" name="">
            <a:extLst xmlns:a="http://schemas.openxmlformats.org/drawingml/2006/main">
              <a:ext uri="{FF2B5EF4-FFF2-40B4-BE49-F238E27FC236}">
                <a16:creationId xmlns:a16="http://schemas.microsoft.com/office/drawing/2014/main" id="{5066F431-1A84-4195-8930-B49A9C935FAA}"/>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50616A"/>
                </a:solidFill>
                <a:latin typeface="DejaVu Sans"/>
                <a:ea typeface="DejaVu Sans"/>
                <a:cs typeface="DejaVu Sans"/>
              </a:defRPr>
            </a:defPPr>
            <a:lvl1pPr>
              <a:buNone/>
              <a:defRPr sz="1800" b="0">
                <a:solidFill>
                  <a:srgbClr val="50616A"/>
                </a:solidFill>
                <a:latin typeface="DejaVu Sans"/>
                <a:ea typeface="DejaVu Sans"/>
                <a:cs typeface="DejaVu Sans"/>
              </a:defRPr>
            </a:lvl1pPr>
            <a:lvl2pPr>
              <a:buNone/>
              <a:defRPr sz="1800" b="0">
                <a:solidFill>
                  <a:srgbClr val="50616A"/>
                </a:solidFill>
                <a:latin typeface="DejaVu Sans"/>
                <a:ea typeface="DejaVu Sans"/>
                <a:cs typeface="DejaVu Sans"/>
              </a:defRPr>
            </a:lvl2pPr>
            <a:lvl3pPr>
              <a:buNone/>
              <a:defRPr sz="1800" b="0">
                <a:solidFill>
                  <a:srgbClr val="50616A"/>
                </a:solidFill>
                <a:latin typeface="DejaVu Sans"/>
                <a:ea typeface="DejaVu Sans"/>
                <a:cs typeface="DejaVu Sans"/>
              </a:defRPr>
            </a:lvl3pPr>
            <a:lvl4pPr>
              <a:buNone/>
              <a:defRPr sz="1800" b="0">
                <a:solidFill>
                  <a:srgbClr val="50616A"/>
                </a:solidFill>
                <a:latin typeface="DejaVu Sans"/>
                <a:ea typeface="DejaVu Sans"/>
                <a:cs typeface="DejaVu Sans"/>
              </a:defRPr>
            </a:lvl4pPr>
            <a:lvl5pPr>
              <a:buNone/>
              <a:defRPr sz="1800" b="0">
                <a:solidFill>
                  <a:srgbClr val="50616A"/>
                </a:solidFill>
                <a:latin typeface="DejaVu Sans"/>
                <a:ea typeface="DejaVu Sans"/>
                <a:cs typeface="DejaVu Sans"/>
              </a:defRPr>
            </a:lvl5pPr>
            <a:lvl6pPr>
              <a:buNone/>
              <a:defRPr sz="1800" b="0">
                <a:solidFill>
                  <a:srgbClr val="50616A"/>
                </a:solidFill>
                <a:latin typeface="DejaVu Sans"/>
                <a:ea typeface="DejaVu Sans"/>
                <a:cs typeface="DejaVu Sans"/>
              </a:defRPr>
            </a:lvl6pPr>
            <a:lvl7pPr>
              <a:buNone/>
              <a:defRPr sz="1800" b="0">
                <a:solidFill>
                  <a:srgbClr val="50616A"/>
                </a:solidFill>
                <a:latin typeface="DejaVu Sans"/>
                <a:ea typeface="DejaVu Sans"/>
                <a:cs typeface="DejaVu Sans"/>
              </a:defRPr>
            </a:lvl7pPr>
            <a:lvl8pPr>
              <a:buNone/>
              <a:defRPr sz="1800" b="0">
                <a:solidFill>
                  <a:srgbClr val="50616A"/>
                </a:solidFill>
                <a:latin typeface="DejaVu Sans"/>
                <a:ea typeface="DejaVu Sans"/>
                <a:cs typeface="DejaVu Sans"/>
              </a:defRPr>
            </a:lvl8pPr>
            <a:lvl9pPr>
              <a:buNone/>
              <a:defRPr sz="1800" b="0">
                <a:solidFill>
                  <a:srgbClr val="50616A"/>
                </a:solidFill>
                <a:latin typeface="DejaVu Sans"/>
                <a:ea typeface="DejaVu Sans"/>
                <a:cs typeface="DejaVu Sans"/>
              </a:defRPr>
            </a:lvl9pPr>
          </a:lstStyle>
          <a:p xmlns:a="http://schemas.openxmlformats.org/drawingml/2006/main">
            <a:pPr>
              <a:buNone/>
              <a:defRPr sz="1800" b="0">
                <a:solidFill>
                  <a:srgbClr val="50616A"/>
                </a:solidFill>
                <a:latin typeface="DejaVu Sans"/>
                <a:ea typeface="DejaVu Sans"/>
                <a:cs typeface="DejaVu Sans"/>
              </a:defRPr>
            </a:pPr>
            <a:r>
              <a:rPr sz="1800" b="0">
                <a:solidFill>
                  <a:srgbClr val="50616A"/>
                </a:solidFill>
                <a:latin typeface="DejaVu Sans"/>
                <a:ea typeface="DejaVu Sans"/>
                <a:cs typeface="DejaVu Sans"/>
              </a:rPr>
              <a:t>The order in which the parent and child exit creates different situations.</a:t>
            </a:r>
          </a:p>
        </p:txBody>
      </p:sp>
      <p:sp>
        <p:nvSpPr>
          <p:cNvPr id="3" name="">
            <a:extLst xmlns:a="http://schemas.openxmlformats.org/drawingml/2006/main">
              <a:ext uri="{FF2B5EF4-FFF2-40B4-BE49-F238E27FC236}">
                <a16:creationId xmlns:a16="http://schemas.microsoft.com/office/drawing/2014/main" id="{07547A29-030E-46C2-A954-9090F097C66A}"/>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0616A"/>
                </a:solidFill>
                <a:latin typeface="DejaVu Sans"/>
                <a:ea typeface="DejaVu Sans"/>
                <a:cs typeface="DejaVu Sans"/>
              </a:defRPr>
            </a:defPPr>
            <a:lvl1pPr>
              <a:buNone/>
              <a:defRPr sz="1350" b="0">
                <a:solidFill>
                  <a:srgbClr val="50616A"/>
                </a:solidFill>
                <a:latin typeface="DejaVu Sans"/>
                <a:ea typeface="DejaVu Sans"/>
                <a:cs typeface="DejaVu Sans"/>
              </a:defRPr>
            </a:lvl1pPr>
            <a:lvl2pPr>
              <a:buNone/>
              <a:defRPr sz="1350" b="0">
                <a:solidFill>
                  <a:srgbClr val="50616A"/>
                </a:solidFill>
                <a:latin typeface="DejaVu Sans"/>
                <a:ea typeface="DejaVu Sans"/>
                <a:cs typeface="DejaVu Sans"/>
              </a:defRPr>
            </a:lvl2pPr>
            <a:lvl3pPr>
              <a:buNone/>
              <a:defRPr sz="1350" b="0">
                <a:solidFill>
                  <a:srgbClr val="50616A"/>
                </a:solidFill>
                <a:latin typeface="DejaVu Sans"/>
                <a:ea typeface="DejaVu Sans"/>
                <a:cs typeface="DejaVu Sans"/>
              </a:defRPr>
            </a:lvl3pPr>
            <a:lvl4pPr>
              <a:buNone/>
              <a:defRPr sz="1350" b="0">
                <a:solidFill>
                  <a:srgbClr val="50616A"/>
                </a:solidFill>
                <a:latin typeface="DejaVu Sans"/>
                <a:ea typeface="DejaVu Sans"/>
                <a:cs typeface="DejaVu Sans"/>
              </a:defRPr>
            </a:lvl4pPr>
            <a:lvl5pPr>
              <a:buNone/>
              <a:defRPr sz="1350" b="0">
                <a:solidFill>
                  <a:srgbClr val="50616A"/>
                </a:solidFill>
                <a:latin typeface="DejaVu Sans"/>
                <a:ea typeface="DejaVu Sans"/>
                <a:cs typeface="DejaVu Sans"/>
              </a:defRPr>
            </a:lvl5pPr>
            <a:lvl6pPr>
              <a:buNone/>
              <a:defRPr sz="1350" b="0">
                <a:solidFill>
                  <a:srgbClr val="50616A"/>
                </a:solidFill>
                <a:latin typeface="DejaVu Sans"/>
                <a:ea typeface="DejaVu Sans"/>
                <a:cs typeface="DejaVu Sans"/>
              </a:defRPr>
            </a:lvl6pPr>
            <a:lvl7pPr>
              <a:buNone/>
              <a:defRPr sz="1350" b="0">
                <a:solidFill>
                  <a:srgbClr val="50616A"/>
                </a:solidFill>
                <a:latin typeface="DejaVu Sans"/>
                <a:ea typeface="DejaVu Sans"/>
                <a:cs typeface="DejaVu Sans"/>
              </a:defRPr>
            </a:lvl7pPr>
            <a:lvl8pPr>
              <a:buNone/>
              <a:defRPr sz="1350" b="0">
                <a:solidFill>
                  <a:srgbClr val="50616A"/>
                </a:solidFill>
                <a:latin typeface="DejaVu Sans"/>
                <a:ea typeface="DejaVu Sans"/>
                <a:cs typeface="DejaVu Sans"/>
              </a:defRPr>
            </a:lvl8pPr>
            <a:lvl9pPr>
              <a:buNone/>
              <a:defRPr sz="1350" b="0">
                <a:solidFill>
                  <a:srgbClr val="50616A"/>
                </a:solidFill>
                <a:latin typeface="DejaVu Sans"/>
                <a:ea typeface="DejaVu Sans"/>
                <a:cs typeface="DejaVu Sans"/>
              </a:defRPr>
            </a:lvl9pPr>
          </a:lstStyle>
          <a:p xmlns:a="http://schemas.openxmlformats.org/drawingml/2006/main">
            <a:pPr>
              <a:buNone/>
              <a:defRPr sz="1350" b="0">
                <a:solidFill>
                  <a:srgbClr val="50616A"/>
                </a:solidFill>
                <a:latin typeface="DejaVu Sans"/>
                <a:ea typeface="DejaVu Sans"/>
                <a:cs typeface="DejaVu Sans"/>
              </a:defRPr>
            </a:pPr>
            <a:r>
              <a:rPr sz="1350" b="0">
                <a:solidFill>
                  <a:srgbClr val="50616A"/>
                </a:solidFill>
                <a:latin typeface="DejaVu Sans"/>
                <a:ea typeface="DejaVu Sans"/>
                <a:cs typeface="DejaVu Sans"/>
              </a:rPr>
              <a:t>03</a:t>
            </a:r>
          </a:p>
        </p:txBody>
      </p:sp>
      <p:graphicFrame>
        <p:nvGraphicFramePr>
          <p:cNvPr id="4" name="">
            <a:extLst xmlns:a="http://schemas.openxmlformats.org/drawingml/2006/main">
              <a:ext uri="{FF2B5EF4-FFF2-40B4-BE49-F238E27FC236}">
                <a16:creationId xmlns:a16="http://schemas.microsoft.com/office/drawing/2014/main" id="{2F2C246B-00AF-4BB9-819D-11F3821548C3}"/>
              </a:ext>
            </a:extLst>
          </p:cNvPr>
          <p:cNvGraphicFramePr/>
          <p:nvPr/>
        </p:nvGraphicFramePr>
        <p:xfrm>
          <a:off xmlns:a="http://schemas.openxmlformats.org/drawingml/2006/main" x="609600" y="2190750"/>
          <a:ext xmlns:a="http://schemas.openxmlformats.org/drawingml/2006/main" cx="10972800" cy="3381375"/>
        </p:xfrm>
        <a:graphic xmlns:a="http://schemas.openxmlformats.org/drawingml/2006/main">
          <a:graphicData uri="http://schemas.openxmlformats.org/drawingml/2006/table">
            <a:tbl>
              <a:tblPr/>
              <a:tblGrid>
                <a:gridCol w="2095500"/>
                <a:gridCol w="4438650"/>
                <a:gridCol w="4438650"/>
              </a:tblGrid>
              <a:tr h="676275">
                <a:tc>
                  <a:txBody>
                    <a:bodyPr/>
                    <a:lstStyle/>
                    <a:p>
                      <a:r>
                        <a:rPr sz="1725" b="1">
                          <a:solidFill>
                            <a:srgbClr val="FFFFFF"/>
                          </a:solidFill>
                          <a:latin typeface="DejaVu Sans"/>
                          <a:ea typeface="DejaVu Sans"/>
                          <a:cs typeface="DejaVu Sans"/>
                        </a:rPr>
                        <a:t>Concept</a:t>
                      </a:r>
                    </a:p>
                  </a:txBody>
                  <a:tcPr marL="91440" marR="91440" marT="45720" marB="45720">
                    <a:lnL w="9525">
                      <a:solidFill>
                        <a:srgbClr val="D3DEDD"/>
                      </a:solidFill>
                      <a:prstDash val="solid"/>
                    </a:lnL>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c>
                  <a:txBody>
                    <a:bodyPr/>
                    <a:lstStyle/>
                    <a:p>
                      <a:r>
                        <a:rPr sz="1725" b="1">
                          <a:solidFill>
                            <a:srgbClr val="FFFFFF"/>
                          </a:solidFill>
                          <a:latin typeface="DejaVu Sans"/>
                          <a:ea typeface="DejaVu Sans"/>
                          <a:cs typeface="DejaVu Sans"/>
                        </a:rPr>
                        <a:t>Zombie</a:t>
                      </a:r>
                    </a:p>
                  </a:txBody>
                  <a:tcPr marL="91440" marR="91440" marT="45720" marB="45720">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c>
                  <a:txBody>
                    <a:bodyPr/>
                    <a:lstStyle/>
                    <a:p>
                      <a:r>
                        <a:rPr sz="1725" b="1">
                          <a:solidFill>
                            <a:srgbClr val="FFFFFF"/>
                          </a:solidFill>
                          <a:latin typeface="DejaVu Sans"/>
                          <a:ea typeface="DejaVu Sans"/>
                          <a:cs typeface="DejaVu Sans"/>
                        </a:rPr>
                        <a:t>Orphan</a:t>
                      </a:r>
                    </a:p>
                  </a:txBody>
                  <a:tcPr marL="91440" marR="91440" marT="45720" marB="45720">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r>
              <a:tr h="676275">
                <a:tc>
                  <a:txBody>
                    <a:bodyPr/>
                    <a:lstStyle/>
                    <a:p>
                      <a:r>
                        <a:rPr sz="1650" b="0">
                          <a:solidFill>
                            <a:srgbClr val="102A36"/>
                          </a:solidFill>
                          <a:latin typeface="DejaVu Sans"/>
                          <a:ea typeface="DejaVu Sans"/>
                          <a:cs typeface="DejaVu Sans"/>
                        </a:rPr>
                        <a:t>Child</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Has finished execution</a:t>
                      </a:r>
                    </a:p>
                  </a:txBody>
                  <a:tcPr marL="91440" marR="91440" marT="45720" marB="45720">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Continues after parent exits</a:t>
                      </a:r>
                    </a:p>
                  </a:txBody>
                  <a:tcPr marL="91440" marR="91440" marT="45720" marB="45720">
                    <a:lnR w="9525">
                      <a:solidFill>
                        <a:srgbClr val="D3DEDD"/>
                      </a:solidFill>
                      <a:prstDash val="solid"/>
                    </a:lnR>
                    <a:lnB w="9525">
                      <a:solidFill>
                        <a:srgbClr val="D3DEDD"/>
                      </a:solidFill>
                      <a:prstDash val="solid"/>
                    </a:lnB>
                    <a:solidFill>
                      <a:srgbClr val="FFFFFF"/>
                    </a:solidFill>
                  </a:tcPr>
                </a:tc>
              </a:tr>
              <a:tr h="676275">
                <a:tc>
                  <a:txBody>
                    <a:bodyPr/>
                    <a:lstStyle/>
                    <a:p>
                      <a:r>
                        <a:rPr sz="1650" b="0">
                          <a:solidFill>
                            <a:srgbClr val="102A36"/>
                          </a:solidFill>
                          <a:latin typeface="DejaVu Sans"/>
                          <a:ea typeface="DejaVu Sans"/>
                          <a:cs typeface="DejaVu Sans"/>
                        </a:rPr>
                        <a:t>Parent</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Has not collected exit status</a:t>
                      </a:r>
                    </a:p>
                  </a:txBody>
                  <a:tcPr marL="91440" marR="91440" marT="45720" marB="45720">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Original parent has ended</a:t>
                      </a:r>
                    </a:p>
                  </a:txBody>
                  <a:tcPr marL="91440" marR="91440" marT="45720" marB="45720">
                    <a:lnR w="9525">
                      <a:solidFill>
                        <a:srgbClr val="D3DEDD"/>
                      </a:solidFill>
                      <a:prstDash val="solid"/>
                    </a:lnR>
                    <a:lnB w="9525">
                      <a:solidFill>
                        <a:srgbClr val="D3DEDD"/>
                      </a:solidFill>
                      <a:prstDash val="solid"/>
                    </a:lnB>
                    <a:solidFill>
                      <a:srgbClr val="E8EFED"/>
                    </a:solidFill>
                  </a:tcPr>
                </a:tc>
              </a:tr>
              <a:tr h="676275">
                <a:tc>
                  <a:txBody>
                    <a:bodyPr/>
                    <a:lstStyle/>
                    <a:p>
                      <a:r>
                        <a:rPr sz="1650" b="0">
                          <a:solidFill>
                            <a:srgbClr val="102A36"/>
                          </a:solidFill>
                          <a:latin typeface="DejaVu Sans"/>
                          <a:ea typeface="DejaVu Sans"/>
                          <a:cs typeface="DejaVu Sans"/>
                        </a:rPr>
                        <a:t>Evidence</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Zombie state</a:t>
                      </a:r>
                    </a:p>
                  </a:txBody>
                  <a:tcPr marL="91440" marR="91440" marT="45720" marB="45720">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History of parent change</a:t>
                      </a:r>
                    </a:p>
                  </a:txBody>
                  <a:tcPr marL="91440" marR="91440" marT="45720" marB="45720">
                    <a:lnR w="9525">
                      <a:solidFill>
                        <a:srgbClr val="D3DEDD"/>
                      </a:solidFill>
                      <a:prstDash val="solid"/>
                    </a:lnR>
                    <a:lnB w="9525">
                      <a:solidFill>
                        <a:srgbClr val="D3DEDD"/>
                      </a:solidFill>
                      <a:prstDash val="solid"/>
                    </a:lnB>
                    <a:solidFill>
                      <a:srgbClr val="FFFFFF"/>
                    </a:solidFill>
                  </a:tcPr>
                </a:tc>
              </a:tr>
              <a:tr h="676275">
                <a:tc>
                  <a:txBody>
                    <a:bodyPr/>
                    <a:lstStyle/>
                    <a:p>
                      <a:r>
                        <a:rPr sz="1650" b="0">
                          <a:solidFill>
                            <a:srgbClr val="102A36"/>
                          </a:solidFill>
                          <a:latin typeface="DejaVu Sans"/>
                          <a:ea typeface="DejaVu Sans"/>
                          <a:cs typeface="DejaVu Sans"/>
                        </a:rPr>
                        <a:t>OS action</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Keeps exit information</a:t>
                      </a:r>
                    </a:p>
                  </a:txBody>
                  <a:tcPr marL="91440" marR="91440" marT="45720" marB="45720">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Assigns a new parent</a:t>
                      </a:r>
                    </a:p>
                  </a:txBody>
                  <a:tcPr marL="91440" marR="91440" marT="45720" marB="45720">
                    <a:lnR w="9525">
                      <a:solidFill>
                        <a:srgbClr val="D3DEDD"/>
                      </a:solidFill>
                      <a:prstDash val="solid"/>
                    </a:lnR>
                    <a:lnB w="9525">
                      <a:solidFill>
                        <a:srgbClr val="D3DEDD"/>
                      </a:solidFill>
                      <a:prstDash val="solid"/>
                    </a:lnB>
                    <a:solidFill>
                      <a:srgbClr val="E8EFED"/>
                    </a:solidFill>
                  </a:tcPr>
                </a:tc>
              </a:tr>
            </a:tbl>
          </a:graphicData>
        </a:graphic>
      </p:graphicFrame>
      <p:pic xmlns:a="http://schemas.openxmlformats.org/drawingml/2006/main" xmlns:r="http://schemas.openxmlformats.org/officeDocument/2006/relationships">
        <p:nvPicPr>
          <p:cNvPr id="6" name="Picture 5" descr="image.png"/>
          <p:cNvPicPr>
            <a:picLocks noChangeAspect="1"/>
          </p:cNvPicPr>
          <p:nvPr/>
        </p:nvPicPr>
        <p:blipFill>
          <a:blip r:embed="rId3"/>
          <a:stretch>
            <a:fillRect/>
          </a:stretch>
        </p:blipFill>
        <p:spPr>
          <a:xfrm>
            <a:off x="137160" y="91440"/>
            <a:ext cx="960120" cy="526398"/>
          </a:xfrm>
          <a:prstGeom prst="rect">
            <a:avLst/>
          </a:prstGeom>
        </p:spPr>
      </p:pic>
    </p:spTree>
    <p:extLst>
      <p:ext uri="{BB962C8B-B14F-4D97-AF65-F5344CB8AC3E}">
        <p14:creationId xmlns:p14="http://schemas.microsoft.com/office/powerpoint/2010/main" val="1255994082"/>
      </p:ext>
    </p:extLst>
  </p:cSld>
</p:sld>
</file>

<file path=ppt/slides/slide4.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93ED0E-0A70-4386-9AD4-6AFC0A4F8285}"/>
              </a:ext>
            </a:extLst>
          </p:cNvPr>
          <p:cNvSpPr>
            <a:spLocks xmlns:a="http://schemas.openxmlformats.org/drawingml/2006/main" noGrp="1"/>
          </p:cNvSpPr>
          <p:nvPr/>
        </p:nvSpPr>
        <p:spPr>
          <a:xfrm xmlns:a="http://schemas.openxmlformats.org/drawingml/2006/main">
            <a:off x="609600" y="514350"/>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02A36"/>
                </a:solidFill>
                <a:latin typeface="DejaVu Sans"/>
                <a:ea typeface="DejaVu Sans"/>
                <a:cs typeface="DejaVu Sans"/>
              </a:defRPr>
            </a:defPPr>
            <a:lvl1pPr>
              <a:buNone/>
              <a:defRPr sz="3225" b="1">
                <a:solidFill>
                  <a:srgbClr val="102A36"/>
                </a:solidFill>
                <a:latin typeface="DejaVu Sans"/>
                <a:ea typeface="DejaVu Sans"/>
                <a:cs typeface="DejaVu Sans"/>
              </a:defRPr>
            </a:lvl1pPr>
            <a:lvl2pPr>
              <a:buNone/>
              <a:defRPr sz="3225" b="1">
                <a:solidFill>
                  <a:srgbClr val="102A36"/>
                </a:solidFill>
                <a:latin typeface="DejaVu Sans"/>
                <a:ea typeface="DejaVu Sans"/>
                <a:cs typeface="DejaVu Sans"/>
              </a:defRPr>
            </a:lvl2pPr>
            <a:lvl3pPr>
              <a:buNone/>
              <a:defRPr sz="3225" b="1">
                <a:solidFill>
                  <a:srgbClr val="102A36"/>
                </a:solidFill>
                <a:latin typeface="DejaVu Sans"/>
                <a:ea typeface="DejaVu Sans"/>
                <a:cs typeface="DejaVu Sans"/>
              </a:defRPr>
            </a:lvl3pPr>
            <a:lvl4pPr>
              <a:buNone/>
              <a:defRPr sz="3225" b="1">
                <a:solidFill>
                  <a:srgbClr val="102A36"/>
                </a:solidFill>
                <a:latin typeface="DejaVu Sans"/>
                <a:ea typeface="DejaVu Sans"/>
                <a:cs typeface="DejaVu Sans"/>
              </a:defRPr>
            </a:lvl4pPr>
            <a:lvl5pPr>
              <a:buNone/>
              <a:defRPr sz="3225" b="1">
                <a:solidFill>
                  <a:srgbClr val="102A36"/>
                </a:solidFill>
                <a:latin typeface="DejaVu Sans"/>
                <a:ea typeface="DejaVu Sans"/>
                <a:cs typeface="DejaVu Sans"/>
              </a:defRPr>
            </a:lvl5pPr>
            <a:lvl6pPr>
              <a:buNone/>
              <a:defRPr sz="3225" b="1">
                <a:solidFill>
                  <a:srgbClr val="102A36"/>
                </a:solidFill>
                <a:latin typeface="DejaVu Sans"/>
                <a:ea typeface="DejaVu Sans"/>
                <a:cs typeface="DejaVu Sans"/>
              </a:defRPr>
            </a:lvl6pPr>
            <a:lvl7pPr>
              <a:buNone/>
              <a:defRPr sz="3225" b="1">
                <a:solidFill>
                  <a:srgbClr val="102A36"/>
                </a:solidFill>
                <a:latin typeface="DejaVu Sans"/>
                <a:ea typeface="DejaVu Sans"/>
                <a:cs typeface="DejaVu Sans"/>
              </a:defRPr>
            </a:lvl7pPr>
            <a:lvl8pPr>
              <a:buNone/>
              <a:defRPr sz="3225" b="1">
                <a:solidFill>
                  <a:srgbClr val="102A36"/>
                </a:solidFill>
                <a:latin typeface="DejaVu Sans"/>
                <a:ea typeface="DejaVu Sans"/>
                <a:cs typeface="DejaVu Sans"/>
              </a:defRPr>
            </a:lvl8pPr>
            <a:lvl9pPr>
              <a:buNone/>
              <a:defRPr sz="3225" b="1">
                <a:solidFill>
                  <a:srgbClr val="102A36"/>
                </a:solidFill>
                <a:latin typeface="DejaVu Sans"/>
                <a:ea typeface="DejaVu Sans"/>
                <a:cs typeface="DejaVu Sans"/>
              </a:defRPr>
            </a:lvl9pPr>
          </a:lstStyle>
          <a:p xmlns:a="http://schemas.openxmlformats.org/drawingml/2006/main">
            <a:pPr>
              <a:buNone/>
              <a:defRPr sz="3225" b="1">
                <a:solidFill>
                  <a:srgbClr val="102A36"/>
                </a:solidFill>
                <a:latin typeface="DejaVu Sans"/>
                <a:ea typeface="DejaVu Sans"/>
                <a:cs typeface="DejaVu Sans"/>
              </a:defRPr>
            </a:pPr>
            <a:r>
              <a:rPr sz="3225" b="1">
                <a:solidFill>
                  <a:srgbClr val="102A36"/>
                </a:solidFill>
                <a:latin typeface="DejaVu Sans"/>
                <a:ea typeface="DejaVu Sans"/>
                <a:cs typeface="DejaVu Sans"/>
              </a:rPr>
              <a:t>Objectives and scope</a:t>
            </a:r>
          </a:p>
        </p:txBody>
      </p:sp>
      <p:sp>
        <p:nvSpPr>
          <p:cNvPr id="2" name="">
            <a:extLst xmlns:a="http://schemas.openxmlformats.org/drawingml/2006/main">
              <a:ext uri="{FF2B5EF4-FFF2-40B4-BE49-F238E27FC236}">
                <a16:creationId xmlns:a16="http://schemas.microsoft.com/office/drawing/2014/main" id="{4D1EE7D3-E0BB-497B-B851-6A4786EBBBCB}"/>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50616A"/>
                </a:solidFill>
                <a:latin typeface="DejaVu Sans"/>
                <a:ea typeface="DejaVu Sans"/>
                <a:cs typeface="DejaVu Sans"/>
              </a:defRPr>
            </a:defPPr>
            <a:lvl1pPr>
              <a:buNone/>
              <a:defRPr sz="1800" b="0">
                <a:solidFill>
                  <a:srgbClr val="50616A"/>
                </a:solidFill>
                <a:latin typeface="DejaVu Sans"/>
                <a:ea typeface="DejaVu Sans"/>
                <a:cs typeface="DejaVu Sans"/>
              </a:defRPr>
            </a:lvl1pPr>
            <a:lvl2pPr>
              <a:buNone/>
              <a:defRPr sz="1800" b="0">
                <a:solidFill>
                  <a:srgbClr val="50616A"/>
                </a:solidFill>
                <a:latin typeface="DejaVu Sans"/>
                <a:ea typeface="DejaVu Sans"/>
                <a:cs typeface="DejaVu Sans"/>
              </a:defRPr>
            </a:lvl2pPr>
            <a:lvl3pPr>
              <a:buNone/>
              <a:defRPr sz="1800" b="0">
                <a:solidFill>
                  <a:srgbClr val="50616A"/>
                </a:solidFill>
                <a:latin typeface="DejaVu Sans"/>
                <a:ea typeface="DejaVu Sans"/>
                <a:cs typeface="DejaVu Sans"/>
              </a:defRPr>
            </a:lvl3pPr>
            <a:lvl4pPr>
              <a:buNone/>
              <a:defRPr sz="1800" b="0">
                <a:solidFill>
                  <a:srgbClr val="50616A"/>
                </a:solidFill>
                <a:latin typeface="DejaVu Sans"/>
                <a:ea typeface="DejaVu Sans"/>
                <a:cs typeface="DejaVu Sans"/>
              </a:defRPr>
            </a:lvl4pPr>
            <a:lvl5pPr>
              <a:buNone/>
              <a:defRPr sz="1800" b="0">
                <a:solidFill>
                  <a:srgbClr val="50616A"/>
                </a:solidFill>
                <a:latin typeface="DejaVu Sans"/>
                <a:ea typeface="DejaVu Sans"/>
                <a:cs typeface="DejaVu Sans"/>
              </a:defRPr>
            </a:lvl5pPr>
            <a:lvl6pPr>
              <a:buNone/>
              <a:defRPr sz="1800" b="0">
                <a:solidFill>
                  <a:srgbClr val="50616A"/>
                </a:solidFill>
                <a:latin typeface="DejaVu Sans"/>
                <a:ea typeface="DejaVu Sans"/>
                <a:cs typeface="DejaVu Sans"/>
              </a:defRPr>
            </a:lvl6pPr>
            <a:lvl7pPr>
              <a:buNone/>
              <a:defRPr sz="1800" b="0">
                <a:solidFill>
                  <a:srgbClr val="50616A"/>
                </a:solidFill>
                <a:latin typeface="DejaVu Sans"/>
                <a:ea typeface="DejaVu Sans"/>
                <a:cs typeface="DejaVu Sans"/>
              </a:defRPr>
            </a:lvl7pPr>
            <a:lvl8pPr>
              <a:buNone/>
              <a:defRPr sz="1800" b="0">
                <a:solidFill>
                  <a:srgbClr val="50616A"/>
                </a:solidFill>
                <a:latin typeface="DejaVu Sans"/>
                <a:ea typeface="DejaVu Sans"/>
                <a:cs typeface="DejaVu Sans"/>
              </a:defRPr>
            </a:lvl8pPr>
            <a:lvl9pPr>
              <a:buNone/>
              <a:defRPr sz="1800" b="0">
                <a:solidFill>
                  <a:srgbClr val="50616A"/>
                </a:solidFill>
                <a:latin typeface="DejaVu Sans"/>
                <a:ea typeface="DejaVu Sans"/>
                <a:cs typeface="DejaVu Sans"/>
              </a:defRPr>
            </a:lvl9pPr>
          </a:lstStyle>
          <a:p xmlns:a="http://schemas.openxmlformats.org/drawingml/2006/main">
            <a:pPr>
              <a:buNone/>
              <a:defRPr sz="1800" b="0">
                <a:solidFill>
                  <a:srgbClr val="50616A"/>
                </a:solidFill>
                <a:latin typeface="DejaVu Sans"/>
                <a:ea typeface="DejaVu Sans"/>
                <a:cs typeface="DejaVu Sans"/>
              </a:defRPr>
            </a:pPr>
            <a:r>
              <a:rPr sz="1800" b="0">
                <a:solidFill>
                  <a:srgbClr val="50616A"/>
                </a:solidFill>
                <a:latin typeface="DejaVu Sans"/>
                <a:ea typeface="DejaVu Sans"/>
                <a:cs typeface="DejaVu Sans"/>
              </a:rPr>
              <a:t>Proposed prototype for Linux with a local desktop interface.</a:t>
            </a:r>
          </a:p>
        </p:txBody>
      </p:sp>
      <p:sp>
        <p:nvSpPr>
          <p:cNvPr id="3" name="">
            <a:extLst xmlns:a="http://schemas.openxmlformats.org/drawingml/2006/main">
              <a:ext uri="{FF2B5EF4-FFF2-40B4-BE49-F238E27FC236}">
                <a16:creationId xmlns:a16="http://schemas.microsoft.com/office/drawing/2014/main" id="{7E4FCE11-86DC-4809-8E4A-A4B025A379B7}"/>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0616A"/>
                </a:solidFill>
                <a:latin typeface="DejaVu Sans"/>
                <a:ea typeface="DejaVu Sans"/>
                <a:cs typeface="DejaVu Sans"/>
              </a:defRPr>
            </a:defPPr>
            <a:lvl1pPr>
              <a:buNone/>
              <a:defRPr sz="1350" b="0">
                <a:solidFill>
                  <a:srgbClr val="50616A"/>
                </a:solidFill>
                <a:latin typeface="DejaVu Sans"/>
                <a:ea typeface="DejaVu Sans"/>
                <a:cs typeface="DejaVu Sans"/>
              </a:defRPr>
            </a:lvl1pPr>
            <a:lvl2pPr>
              <a:buNone/>
              <a:defRPr sz="1350" b="0">
                <a:solidFill>
                  <a:srgbClr val="50616A"/>
                </a:solidFill>
                <a:latin typeface="DejaVu Sans"/>
                <a:ea typeface="DejaVu Sans"/>
                <a:cs typeface="DejaVu Sans"/>
              </a:defRPr>
            </a:lvl2pPr>
            <a:lvl3pPr>
              <a:buNone/>
              <a:defRPr sz="1350" b="0">
                <a:solidFill>
                  <a:srgbClr val="50616A"/>
                </a:solidFill>
                <a:latin typeface="DejaVu Sans"/>
                <a:ea typeface="DejaVu Sans"/>
                <a:cs typeface="DejaVu Sans"/>
              </a:defRPr>
            </a:lvl3pPr>
            <a:lvl4pPr>
              <a:buNone/>
              <a:defRPr sz="1350" b="0">
                <a:solidFill>
                  <a:srgbClr val="50616A"/>
                </a:solidFill>
                <a:latin typeface="DejaVu Sans"/>
                <a:ea typeface="DejaVu Sans"/>
                <a:cs typeface="DejaVu Sans"/>
              </a:defRPr>
            </a:lvl4pPr>
            <a:lvl5pPr>
              <a:buNone/>
              <a:defRPr sz="1350" b="0">
                <a:solidFill>
                  <a:srgbClr val="50616A"/>
                </a:solidFill>
                <a:latin typeface="DejaVu Sans"/>
                <a:ea typeface="DejaVu Sans"/>
                <a:cs typeface="DejaVu Sans"/>
              </a:defRPr>
            </a:lvl5pPr>
            <a:lvl6pPr>
              <a:buNone/>
              <a:defRPr sz="1350" b="0">
                <a:solidFill>
                  <a:srgbClr val="50616A"/>
                </a:solidFill>
                <a:latin typeface="DejaVu Sans"/>
                <a:ea typeface="DejaVu Sans"/>
                <a:cs typeface="DejaVu Sans"/>
              </a:defRPr>
            </a:lvl6pPr>
            <a:lvl7pPr>
              <a:buNone/>
              <a:defRPr sz="1350" b="0">
                <a:solidFill>
                  <a:srgbClr val="50616A"/>
                </a:solidFill>
                <a:latin typeface="DejaVu Sans"/>
                <a:ea typeface="DejaVu Sans"/>
                <a:cs typeface="DejaVu Sans"/>
              </a:defRPr>
            </a:lvl7pPr>
            <a:lvl8pPr>
              <a:buNone/>
              <a:defRPr sz="1350" b="0">
                <a:solidFill>
                  <a:srgbClr val="50616A"/>
                </a:solidFill>
                <a:latin typeface="DejaVu Sans"/>
                <a:ea typeface="DejaVu Sans"/>
                <a:cs typeface="DejaVu Sans"/>
              </a:defRPr>
            </a:lvl8pPr>
            <a:lvl9pPr>
              <a:buNone/>
              <a:defRPr sz="1350" b="0">
                <a:solidFill>
                  <a:srgbClr val="50616A"/>
                </a:solidFill>
                <a:latin typeface="DejaVu Sans"/>
                <a:ea typeface="DejaVu Sans"/>
                <a:cs typeface="DejaVu Sans"/>
              </a:defRPr>
            </a:lvl9pPr>
          </a:lstStyle>
          <a:p xmlns:a="http://schemas.openxmlformats.org/drawingml/2006/main">
            <a:pPr>
              <a:buNone/>
              <a:defRPr sz="1350" b="0">
                <a:solidFill>
                  <a:srgbClr val="50616A"/>
                </a:solidFill>
                <a:latin typeface="DejaVu Sans"/>
                <a:ea typeface="DejaVu Sans"/>
                <a:cs typeface="DejaVu Sans"/>
              </a:defRPr>
            </a:pPr>
            <a:r>
              <a:rPr sz="1350" b="0">
                <a:solidFill>
                  <a:srgbClr val="50616A"/>
                </a:solidFill>
                <a:latin typeface="DejaVu Sans"/>
                <a:ea typeface="DejaVu Sans"/>
                <a:cs typeface="DejaVu Sans"/>
              </a:rPr>
              <a:t>04</a:t>
            </a:r>
          </a:p>
        </p:txBody>
      </p:sp>
      <p:sp>
        <p:nvSpPr>
          <p:cNvPr id="4" name="">
            <a:extLst xmlns:a="http://schemas.openxmlformats.org/drawingml/2006/main">
              <a:ext uri="{FF2B5EF4-FFF2-40B4-BE49-F238E27FC236}">
                <a16:creationId xmlns:a16="http://schemas.microsoft.com/office/drawing/2014/main" id="{DD7CD81B-D95B-4857-8467-C54F357CBF28}"/>
              </a:ext>
            </a:extLst>
          </p:cNvPr>
          <p:cNvSpPr>
            <a:spLocks xmlns:a="http://schemas.openxmlformats.org/drawingml/2006/main" noGrp="1"/>
          </p:cNvSpPr>
          <p:nvPr/>
        </p:nvSpPr>
        <p:spPr>
          <a:xfrm xmlns:a="http://schemas.openxmlformats.org/drawingml/2006/main">
            <a:off x="609600" y="21907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C94F6B0C-11E4-4844-BB75-271077B446DE}"/>
              </a:ext>
            </a:extLst>
          </p:cNvPr>
          <p:cNvSpPr>
            <a:spLocks xmlns:a="http://schemas.openxmlformats.org/drawingml/2006/main" noGrp="1"/>
          </p:cNvSpPr>
          <p:nvPr/>
        </p:nvSpPr>
        <p:spPr>
          <a:xfrm xmlns:a="http://schemas.openxmlformats.org/drawingml/2006/main">
            <a:off x="1524000" y="219075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Display PID, PPID, process name and current state.</a:t>
            </a:r>
          </a:p>
        </p:txBody>
      </p:sp>
      <p:sp>
        <p:nvSpPr>
          <p:cNvPr id="6" name="">
            <a:extLst xmlns:a="http://schemas.openxmlformats.org/drawingml/2006/main">
              <a:ext uri="{FF2B5EF4-FFF2-40B4-BE49-F238E27FC236}">
                <a16:creationId xmlns:a16="http://schemas.microsoft.com/office/drawing/2014/main" id="{F8CA96C6-8A33-4067-9F66-768A50009FD7}"/>
              </a:ext>
            </a:extLst>
          </p:cNvPr>
          <p:cNvSpPr>
            <a:spLocks xmlns:a="http://schemas.openxmlformats.org/drawingml/2006/main" noGrp="1"/>
          </p:cNvSpPr>
          <p:nvPr/>
        </p:nvSpPr>
        <p:spPr>
          <a:xfrm xmlns:a="http://schemas.openxmlformats.org/drawingml/2006/main">
            <a:off x="609600" y="3057525"/>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02</a:t>
            </a:r>
          </a:p>
        </p:txBody>
      </p:sp>
      <p:sp>
        <p:nvSpPr>
          <p:cNvPr id="7" name="">
            <a:extLst xmlns:a="http://schemas.openxmlformats.org/drawingml/2006/main">
              <a:ext uri="{FF2B5EF4-FFF2-40B4-BE49-F238E27FC236}">
                <a16:creationId xmlns:a16="http://schemas.microsoft.com/office/drawing/2014/main" id="{99EAD8BB-52F4-4506-B997-2EE1C503D82F}"/>
              </a:ext>
            </a:extLst>
          </p:cNvPr>
          <p:cNvSpPr>
            <a:spLocks xmlns:a="http://schemas.openxmlformats.org/drawingml/2006/main" noGrp="1"/>
          </p:cNvSpPr>
          <p:nvPr/>
        </p:nvSpPr>
        <p:spPr>
          <a:xfrm xmlns:a="http://schemas.openxmlformats.org/drawingml/2006/main">
            <a:off x="1524000" y="3057525"/>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Highlight zombies and observed orphan events.</a:t>
            </a:r>
          </a:p>
        </p:txBody>
      </p:sp>
      <p:sp>
        <p:nvSpPr>
          <p:cNvPr id="8" name="">
            <a:extLst xmlns:a="http://schemas.openxmlformats.org/drawingml/2006/main">
              <a:ext uri="{FF2B5EF4-FFF2-40B4-BE49-F238E27FC236}">
                <a16:creationId xmlns:a16="http://schemas.microsoft.com/office/drawing/2014/main" id="{F43B039C-4E3D-4B00-B8A3-26DDA7EF259A}"/>
              </a:ext>
            </a:extLst>
          </p:cNvPr>
          <p:cNvSpPr>
            <a:spLocks xmlns:a="http://schemas.openxmlformats.org/drawingml/2006/main" noGrp="1"/>
          </p:cNvSpPr>
          <p:nvPr/>
        </p:nvSpPr>
        <p:spPr>
          <a:xfrm xmlns:a="http://schemas.openxmlformats.org/drawingml/2006/main">
            <a:off x="609600" y="39243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03</a:t>
            </a:r>
          </a:p>
        </p:txBody>
      </p:sp>
      <p:sp>
        <p:nvSpPr>
          <p:cNvPr id="9" name="">
            <a:extLst xmlns:a="http://schemas.openxmlformats.org/drawingml/2006/main">
              <a:ext uri="{FF2B5EF4-FFF2-40B4-BE49-F238E27FC236}">
                <a16:creationId xmlns:a16="http://schemas.microsoft.com/office/drawing/2014/main" id="{C6DF72A8-1D7A-4560-B97E-5E70E1649BF2}"/>
              </a:ext>
            </a:extLst>
          </p:cNvPr>
          <p:cNvSpPr>
            <a:spLocks xmlns:a="http://schemas.openxmlformats.org/drawingml/2006/main" noGrp="1"/>
          </p:cNvSpPr>
          <p:nvPr/>
        </p:nvSpPr>
        <p:spPr>
          <a:xfrm xmlns:a="http://schemas.openxmlformats.org/drawingml/2006/main">
            <a:off x="1524000" y="392430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Show the current parent–child tree and parent history.</a:t>
            </a:r>
          </a:p>
        </p:txBody>
      </p:sp>
      <p:sp>
        <p:nvSpPr>
          <p:cNvPr id="10" name="">
            <a:extLst xmlns:a="http://schemas.openxmlformats.org/drawingml/2006/main">
              <a:ext uri="{FF2B5EF4-FFF2-40B4-BE49-F238E27FC236}">
                <a16:creationId xmlns:a16="http://schemas.microsoft.com/office/drawing/2014/main" id="{DC7F8864-F352-42AF-BB59-2F5097573EEC}"/>
              </a:ext>
            </a:extLst>
          </p:cNvPr>
          <p:cNvSpPr>
            <a:spLocks xmlns:a="http://schemas.openxmlformats.org/drawingml/2006/main" noGrp="1"/>
          </p:cNvSpPr>
          <p:nvPr/>
        </p:nvSpPr>
        <p:spPr>
          <a:xfrm xmlns:a="http://schemas.openxmlformats.org/drawingml/2006/main">
            <a:off x="609600" y="4791075"/>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04</a:t>
            </a:r>
          </a:p>
        </p:txBody>
      </p:sp>
      <p:sp>
        <p:nvSpPr>
          <p:cNvPr id="11" name="">
            <a:extLst xmlns:a="http://schemas.openxmlformats.org/drawingml/2006/main">
              <a:ext uri="{FF2B5EF4-FFF2-40B4-BE49-F238E27FC236}">
                <a16:creationId xmlns:a16="http://schemas.microsoft.com/office/drawing/2014/main" id="{6C46597B-4483-43B4-877F-F73ECD671999}"/>
              </a:ext>
            </a:extLst>
          </p:cNvPr>
          <p:cNvSpPr>
            <a:spLocks xmlns:a="http://schemas.openxmlformats.org/drawingml/2006/main" noGrp="1"/>
          </p:cNvSpPr>
          <p:nvPr/>
        </p:nvSpPr>
        <p:spPr>
          <a:xfrm xmlns:a="http://schemas.openxmlformats.org/drawingml/2006/main">
            <a:off x="1524000" y="4791075"/>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Refresh the view and export findings for the report.</a:t>
            </a:r>
          </a:p>
        </p:txBody>
      </p:sp>
      <p:pic xmlns:a="http://schemas.openxmlformats.org/drawingml/2006/main" xmlns:r="http://schemas.openxmlformats.org/officeDocument/2006/relationships">
        <p:nvPicPr>
          <p:cNvPr id="13" name="Picture 12" descr="image.png"/>
          <p:cNvPicPr>
            <a:picLocks noChangeAspect="1"/>
          </p:cNvPicPr>
          <p:nvPr/>
        </p:nvPicPr>
        <p:blipFill>
          <a:blip r:embed="rId3"/>
          <a:stretch>
            <a:fillRect/>
          </a:stretch>
        </p:blipFill>
        <p:spPr>
          <a:xfrm>
            <a:off x="137160" y="91440"/>
            <a:ext cx="960120" cy="526398"/>
          </a:xfrm>
          <a:prstGeom prst="rect">
            <a:avLst/>
          </a:prstGeom>
        </p:spPr>
      </p:pic>
    </p:spTree>
    <p:extLst>
      <p:ext uri="{BB962C8B-B14F-4D97-AF65-F5344CB8AC3E}">
        <p14:creationId xmlns:p14="http://schemas.microsoft.com/office/powerpoint/2010/main" val="232227817"/>
      </p:ext>
    </p:extLst>
  </p:cSld>
</p:sld>
</file>

<file path=ppt/slides/slide5.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5F6909-F5FE-40BB-BFDD-C102149BD147}"/>
              </a:ext>
            </a:extLst>
          </p:cNvPr>
          <p:cNvSpPr>
            <a:spLocks xmlns:a="http://schemas.openxmlformats.org/drawingml/2006/main" noGrp="1"/>
          </p:cNvSpPr>
          <p:nvPr/>
        </p:nvSpPr>
        <p:spPr>
          <a:xfrm xmlns:a="http://schemas.openxmlformats.org/drawingml/2006/main">
            <a:off x="609600" y="514350"/>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02A36"/>
                </a:solidFill>
                <a:latin typeface="DejaVu Sans"/>
                <a:ea typeface="DejaVu Sans"/>
                <a:cs typeface="DejaVu Sans"/>
              </a:defRPr>
            </a:defPPr>
            <a:lvl1pPr>
              <a:buNone/>
              <a:defRPr sz="3225" b="1">
                <a:solidFill>
                  <a:srgbClr val="102A36"/>
                </a:solidFill>
                <a:latin typeface="DejaVu Sans"/>
                <a:ea typeface="DejaVu Sans"/>
                <a:cs typeface="DejaVu Sans"/>
              </a:defRPr>
            </a:lvl1pPr>
            <a:lvl2pPr>
              <a:buNone/>
              <a:defRPr sz="3225" b="1">
                <a:solidFill>
                  <a:srgbClr val="102A36"/>
                </a:solidFill>
                <a:latin typeface="DejaVu Sans"/>
                <a:ea typeface="DejaVu Sans"/>
                <a:cs typeface="DejaVu Sans"/>
              </a:defRPr>
            </a:lvl2pPr>
            <a:lvl3pPr>
              <a:buNone/>
              <a:defRPr sz="3225" b="1">
                <a:solidFill>
                  <a:srgbClr val="102A36"/>
                </a:solidFill>
                <a:latin typeface="DejaVu Sans"/>
                <a:ea typeface="DejaVu Sans"/>
                <a:cs typeface="DejaVu Sans"/>
              </a:defRPr>
            </a:lvl3pPr>
            <a:lvl4pPr>
              <a:buNone/>
              <a:defRPr sz="3225" b="1">
                <a:solidFill>
                  <a:srgbClr val="102A36"/>
                </a:solidFill>
                <a:latin typeface="DejaVu Sans"/>
                <a:ea typeface="DejaVu Sans"/>
                <a:cs typeface="DejaVu Sans"/>
              </a:defRPr>
            </a:lvl4pPr>
            <a:lvl5pPr>
              <a:buNone/>
              <a:defRPr sz="3225" b="1">
                <a:solidFill>
                  <a:srgbClr val="102A36"/>
                </a:solidFill>
                <a:latin typeface="DejaVu Sans"/>
                <a:ea typeface="DejaVu Sans"/>
                <a:cs typeface="DejaVu Sans"/>
              </a:defRPr>
            </a:lvl5pPr>
            <a:lvl6pPr>
              <a:buNone/>
              <a:defRPr sz="3225" b="1">
                <a:solidFill>
                  <a:srgbClr val="102A36"/>
                </a:solidFill>
                <a:latin typeface="DejaVu Sans"/>
                <a:ea typeface="DejaVu Sans"/>
                <a:cs typeface="DejaVu Sans"/>
              </a:defRPr>
            </a:lvl6pPr>
            <a:lvl7pPr>
              <a:buNone/>
              <a:defRPr sz="3225" b="1">
                <a:solidFill>
                  <a:srgbClr val="102A36"/>
                </a:solidFill>
                <a:latin typeface="DejaVu Sans"/>
                <a:ea typeface="DejaVu Sans"/>
                <a:cs typeface="DejaVu Sans"/>
              </a:defRPr>
            </a:lvl7pPr>
            <a:lvl8pPr>
              <a:buNone/>
              <a:defRPr sz="3225" b="1">
                <a:solidFill>
                  <a:srgbClr val="102A36"/>
                </a:solidFill>
                <a:latin typeface="DejaVu Sans"/>
                <a:ea typeface="DejaVu Sans"/>
                <a:cs typeface="DejaVu Sans"/>
              </a:defRPr>
            </a:lvl8pPr>
            <a:lvl9pPr>
              <a:buNone/>
              <a:defRPr sz="3225" b="1">
                <a:solidFill>
                  <a:srgbClr val="102A36"/>
                </a:solidFill>
                <a:latin typeface="DejaVu Sans"/>
                <a:ea typeface="DejaVu Sans"/>
                <a:cs typeface="DejaVu Sans"/>
              </a:defRPr>
            </a:lvl9pPr>
          </a:lstStyle>
          <a:p xmlns:a="http://schemas.openxmlformats.org/drawingml/2006/main">
            <a:pPr>
              <a:buNone/>
              <a:defRPr sz="3225" b="1">
                <a:solidFill>
                  <a:srgbClr val="102A36"/>
                </a:solidFill>
                <a:latin typeface="DejaVu Sans"/>
                <a:ea typeface="DejaVu Sans"/>
                <a:cs typeface="DejaVu Sans"/>
              </a:defRPr>
            </a:pPr>
            <a:r>
              <a:rPr sz="3225" b="1">
                <a:solidFill>
                  <a:srgbClr val="102A36"/>
                </a:solidFill>
                <a:latin typeface="DejaVu Sans"/>
                <a:ea typeface="DejaVu Sans"/>
                <a:cs typeface="DejaVu Sans"/>
              </a:rPr>
              <a:t>System design</a:t>
            </a:r>
          </a:p>
        </p:txBody>
      </p:sp>
      <p:sp>
        <p:nvSpPr>
          <p:cNvPr id="2" name="">
            <a:extLst xmlns:a="http://schemas.openxmlformats.org/drawingml/2006/main">
              <a:ext uri="{FF2B5EF4-FFF2-40B4-BE49-F238E27FC236}">
                <a16:creationId xmlns:a16="http://schemas.microsoft.com/office/drawing/2014/main" id="{1350088A-244D-45C1-8322-E20AC84F2386}"/>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50616A"/>
                </a:solidFill>
                <a:latin typeface="DejaVu Sans"/>
                <a:ea typeface="DejaVu Sans"/>
                <a:cs typeface="DejaVu Sans"/>
              </a:defRPr>
            </a:defPPr>
            <a:lvl1pPr>
              <a:buNone/>
              <a:defRPr sz="1800" b="0">
                <a:solidFill>
                  <a:srgbClr val="50616A"/>
                </a:solidFill>
                <a:latin typeface="DejaVu Sans"/>
                <a:ea typeface="DejaVu Sans"/>
                <a:cs typeface="DejaVu Sans"/>
              </a:defRPr>
            </a:lvl1pPr>
            <a:lvl2pPr>
              <a:buNone/>
              <a:defRPr sz="1800" b="0">
                <a:solidFill>
                  <a:srgbClr val="50616A"/>
                </a:solidFill>
                <a:latin typeface="DejaVu Sans"/>
                <a:ea typeface="DejaVu Sans"/>
                <a:cs typeface="DejaVu Sans"/>
              </a:defRPr>
            </a:lvl2pPr>
            <a:lvl3pPr>
              <a:buNone/>
              <a:defRPr sz="1800" b="0">
                <a:solidFill>
                  <a:srgbClr val="50616A"/>
                </a:solidFill>
                <a:latin typeface="DejaVu Sans"/>
                <a:ea typeface="DejaVu Sans"/>
                <a:cs typeface="DejaVu Sans"/>
              </a:defRPr>
            </a:lvl3pPr>
            <a:lvl4pPr>
              <a:buNone/>
              <a:defRPr sz="1800" b="0">
                <a:solidFill>
                  <a:srgbClr val="50616A"/>
                </a:solidFill>
                <a:latin typeface="DejaVu Sans"/>
                <a:ea typeface="DejaVu Sans"/>
                <a:cs typeface="DejaVu Sans"/>
              </a:defRPr>
            </a:lvl4pPr>
            <a:lvl5pPr>
              <a:buNone/>
              <a:defRPr sz="1800" b="0">
                <a:solidFill>
                  <a:srgbClr val="50616A"/>
                </a:solidFill>
                <a:latin typeface="DejaVu Sans"/>
                <a:ea typeface="DejaVu Sans"/>
                <a:cs typeface="DejaVu Sans"/>
              </a:defRPr>
            </a:lvl5pPr>
            <a:lvl6pPr>
              <a:buNone/>
              <a:defRPr sz="1800" b="0">
                <a:solidFill>
                  <a:srgbClr val="50616A"/>
                </a:solidFill>
                <a:latin typeface="DejaVu Sans"/>
                <a:ea typeface="DejaVu Sans"/>
                <a:cs typeface="DejaVu Sans"/>
              </a:defRPr>
            </a:lvl6pPr>
            <a:lvl7pPr>
              <a:buNone/>
              <a:defRPr sz="1800" b="0">
                <a:solidFill>
                  <a:srgbClr val="50616A"/>
                </a:solidFill>
                <a:latin typeface="DejaVu Sans"/>
                <a:ea typeface="DejaVu Sans"/>
                <a:cs typeface="DejaVu Sans"/>
              </a:defRPr>
            </a:lvl7pPr>
            <a:lvl8pPr>
              <a:buNone/>
              <a:defRPr sz="1800" b="0">
                <a:solidFill>
                  <a:srgbClr val="50616A"/>
                </a:solidFill>
                <a:latin typeface="DejaVu Sans"/>
                <a:ea typeface="DejaVu Sans"/>
                <a:cs typeface="DejaVu Sans"/>
              </a:defRPr>
            </a:lvl8pPr>
            <a:lvl9pPr>
              <a:buNone/>
              <a:defRPr sz="1800" b="0">
                <a:solidFill>
                  <a:srgbClr val="50616A"/>
                </a:solidFill>
                <a:latin typeface="DejaVu Sans"/>
                <a:ea typeface="DejaVu Sans"/>
                <a:cs typeface="DejaVu Sans"/>
              </a:defRPr>
            </a:lvl9pPr>
          </a:lstStyle>
          <a:p xmlns:a="http://schemas.openxmlformats.org/drawingml/2006/main">
            <a:pPr>
              <a:buNone/>
              <a:defRPr sz="1800" b="0">
                <a:solidFill>
                  <a:srgbClr val="50616A"/>
                </a:solidFill>
                <a:latin typeface="DejaVu Sans"/>
                <a:ea typeface="DejaVu Sans"/>
                <a:cs typeface="DejaVu Sans"/>
              </a:defRPr>
            </a:pPr>
            <a:r>
              <a:rPr sz="1800" b="0">
                <a:solidFill>
                  <a:srgbClr val="50616A"/>
                </a:solidFill>
                <a:latin typeface="DejaVu Sans"/>
                <a:ea typeface="DejaVu Sans"/>
                <a:cs typeface="DejaVu Sans"/>
              </a:rPr>
              <a:t>Each module has a clear responsibility in the proposed system.</a:t>
            </a:r>
          </a:p>
        </p:txBody>
      </p:sp>
      <p:sp>
        <p:nvSpPr>
          <p:cNvPr id="3" name="">
            <a:extLst xmlns:a="http://schemas.openxmlformats.org/drawingml/2006/main">
              <a:ext uri="{FF2B5EF4-FFF2-40B4-BE49-F238E27FC236}">
                <a16:creationId xmlns:a16="http://schemas.microsoft.com/office/drawing/2014/main" id="{9D96CE05-3CE8-4C1C-9F09-AC2485EF2E9C}"/>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0616A"/>
                </a:solidFill>
                <a:latin typeface="DejaVu Sans"/>
                <a:ea typeface="DejaVu Sans"/>
                <a:cs typeface="DejaVu Sans"/>
              </a:defRPr>
            </a:defPPr>
            <a:lvl1pPr>
              <a:buNone/>
              <a:defRPr sz="1350" b="0">
                <a:solidFill>
                  <a:srgbClr val="50616A"/>
                </a:solidFill>
                <a:latin typeface="DejaVu Sans"/>
                <a:ea typeface="DejaVu Sans"/>
                <a:cs typeface="DejaVu Sans"/>
              </a:defRPr>
            </a:lvl1pPr>
            <a:lvl2pPr>
              <a:buNone/>
              <a:defRPr sz="1350" b="0">
                <a:solidFill>
                  <a:srgbClr val="50616A"/>
                </a:solidFill>
                <a:latin typeface="DejaVu Sans"/>
                <a:ea typeface="DejaVu Sans"/>
                <a:cs typeface="DejaVu Sans"/>
              </a:defRPr>
            </a:lvl2pPr>
            <a:lvl3pPr>
              <a:buNone/>
              <a:defRPr sz="1350" b="0">
                <a:solidFill>
                  <a:srgbClr val="50616A"/>
                </a:solidFill>
                <a:latin typeface="DejaVu Sans"/>
                <a:ea typeface="DejaVu Sans"/>
                <a:cs typeface="DejaVu Sans"/>
              </a:defRPr>
            </a:lvl3pPr>
            <a:lvl4pPr>
              <a:buNone/>
              <a:defRPr sz="1350" b="0">
                <a:solidFill>
                  <a:srgbClr val="50616A"/>
                </a:solidFill>
                <a:latin typeface="DejaVu Sans"/>
                <a:ea typeface="DejaVu Sans"/>
                <a:cs typeface="DejaVu Sans"/>
              </a:defRPr>
            </a:lvl4pPr>
            <a:lvl5pPr>
              <a:buNone/>
              <a:defRPr sz="1350" b="0">
                <a:solidFill>
                  <a:srgbClr val="50616A"/>
                </a:solidFill>
                <a:latin typeface="DejaVu Sans"/>
                <a:ea typeface="DejaVu Sans"/>
                <a:cs typeface="DejaVu Sans"/>
              </a:defRPr>
            </a:lvl5pPr>
            <a:lvl6pPr>
              <a:buNone/>
              <a:defRPr sz="1350" b="0">
                <a:solidFill>
                  <a:srgbClr val="50616A"/>
                </a:solidFill>
                <a:latin typeface="DejaVu Sans"/>
                <a:ea typeface="DejaVu Sans"/>
                <a:cs typeface="DejaVu Sans"/>
              </a:defRPr>
            </a:lvl6pPr>
            <a:lvl7pPr>
              <a:buNone/>
              <a:defRPr sz="1350" b="0">
                <a:solidFill>
                  <a:srgbClr val="50616A"/>
                </a:solidFill>
                <a:latin typeface="DejaVu Sans"/>
                <a:ea typeface="DejaVu Sans"/>
                <a:cs typeface="DejaVu Sans"/>
              </a:defRPr>
            </a:lvl7pPr>
            <a:lvl8pPr>
              <a:buNone/>
              <a:defRPr sz="1350" b="0">
                <a:solidFill>
                  <a:srgbClr val="50616A"/>
                </a:solidFill>
                <a:latin typeface="DejaVu Sans"/>
                <a:ea typeface="DejaVu Sans"/>
                <a:cs typeface="DejaVu Sans"/>
              </a:defRPr>
            </a:lvl8pPr>
            <a:lvl9pPr>
              <a:buNone/>
              <a:defRPr sz="1350" b="0">
                <a:solidFill>
                  <a:srgbClr val="50616A"/>
                </a:solidFill>
                <a:latin typeface="DejaVu Sans"/>
                <a:ea typeface="DejaVu Sans"/>
                <a:cs typeface="DejaVu Sans"/>
              </a:defRPr>
            </a:lvl9pPr>
          </a:lstStyle>
          <a:p xmlns:a="http://schemas.openxmlformats.org/drawingml/2006/main">
            <a:pPr>
              <a:buNone/>
              <a:defRPr sz="1350" b="0">
                <a:solidFill>
                  <a:srgbClr val="50616A"/>
                </a:solidFill>
                <a:latin typeface="DejaVu Sans"/>
                <a:ea typeface="DejaVu Sans"/>
                <a:cs typeface="DejaVu Sans"/>
              </a:defRPr>
            </a:pPr>
            <a:r>
              <a:rPr sz="1350" b="0">
                <a:solidFill>
                  <a:srgbClr val="50616A"/>
                </a:solidFill>
                <a:latin typeface="DejaVu Sans"/>
                <a:ea typeface="DejaVu Sans"/>
                <a:cs typeface="DejaVu Sans"/>
              </a:rPr>
              <a:t>05</a:t>
            </a:r>
          </a:p>
        </p:txBody>
      </p:sp>
      <p:graphicFrame>
        <p:nvGraphicFramePr>
          <p:cNvPr id="4" name="">
            <a:extLst xmlns:a="http://schemas.openxmlformats.org/drawingml/2006/main">
              <a:ext uri="{FF2B5EF4-FFF2-40B4-BE49-F238E27FC236}">
                <a16:creationId xmlns:a16="http://schemas.microsoft.com/office/drawing/2014/main" id="{DEA371A6-32CB-4EDE-9A9E-F7616BEDF986}"/>
              </a:ext>
            </a:extLst>
          </p:cNvPr>
          <p:cNvGraphicFramePr/>
          <p:nvPr/>
        </p:nvGraphicFramePr>
        <p:xfrm>
          <a:off xmlns:a="http://schemas.openxmlformats.org/drawingml/2006/main" x="609600" y="2133600"/>
          <a:ext xmlns:a="http://schemas.openxmlformats.org/drawingml/2006/main" cx="10972800" cy="3667125"/>
        </p:xfrm>
        <a:graphic xmlns:a="http://schemas.openxmlformats.org/drawingml/2006/main">
          <a:graphicData uri="http://schemas.openxmlformats.org/drawingml/2006/table">
            <a:tbl>
              <a:tblPr/>
              <a:tblGrid>
                <a:gridCol w="3238500"/>
                <a:gridCol w="7734300"/>
              </a:tblGrid>
              <a:tr h="611188">
                <a:tc>
                  <a:txBody>
                    <a:bodyPr/>
                    <a:lstStyle/>
                    <a:p>
                      <a:r>
                        <a:rPr sz="1725" b="1">
                          <a:solidFill>
                            <a:srgbClr val="FFFFFF"/>
                          </a:solidFill>
                          <a:latin typeface="DejaVu Sans"/>
                          <a:ea typeface="DejaVu Sans"/>
                          <a:cs typeface="DejaVu Sans"/>
                        </a:rPr>
                        <a:t>Module</a:t>
                      </a:r>
                    </a:p>
                  </a:txBody>
                  <a:tcPr marL="91440" marR="91440" marT="45720" marB="45720">
                    <a:lnL w="9525">
                      <a:solidFill>
                        <a:srgbClr val="D3DEDD"/>
                      </a:solidFill>
                      <a:prstDash val="solid"/>
                    </a:lnL>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c>
                  <a:txBody>
                    <a:bodyPr/>
                    <a:lstStyle/>
                    <a:p>
                      <a:r>
                        <a:rPr sz="1725" b="1">
                          <a:solidFill>
                            <a:srgbClr val="FFFFFF"/>
                          </a:solidFill>
                          <a:latin typeface="DejaVu Sans"/>
                          <a:ea typeface="DejaVu Sans"/>
                          <a:cs typeface="DejaVu Sans"/>
                        </a:rPr>
                        <a:t>Responsibility</a:t>
                      </a:r>
                    </a:p>
                  </a:txBody>
                  <a:tcPr marL="91440" marR="91440" marT="45720" marB="45720">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r>
              <a:tr h="611188">
                <a:tc>
                  <a:txBody>
                    <a:bodyPr/>
                    <a:lstStyle/>
                    <a:p>
                      <a:r>
                        <a:rPr sz="1650" b="0">
                          <a:solidFill>
                            <a:srgbClr val="102A36"/>
                          </a:solidFill>
                          <a:latin typeface="DejaVu Sans"/>
                          <a:ea typeface="DejaVu Sans"/>
                          <a:cs typeface="DejaVu Sans"/>
                        </a:rPr>
                        <a:t>Process collector</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Read accessible processes using psutil</a:t>
                      </a:r>
                    </a:p>
                  </a:txBody>
                  <a:tcPr marL="91440" marR="91440" marT="45720" marB="45720">
                    <a:lnR w="9525">
                      <a:solidFill>
                        <a:srgbClr val="D3DEDD"/>
                      </a:solidFill>
                      <a:prstDash val="solid"/>
                    </a:lnR>
                    <a:lnB w="9525">
                      <a:solidFill>
                        <a:srgbClr val="D3DEDD"/>
                      </a:solidFill>
                      <a:prstDash val="solid"/>
                    </a:lnB>
                    <a:solidFill>
                      <a:srgbClr val="FFFFFF"/>
                    </a:solidFill>
                  </a:tcPr>
                </a:tc>
              </a:tr>
              <a:tr h="611188">
                <a:tc>
                  <a:txBody>
                    <a:bodyPr/>
                    <a:lstStyle/>
                    <a:p>
                      <a:r>
                        <a:rPr sz="1650" b="0">
                          <a:solidFill>
                            <a:srgbClr val="102A36"/>
                          </a:solidFill>
                          <a:latin typeface="DejaVu Sans"/>
                          <a:ea typeface="DejaVu Sans"/>
                          <a:cs typeface="DejaVu Sans"/>
                        </a:rPr>
                        <a:t>History store</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Keep PID, start time and previous parent</a:t>
                      </a:r>
                    </a:p>
                  </a:txBody>
                  <a:tcPr marL="91440" marR="91440" marT="45720" marB="45720">
                    <a:lnR w="9525">
                      <a:solidFill>
                        <a:srgbClr val="D3DEDD"/>
                      </a:solidFill>
                      <a:prstDash val="solid"/>
                    </a:lnR>
                    <a:lnB w="9525">
                      <a:solidFill>
                        <a:srgbClr val="D3DEDD"/>
                      </a:solidFill>
                      <a:prstDash val="solid"/>
                    </a:lnB>
                    <a:solidFill>
                      <a:srgbClr val="E8EFED"/>
                    </a:solidFill>
                  </a:tcPr>
                </a:tc>
              </a:tr>
              <a:tr h="611188">
                <a:tc>
                  <a:txBody>
                    <a:bodyPr/>
                    <a:lstStyle/>
                    <a:p>
                      <a:r>
                        <a:rPr sz="1650" b="0">
                          <a:solidFill>
                            <a:srgbClr val="102A36"/>
                          </a:solidFill>
                          <a:latin typeface="DejaVu Sans"/>
                          <a:ea typeface="DejaVu Sans"/>
                          <a:cs typeface="DejaVu Sans"/>
                        </a:rPr>
                        <a:t>Detection engine</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Classify zombies and parent-change events</a:t>
                      </a:r>
                    </a:p>
                  </a:txBody>
                  <a:tcPr marL="91440" marR="91440" marT="45720" marB="45720">
                    <a:lnR w="9525">
                      <a:solidFill>
                        <a:srgbClr val="D3DEDD"/>
                      </a:solidFill>
                      <a:prstDash val="solid"/>
                    </a:lnR>
                    <a:lnB w="9525">
                      <a:solidFill>
                        <a:srgbClr val="D3DEDD"/>
                      </a:solidFill>
                      <a:prstDash val="solid"/>
                    </a:lnB>
                    <a:solidFill>
                      <a:srgbClr val="FFFFFF"/>
                    </a:solidFill>
                  </a:tcPr>
                </a:tc>
              </a:tr>
              <a:tr h="611188">
                <a:tc>
                  <a:txBody>
                    <a:bodyPr/>
                    <a:lstStyle/>
                    <a:p>
                      <a:r>
                        <a:rPr sz="1650" b="0">
                          <a:solidFill>
                            <a:srgbClr val="102A36"/>
                          </a:solidFill>
                          <a:latin typeface="DejaVu Sans"/>
                          <a:ea typeface="DejaVu Sans"/>
                          <a:cs typeface="DejaVu Sans"/>
                        </a:rPr>
                        <a:t>Relationship builder</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Group children under their current parents</a:t>
                      </a:r>
                    </a:p>
                  </a:txBody>
                  <a:tcPr marL="91440" marR="91440" marT="45720" marB="45720">
                    <a:lnR w="9525">
                      <a:solidFill>
                        <a:srgbClr val="D3DEDD"/>
                      </a:solidFill>
                      <a:prstDash val="solid"/>
                    </a:lnR>
                    <a:lnB w="9525">
                      <a:solidFill>
                        <a:srgbClr val="D3DEDD"/>
                      </a:solidFill>
                      <a:prstDash val="solid"/>
                    </a:lnB>
                    <a:solidFill>
                      <a:srgbClr val="E8EFED"/>
                    </a:solidFill>
                  </a:tcPr>
                </a:tc>
              </a:tr>
              <a:tr h="611188">
                <a:tc>
                  <a:txBody>
                    <a:bodyPr/>
                    <a:lstStyle/>
                    <a:p>
                      <a:r>
                        <a:rPr sz="1650" b="0">
                          <a:solidFill>
                            <a:srgbClr val="102A36"/>
                          </a:solidFill>
                          <a:latin typeface="DejaVu Sans"/>
                          <a:ea typeface="DejaVu Sans"/>
                          <a:cs typeface="DejaVu Sans"/>
                        </a:rPr>
                        <a:t>Tkinter interface</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Display the tree, filters and export action</a:t>
                      </a:r>
                    </a:p>
                  </a:txBody>
                  <a:tcPr marL="91440" marR="91440" marT="45720" marB="45720">
                    <a:lnR w="9525">
                      <a:solidFill>
                        <a:srgbClr val="D3DEDD"/>
                      </a:solidFill>
                      <a:prstDash val="solid"/>
                    </a:lnR>
                    <a:lnB w="9525">
                      <a:solidFill>
                        <a:srgbClr val="D3DEDD"/>
                      </a:solidFill>
                      <a:prstDash val="solid"/>
                    </a:lnB>
                    <a:solidFill>
                      <a:srgbClr val="FFFFFF"/>
                    </a:solidFill>
                  </a:tcPr>
                </a:tc>
              </a:tr>
            </a:tbl>
          </a:graphicData>
        </a:graphic>
      </p:graphicFrame>
      <p:pic xmlns:a="http://schemas.openxmlformats.org/drawingml/2006/main" xmlns:r="http://schemas.openxmlformats.org/officeDocument/2006/relationships">
        <p:nvPicPr>
          <p:cNvPr id="6" name="Picture 5" descr="image.png"/>
          <p:cNvPicPr>
            <a:picLocks noChangeAspect="1"/>
          </p:cNvPicPr>
          <p:nvPr/>
        </p:nvPicPr>
        <p:blipFill>
          <a:blip r:embed="rId3"/>
          <a:stretch>
            <a:fillRect/>
          </a:stretch>
        </p:blipFill>
        <p:spPr>
          <a:xfrm>
            <a:off x="137160" y="91440"/>
            <a:ext cx="960120" cy="526398"/>
          </a:xfrm>
          <a:prstGeom prst="rect">
            <a:avLst/>
          </a:prstGeom>
        </p:spPr>
      </p:pic>
    </p:spTree>
    <p:extLst>
      <p:ext uri="{BB962C8B-B14F-4D97-AF65-F5344CB8AC3E}">
        <p14:creationId xmlns:p14="http://schemas.microsoft.com/office/powerpoint/2010/main" val="607473862"/>
      </p:ext>
    </p:extLst>
  </p:cSld>
</p:sld>
</file>

<file path=ppt/slides/slide6.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E2288C-310D-418A-8856-7C639074750F}"/>
              </a:ext>
            </a:extLst>
          </p:cNvPr>
          <p:cNvSpPr>
            <a:spLocks xmlns:a="http://schemas.openxmlformats.org/drawingml/2006/main" noGrp="1"/>
          </p:cNvSpPr>
          <p:nvPr/>
        </p:nvSpPr>
        <p:spPr>
          <a:xfrm xmlns:a="http://schemas.openxmlformats.org/drawingml/2006/main">
            <a:off x="609600" y="514350"/>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02A36"/>
                </a:solidFill>
                <a:latin typeface="DejaVu Sans"/>
                <a:ea typeface="DejaVu Sans"/>
                <a:cs typeface="DejaVu Sans"/>
              </a:defRPr>
            </a:defPPr>
            <a:lvl1pPr>
              <a:buNone/>
              <a:defRPr sz="3225" b="1">
                <a:solidFill>
                  <a:srgbClr val="102A36"/>
                </a:solidFill>
                <a:latin typeface="DejaVu Sans"/>
                <a:ea typeface="DejaVu Sans"/>
                <a:cs typeface="DejaVu Sans"/>
              </a:defRPr>
            </a:lvl1pPr>
            <a:lvl2pPr>
              <a:buNone/>
              <a:defRPr sz="3225" b="1">
                <a:solidFill>
                  <a:srgbClr val="102A36"/>
                </a:solidFill>
                <a:latin typeface="DejaVu Sans"/>
                <a:ea typeface="DejaVu Sans"/>
                <a:cs typeface="DejaVu Sans"/>
              </a:defRPr>
            </a:lvl2pPr>
            <a:lvl3pPr>
              <a:buNone/>
              <a:defRPr sz="3225" b="1">
                <a:solidFill>
                  <a:srgbClr val="102A36"/>
                </a:solidFill>
                <a:latin typeface="DejaVu Sans"/>
                <a:ea typeface="DejaVu Sans"/>
                <a:cs typeface="DejaVu Sans"/>
              </a:defRPr>
            </a:lvl3pPr>
            <a:lvl4pPr>
              <a:buNone/>
              <a:defRPr sz="3225" b="1">
                <a:solidFill>
                  <a:srgbClr val="102A36"/>
                </a:solidFill>
                <a:latin typeface="DejaVu Sans"/>
                <a:ea typeface="DejaVu Sans"/>
                <a:cs typeface="DejaVu Sans"/>
              </a:defRPr>
            </a:lvl4pPr>
            <a:lvl5pPr>
              <a:buNone/>
              <a:defRPr sz="3225" b="1">
                <a:solidFill>
                  <a:srgbClr val="102A36"/>
                </a:solidFill>
                <a:latin typeface="DejaVu Sans"/>
                <a:ea typeface="DejaVu Sans"/>
                <a:cs typeface="DejaVu Sans"/>
              </a:defRPr>
            </a:lvl5pPr>
            <a:lvl6pPr>
              <a:buNone/>
              <a:defRPr sz="3225" b="1">
                <a:solidFill>
                  <a:srgbClr val="102A36"/>
                </a:solidFill>
                <a:latin typeface="DejaVu Sans"/>
                <a:ea typeface="DejaVu Sans"/>
                <a:cs typeface="DejaVu Sans"/>
              </a:defRPr>
            </a:lvl6pPr>
            <a:lvl7pPr>
              <a:buNone/>
              <a:defRPr sz="3225" b="1">
                <a:solidFill>
                  <a:srgbClr val="102A36"/>
                </a:solidFill>
                <a:latin typeface="DejaVu Sans"/>
                <a:ea typeface="DejaVu Sans"/>
                <a:cs typeface="DejaVu Sans"/>
              </a:defRPr>
            </a:lvl7pPr>
            <a:lvl8pPr>
              <a:buNone/>
              <a:defRPr sz="3225" b="1">
                <a:solidFill>
                  <a:srgbClr val="102A36"/>
                </a:solidFill>
                <a:latin typeface="DejaVu Sans"/>
                <a:ea typeface="DejaVu Sans"/>
                <a:cs typeface="DejaVu Sans"/>
              </a:defRPr>
            </a:lvl8pPr>
            <a:lvl9pPr>
              <a:buNone/>
              <a:defRPr sz="3225" b="1">
                <a:solidFill>
                  <a:srgbClr val="102A36"/>
                </a:solidFill>
                <a:latin typeface="DejaVu Sans"/>
                <a:ea typeface="DejaVu Sans"/>
                <a:cs typeface="DejaVu Sans"/>
              </a:defRPr>
            </a:lvl9pPr>
          </a:lstStyle>
          <a:p xmlns:a="http://schemas.openxmlformats.org/drawingml/2006/main">
            <a:pPr>
              <a:buNone/>
              <a:defRPr sz="3225" b="1">
                <a:solidFill>
                  <a:srgbClr val="102A36"/>
                </a:solidFill>
                <a:latin typeface="DejaVu Sans"/>
                <a:ea typeface="DejaVu Sans"/>
                <a:cs typeface="DejaVu Sans"/>
              </a:defRPr>
            </a:pPr>
            <a:r>
              <a:rPr sz="3225" b="1">
                <a:solidFill>
                  <a:srgbClr val="102A36"/>
                </a:solidFill>
                <a:latin typeface="DejaVu Sans"/>
                <a:ea typeface="DejaVu Sans"/>
                <a:cs typeface="DejaVu Sans"/>
              </a:rPr>
              <a:t>Detection approach</a:t>
            </a:r>
          </a:p>
        </p:txBody>
      </p:sp>
      <p:sp>
        <p:nvSpPr>
          <p:cNvPr id="2" name="">
            <a:extLst xmlns:a="http://schemas.openxmlformats.org/drawingml/2006/main">
              <a:ext uri="{FF2B5EF4-FFF2-40B4-BE49-F238E27FC236}">
                <a16:creationId xmlns:a16="http://schemas.microsoft.com/office/drawing/2014/main" id="{E4AFB88E-81B5-4715-B2AF-668D3D2D0567}"/>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50616A"/>
                </a:solidFill>
                <a:latin typeface="DejaVu Sans"/>
                <a:ea typeface="DejaVu Sans"/>
                <a:cs typeface="DejaVu Sans"/>
              </a:defRPr>
            </a:defPPr>
            <a:lvl1pPr>
              <a:buNone/>
              <a:defRPr sz="1800" b="0">
                <a:solidFill>
                  <a:srgbClr val="50616A"/>
                </a:solidFill>
                <a:latin typeface="DejaVu Sans"/>
                <a:ea typeface="DejaVu Sans"/>
                <a:cs typeface="DejaVu Sans"/>
              </a:defRPr>
            </a:lvl1pPr>
            <a:lvl2pPr>
              <a:buNone/>
              <a:defRPr sz="1800" b="0">
                <a:solidFill>
                  <a:srgbClr val="50616A"/>
                </a:solidFill>
                <a:latin typeface="DejaVu Sans"/>
                <a:ea typeface="DejaVu Sans"/>
                <a:cs typeface="DejaVu Sans"/>
              </a:defRPr>
            </a:lvl2pPr>
            <a:lvl3pPr>
              <a:buNone/>
              <a:defRPr sz="1800" b="0">
                <a:solidFill>
                  <a:srgbClr val="50616A"/>
                </a:solidFill>
                <a:latin typeface="DejaVu Sans"/>
                <a:ea typeface="DejaVu Sans"/>
                <a:cs typeface="DejaVu Sans"/>
              </a:defRPr>
            </a:lvl3pPr>
            <a:lvl4pPr>
              <a:buNone/>
              <a:defRPr sz="1800" b="0">
                <a:solidFill>
                  <a:srgbClr val="50616A"/>
                </a:solidFill>
                <a:latin typeface="DejaVu Sans"/>
                <a:ea typeface="DejaVu Sans"/>
                <a:cs typeface="DejaVu Sans"/>
              </a:defRPr>
            </a:lvl4pPr>
            <a:lvl5pPr>
              <a:buNone/>
              <a:defRPr sz="1800" b="0">
                <a:solidFill>
                  <a:srgbClr val="50616A"/>
                </a:solidFill>
                <a:latin typeface="DejaVu Sans"/>
                <a:ea typeface="DejaVu Sans"/>
                <a:cs typeface="DejaVu Sans"/>
              </a:defRPr>
            </a:lvl5pPr>
            <a:lvl6pPr>
              <a:buNone/>
              <a:defRPr sz="1800" b="0">
                <a:solidFill>
                  <a:srgbClr val="50616A"/>
                </a:solidFill>
                <a:latin typeface="DejaVu Sans"/>
                <a:ea typeface="DejaVu Sans"/>
                <a:cs typeface="DejaVu Sans"/>
              </a:defRPr>
            </a:lvl6pPr>
            <a:lvl7pPr>
              <a:buNone/>
              <a:defRPr sz="1800" b="0">
                <a:solidFill>
                  <a:srgbClr val="50616A"/>
                </a:solidFill>
                <a:latin typeface="DejaVu Sans"/>
                <a:ea typeface="DejaVu Sans"/>
                <a:cs typeface="DejaVu Sans"/>
              </a:defRPr>
            </a:lvl7pPr>
            <a:lvl8pPr>
              <a:buNone/>
              <a:defRPr sz="1800" b="0">
                <a:solidFill>
                  <a:srgbClr val="50616A"/>
                </a:solidFill>
                <a:latin typeface="DejaVu Sans"/>
                <a:ea typeface="DejaVu Sans"/>
                <a:cs typeface="DejaVu Sans"/>
              </a:defRPr>
            </a:lvl8pPr>
            <a:lvl9pPr>
              <a:buNone/>
              <a:defRPr sz="1800" b="0">
                <a:solidFill>
                  <a:srgbClr val="50616A"/>
                </a:solidFill>
                <a:latin typeface="DejaVu Sans"/>
                <a:ea typeface="DejaVu Sans"/>
                <a:cs typeface="DejaVu Sans"/>
              </a:defRPr>
            </a:lvl9pPr>
          </a:lstStyle>
          <a:p xmlns:a="http://schemas.openxmlformats.org/drawingml/2006/main">
            <a:pPr>
              <a:buNone/>
              <a:defRPr sz="1800" b="0">
                <a:solidFill>
                  <a:srgbClr val="50616A"/>
                </a:solidFill>
                <a:latin typeface="DejaVu Sans"/>
                <a:ea typeface="DejaVu Sans"/>
                <a:cs typeface="DejaVu Sans"/>
              </a:defRPr>
            </a:pPr>
            <a:r>
              <a:rPr sz="1800" b="0">
                <a:solidFill>
                  <a:srgbClr val="50616A"/>
                </a:solidFill>
                <a:latin typeface="DejaVu Sans"/>
                <a:ea typeface="DejaVu Sans"/>
                <a:cs typeface="DejaVu Sans"/>
              </a:rPr>
              <a:t>The monitor compares consecutive snapshots.</a:t>
            </a:r>
          </a:p>
        </p:txBody>
      </p:sp>
      <p:sp>
        <p:nvSpPr>
          <p:cNvPr id="3" name="">
            <a:extLst xmlns:a="http://schemas.openxmlformats.org/drawingml/2006/main">
              <a:ext uri="{FF2B5EF4-FFF2-40B4-BE49-F238E27FC236}">
                <a16:creationId xmlns:a16="http://schemas.microsoft.com/office/drawing/2014/main" id="{66EC7DCD-F139-4115-9966-502F31F177FA}"/>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0616A"/>
                </a:solidFill>
                <a:latin typeface="DejaVu Sans"/>
                <a:ea typeface="DejaVu Sans"/>
                <a:cs typeface="DejaVu Sans"/>
              </a:defRPr>
            </a:defPPr>
            <a:lvl1pPr>
              <a:buNone/>
              <a:defRPr sz="1350" b="0">
                <a:solidFill>
                  <a:srgbClr val="50616A"/>
                </a:solidFill>
                <a:latin typeface="DejaVu Sans"/>
                <a:ea typeface="DejaVu Sans"/>
                <a:cs typeface="DejaVu Sans"/>
              </a:defRPr>
            </a:lvl1pPr>
            <a:lvl2pPr>
              <a:buNone/>
              <a:defRPr sz="1350" b="0">
                <a:solidFill>
                  <a:srgbClr val="50616A"/>
                </a:solidFill>
                <a:latin typeface="DejaVu Sans"/>
                <a:ea typeface="DejaVu Sans"/>
                <a:cs typeface="DejaVu Sans"/>
              </a:defRPr>
            </a:lvl2pPr>
            <a:lvl3pPr>
              <a:buNone/>
              <a:defRPr sz="1350" b="0">
                <a:solidFill>
                  <a:srgbClr val="50616A"/>
                </a:solidFill>
                <a:latin typeface="DejaVu Sans"/>
                <a:ea typeface="DejaVu Sans"/>
                <a:cs typeface="DejaVu Sans"/>
              </a:defRPr>
            </a:lvl3pPr>
            <a:lvl4pPr>
              <a:buNone/>
              <a:defRPr sz="1350" b="0">
                <a:solidFill>
                  <a:srgbClr val="50616A"/>
                </a:solidFill>
                <a:latin typeface="DejaVu Sans"/>
                <a:ea typeface="DejaVu Sans"/>
                <a:cs typeface="DejaVu Sans"/>
              </a:defRPr>
            </a:lvl4pPr>
            <a:lvl5pPr>
              <a:buNone/>
              <a:defRPr sz="1350" b="0">
                <a:solidFill>
                  <a:srgbClr val="50616A"/>
                </a:solidFill>
                <a:latin typeface="DejaVu Sans"/>
                <a:ea typeface="DejaVu Sans"/>
                <a:cs typeface="DejaVu Sans"/>
              </a:defRPr>
            </a:lvl5pPr>
            <a:lvl6pPr>
              <a:buNone/>
              <a:defRPr sz="1350" b="0">
                <a:solidFill>
                  <a:srgbClr val="50616A"/>
                </a:solidFill>
                <a:latin typeface="DejaVu Sans"/>
                <a:ea typeface="DejaVu Sans"/>
                <a:cs typeface="DejaVu Sans"/>
              </a:defRPr>
            </a:lvl6pPr>
            <a:lvl7pPr>
              <a:buNone/>
              <a:defRPr sz="1350" b="0">
                <a:solidFill>
                  <a:srgbClr val="50616A"/>
                </a:solidFill>
                <a:latin typeface="DejaVu Sans"/>
                <a:ea typeface="DejaVu Sans"/>
                <a:cs typeface="DejaVu Sans"/>
              </a:defRPr>
            </a:lvl7pPr>
            <a:lvl8pPr>
              <a:buNone/>
              <a:defRPr sz="1350" b="0">
                <a:solidFill>
                  <a:srgbClr val="50616A"/>
                </a:solidFill>
                <a:latin typeface="DejaVu Sans"/>
                <a:ea typeface="DejaVu Sans"/>
                <a:cs typeface="DejaVu Sans"/>
              </a:defRPr>
            </a:lvl8pPr>
            <a:lvl9pPr>
              <a:buNone/>
              <a:defRPr sz="1350" b="0">
                <a:solidFill>
                  <a:srgbClr val="50616A"/>
                </a:solidFill>
                <a:latin typeface="DejaVu Sans"/>
                <a:ea typeface="DejaVu Sans"/>
                <a:cs typeface="DejaVu Sans"/>
              </a:defRPr>
            </a:lvl9pPr>
          </a:lstStyle>
          <a:p xmlns:a="http://schemas.openxmlformats.org/drawingml/2006/main">
            <a:pPr>
              <a:buNone/>
              <a:defRPr sz="1350" b="0">
                <a:solidFill>
                  <a:srgbClr val="50616A"/>
                </a:solidFill>
                <a:latin typeface="DejaVu Sans"/>
                <a:ea typeface="DejaVu Sans"/>
                <a:cs typeface="DejaVu Sans"/>
              </a:defRPr>
            </a:pPr>
            <a:r>
              <a:rPr sz="1350" b="0">
                <a:solidFill>
                  <a:srgbClr val="50616A"/>
                </a:solidFill>
                <a:latin typeface="DejaVu Sans"/>
                <a:ea typeface="DejaVu Sans"/>
                <a:cs typeface="DejaVu Sans"/>
              </a:rPr>
              <a:t>06</a:t>
            </a:r>
          </a:p>
        </p:txBody>
      </p:sp>
      <p:sp>
        <p:nvSpPr>
          <p:cNvPr id="4" name="">
            <a:extLst xmlns:a="http://schemas.openxmlformats.org/drawingml/2006/main">
              <a:ext uri="{FF2B5EF4-FFF2-40B4-BE49-F238E27FC236}">
                <a16:creationId xmlns:a16="http://schemas.microsoft.com/office/drawing/2014/main" id="{CEBAAE6A-0F07-41AA-8478-E4B2FD04E613}"/>
              </a:ext>
            </a:extLst>
          </p:cNvPr>
          <p:cNvSpPr>
            <a:spLocks xmlns:a="http://schemas.openxmlformats.org/drawingml/2006/main" noGrp="1"/>
          </p:cNvSpPr>
          <p:nvPr/>
        </p:nvSpPr>
        <p:spPr>
          <a:xfrm xmlns:a="http://schemas.openxmlformats.org/drawingml/2006/main">
            <a:off x="609600" y="21907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0F645F3F-6D9F-42CC-95B1-5B586C712D9D}"/>
              </a:ext>
            </a:extLst>
          </p:cNvPr>
          <p:cNvSpPr>
            <a:spLocks xmlns:a="http://schemas.openxmlformats.org/drawingml/2006/main" noGrp="1"/>
          </p:cNvSpPr>
          <p:nvPr/>
        </p:nvSpPr>
        <p:spPr>
          <a:xfrm xmlns:a="http://schemas.openxmlformats.org/drawingml/2006/main">
            <a:off x="1524000" y="219075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Read PID, PPID, name, status and process start time.</a:t>
            </a:r>
          </a:p>
        </p:txBody>
      </p:sp>
      <p:sp>
        <p:nvSpPr>
          <p:cNvPr id="6" name="">
            <a:extLst xmlns:a="http://schemas.openxmlformats.org/drawingml/2006/main">
              <a:ext uri="{FF2B5EF4-FFF2-40B4-BE49-F238E27FC236}">
                <a16:creationId xmlns:a16="http://schemas.microsoft.com/office/drawing/2014/main" id="{4E8823C7-6C7C-450C-B906-49C614CD2B4C}"/>
              </a:ext>
            </a:extLst>
          </p:cNvPr>
          <p:cNvSpPr>
            <a:spLocks xmlns:a="http://schemas.openxmlformats.org/drawingml/2006/main" noGrp="1"/>
          </p:cNvSpPr>
          <p:nvPr/>
        </p:nvSpPr>
        <p:spPr>
          <a:xfrm xmlns:a="http://schemas.openxmlformats.org/drawingml/2006/main">
            <a:off x="609600" y="3057525"/>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02</a:t>
            </a:r>
          </a:p>
        </p:txBody>
      </p:sp>
      <p:sp>
        <p:nvSpPr>
          <p:cNvPr id="7" name="">
            <a:extLst xmlns:a="http://schemas.openxmlformats.org/drawingml/2006/main">
              <a:ext uri="{FF2B5EF4-FFF2-40B4-BE49-F238E27FC236}">
                <a16:creationId xmlns:a16="http://schemas.microsoft.com/office/drawing/2014/main" id="{7DBE7197-D826-4468-89E3-E2AD92863894}"/>
              </a:ext>
            </a:extLst>
          </p:cNvPr>
          <p:cNvSpPr>
            <a:spLocks xmlns:a="http://schemas.openxmlformats.org/drawingml/2006/main" noGrp="1"/>
          </p:cNvSpPr>
          <p:nvPr/>
        </p:nvSpPr>
        <p:spPr>
          <a:xfrm xmlns:a="http://schemas.openxmlformats.org/drawingml/2006/main">
            <a:off x="1524000" y="3057525"/>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Flag a zombie when status equals STATUS_ZOMBIE.</a:t>
            </a:r>
          </a:p>
        </p:txBody>
      </p:sp>
      <p:sp>
        <p:nvSpPr>
          <p:cNvPr id="8" name="">
            <a:extLst xmlns:a="http://schemas.openxmlformats.org/drawingml/2006/main">
              <a:ext uri="{FF2B5EF4-FFF2-40B4-BE49-F238E27FC236}">
                <a16:creationId xmlns:a16="http://schemas.microsoft.com/office/drawing/2014/main" id="{D04A604E-32EB-480B-9E8B-4673AB64FB2C}"/>
              </a:ext>
            </a:extLst>
          </p:cNvPr>
          <p:cNvSpPr>
            <a:spLocks xmlns:a="http://schemas.openxmlformats.org/drawingml/2006/main" noGrp="1"/>
          </p:cNvSpPr>
          <p:nvPr/>
        </p:nvSpPr>
        <p:spPr>
          <a:xfrm xmlns:a="http://schemas.openxmlformats.org/drawingml/2006/main">
            <a:off x="609600" y="39243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03</a:t>
            </a:r>
          </a:p>
        </p:txBody>
      </p:sp>
      <p:sp>
        <p:nvSpPr>
          <p:cNvPr id="9" name="">
            <a:extLst xmlns:a="http://schemas.openxmlformats.org/drawingml/2006/main">
              <a:ext uri="{FF2B5EF4-FFF2-40B4-BE49-F238E27FC236}">
                <a16:creationId xmlns:a16="http://schemas.microsoft.com/office/drawing/2014/main" id="{71ADE6FF-C48D-4FF4-9C6D-E548225A5B2F}"/>
              </a:ext>
            </a:extLst>
          </p:cNvPr>
          <p:cNvSpPr>
            <a:spLocks xmlns:a="http://schemas.openxmlformats.org/drawingml/2006/main" noGrp="1"/>
          </p:cNvSpPr>
          <p:nvPr/>
        </p:nvSpPr>
        <p:spPr>
          <a:xfrm xmlns:a="http://schemas.openxmlformats.org/drawingml/2006/main">
            <a:off x="1524000" y="392430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Track the same process using PID and start time.</a:t>
            </a:r>
          </a:p>
        </p:txBody>
      </p:sp>
      <p:sp>
        <p:nvSpPr>
          <p:cNvPr id="10" name="">
            <a:extLst xmlns:a="http://schemas.openxmlformats.org/drawingml/2006/main">
              <a:ext uri="{FF2B5EF4-FFF2-40B4-BE49-F238E27FC236}">
                <a16:creationId xmlns:a16="http://schemas.microsoft.com/office/drawing/2014/main" id="{359FFFEF-D096-4D67-AA20-2BE5B8295619}"/>
              </a:ext>
            </a:extLst>
          </p:cNvPr>
          <p:cNvSpPr>
            <a:spLocks xmlns:a="http://schemas.openxmlformats.org/drawingml/2006/main" noGrp="1"/>
          </p:cNvSpPr>
          <p:nvPr/>
        </p:nvSpPr>
        <p:spPr>
          <a:xfrm xmlns:a="http://schemas.openxmlformats.org/drawingml/2006/main">
            <a:off x="609600" y="4791075"/>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04</a:t>
            </a:r>
          </a:p>
        </p:txBody>
      </p:sp>
      <p:sp>
        <p:nvSpPr>
          <p:cNvPr id="11" name="">
            <a:extLst xmlns:a="http://schemas.openxmlformats.org/drawingml/2006/main">
              <a:ext uri="{FF2B5EF4-FFF2-40B4-BE49-F238E27FC236}">
                <a16:creationId xmlns:a16="http://schemas.microsoft.com/office/drawing/2014/main" id="{FEF6EB35-5716-4F80-A3F3-7447A15EED82}"/>
              </a:ext>
            </a:extLst>
          </p:cNvPr>
          <p:cNvSpPr>
            <a:spLocks xmlns:a="http://schemas.openxmlformats.org/drawingml/2006/main" noGrp="1"/>
          </p:cNvSpPr>
          <p:nvPr/>
        </p:nvSpPr>
        <p:spPr>
          <a:xfrm xmlns:a="http://schemas.openxmlformats.org/drawingml/2006/main">
            <a:off x="1524000" y="4791075"/>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Flag a possible orphan event after a parent change.</a:t>
            </a:r>
          </a:p>
        </p:txBody>
      </p:sp>
      <p:pic xmlns:a="http://schemas.openxmlformats.org/drawingml/2006/main" xmlns:r="http://schemas.openxmlformats.org/officeDocument/2006/relationships">
        <p:nvPicPr>
          <p:cNvPr id="13" name="Picture 12" descr="image.png"/>
          <p:cNvPicPr>
            <a:picLocks noChangeAspect="1"/>
          </p:cNvPicPr>
          <p:nvPr/>
        </p:nvPicPr>
        <p:blipFill>
          <a:blip r:embed="rId3"/>
          <a:stretch>
            <a:fillRect/>
          </a:stretch>
        </p:blipFill>
        <p:spPr>
          <a:xfrm>
            <a:off x="137160" y="91440"/>
            <a:ext cx="960120" cy="526398"/>
          </a:xfrm>
          <a:prstGeom prst="rect">
            <a:avLst/>
          </a:prstGeom>
        </p:spPr>
      </p:pic>
    </p:spTree>
    <p:extLst>
      <p:ext uri="{BB962C8B-B14F-4D97-AF65-F5344CB8AC3E}">
        <p14:creationId xmlns:p14="http://schemas.microsoft.com/office/powerpoint/2010/main" val="600093972"/>
      </p:ext>
    </p:extLst>
  </p:cSld>
</p:sld>
</file>

<file path=ppt/slides/slide7.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0BDCA6-EC1C-4A77-9591-E8826664B23D}"/>
              </a:ext>
            </a:extLst>
          </p:cNvPr>
          <p:cNvSpPr>
            <a:spLocks xmlns:a="http://schemas.openxmlformats.org/drawingml/2006/main" noGrp="1"/>
          </p:cNvSpPr>
          <p:nvPr/>
        </p:nvSpPr>
        <p:spPr>
          <a:xfrm xmlns:a="http://schemas.openxmlformats.org/drawingml/2006/main">
            <a:off x="609600" y="514350"/>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02A36"/>
                </a:solidFill>
                <a:latin typeface="DejaVu Sans"/>
                <a:ea typeface="DejaVu Sans"/>
                <a:cs typeface="DejaVu Sans"/>
              </a:defRPr>
            </a:defPPr>
            <a:lvl1pPr>
              <a:buNone/>
              <a:defRPr sz="3225" b="1">
                <a:solidFill>
                  <a:srgbClr val="102A36"/>
                </a:solidFill>
                <a:latin typeface="DejaVu Sans"/>
                <a:ea typeface="DejaVu Sans"/>
                <a:cs typeface="DejaVu Sans"/>
              </a:defRPr>
            </a:lvl1pPr>
            <a:lvl2pPr>
              <a:buNone/>
              <a:defRPr sz="3225" b="1">
                <a:solidFill>
                  <a:srgbClr val="102A36"/>
                </a:solidFill>
                <a:latin typeface="DejaVu Sans"/>
                <a:ea typeface="DejaVu Sans"/>
                <a:cs typeface="DejaVu Sans"/>
              </a:defRPr>
            </a:lvl2pPr>
            <a:lvl3pPr>
              <a:buNone/>
              <a:defRPr sz="3225" b="1">
                <a:solidFill>
                  <a:srgbClr val="102A36"/>
                </a:solidFill>
                <a:latin typeface="DejaVu Sans"/>
                <a:ea typeface="DejaVu Sans"/>
                <a:cs typeface="DejaVu Sans"/>
              </a:defRPr>
            </a:lvl3pPr>
            <a:lvl4pPr>
              <a:buNone/>
              <a:defRPr sz="3225" b="1">
                <a:solidFill>
                  <a:srgbClr val="102A36"/>
                </a:solidFill>
                <a:latin typeface="DejaVu Sans"/>
                <a:ea typeface="DejaVu Sans"/>
                <a:cs typeface="DejaVu Sans"/>
              </a:defRPr>
            </a:lvl4pPr>
            <a:lvl5pPr>
              <a:buNone/>
              <a:defRPr sz="3225" b="1">
                <a:solidFill>
                  <a:srgbClr val="102A36"/>
                </a:solidFill>
                <a:latin typeface="DejaVu Sans"/>
                <a:ea typeface="DejaVu Sans"/>
                <a:cs typeface="DejaVu Sans"/>
              </a:defRPr>
            </a:lvl5pPr>
            <a:lvl6pPr>
              <a:buNone/>
              <a:defRPr sz="3225" b="1">
                <a:solidFill>
                  <a:srgbClr val="102A36"/>
                </a:solidFill>
                <a:latin typeface="DejaVu Sans"/>
                <a:ea typeface="DejaVu Sans"/>
                <a:cs typeface="DejaVu Sans"/>
              </a:defRPr>
            </a:lvl6pPr>
            <a:lvl7pPr>
              <a:buNone/>
              <a:defRPr sz="3225" b="1">
                <a:solidFill>
                  <a:srgbClr val="102A36"/>
                </a:solidFill>
                <a:latin typeface="DejaVu Sans"/>
                <a:ea typeface="DejaVu Sans"/>
                <a:cs typeface="DejaVu Sans"/>
              </a:defRPr>
            </a:lvl7pPr>
            <a:lvl8pPr>
              <a:buNone/>
              <a:defRPr sz="3225" b="1">
                <a:solidFill>
                  <a:srgbClr val="102A36"/>
                </a:solidFill>
                <a:latin typeface="DejaVu Sans"/>
                <a:ea typeface="DejaVu Sans"/>
                <a:cs typeface="DejaVu Sans"/>
              </a:defRPr>
            </a:lvl8pPr>
            <a:lvl9pPr>
              <a:buNone/>
              <a:defRPr sz="3225" b="1">
                <a:solidFill>
                  <a:srgbClr val="102A36"/>
                </a:solidFill>
                <a:latin typeface="DejaVu Sans"/>
                <a:ea typeface="DejaVu Sans"/>
                <a:cs typeface="DejaVu Sans"/>
              </a:defRPr>
            </a:lvl9pPr>
          </a:lstStyle>
          <a:p xmlns:a="http://schemas.openxmlformats.org/drawingml/2006/main">
            <a:pPr>
              <a:buNone/>
              <a:defRPr sz="3225" b="1">
                <a:solidFill>
                  <a:srgbClr val="102A36"/>
                </a:solidFill>
                <a:latin typeface="DejaVu Sans"/>
                <a:ea typeface="DejaVu Sans"/>
                <a:cs typeface="DejaVu Sans"/>
              </a:defRPr>
            </a:pPr>
            <a:r>
              <a:rPr sz="3225" b="1">
                <a:solidFill>
                  <a:srgbClr val="102A36"/>
                </a:solidFill>
                <a:latin typeface="DejaVu Sans"/>
                <a:ea typeface="DejaVu Sans"/>
                <a:cs typeface="DejaVu Sans"/>
              </a:rPr>
              <a:t>Orphan detection limits</a:t>
            </a:r>
          </a:p>
        </p:txBody>
      </p:sp>
      <p:sp>
        <p:nvSpPr>
          <p:cNvPr id="2" name="">
            <a:extLst xmlns:a="http://schemas.openxmlformats.org/drawingml/2006/main">
              <a:ext uri="{FF2B5EF4-FFF2-40B4-BE49-F238E27FC236}">
                <a16:creationId xmlns:a16="http://schemas.microsoft.com/office/drawing/2014/main" id="{0C8EB522-4F01-4AAA-BB43-ACAFD1A66D76}"/>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50616A"/>
                </a:solidFill>
                <a:latin typeface="DejaVu Sans"/>
                <a:ea typeface="DejaVu Sans"/>
                <a:cs typeface="DejaVu Sans"/>
              </a:defRPr>
            </a:defPPr>
            <a:lvl1pPr>
              <a:buNone/>
              <a:defRPr sz="1800" b="0">
                <a:solidFill>
                  <a:srgbClr val="50616A"/>
                </a:solidFill>
                <a:latin typeface="DejaVu Sans"/>
                <a:ea typeface="DejaVu Sans"/>
                <a:cs typeface="DejaVu Sans"/>
              </a:defRPr>
            </a:lvl1pPr>
            <a:lvl2pPr>
              <a:buNone/>
              <a:defRPr sz="1800" b="0">
                <a:solidFill>
                  <a:srgbClr val="50616A"/>
                </a:solidFill>
                <a:latin typeface="DejaVu Sans"/>
                <a:ea typeface="DejaVu Sans"/>
                <a:cs typeface="DejaVu Sans"/>
              </a:defRPr>
            </a:lvl2pPr>
            <a:lvl3pPr>
              <a:buNone/>
              <a:defRPr sz="1800" b="0">
                <a:solidFill>
                  <a:srgbClr val="50616A"/>
                </a:solidFill>
                <a:latin typeface="DejaVu Sans"/>
                <a:ea typeface="DejaVu Sans"/>
                <a:cs typeface="DejaVu Sans"/>
              </a:defRPr>
            </a:lvl3pPr>
            <a:lvl4pPr>
              <a:buNone/>
              <a:defRPr sz="1800" b="0">
                <a:solidFill>
                  <a:srgbClr val="50616A"/>
                </a:solidFill>
                <a:latin typeface="DejaVu Sans"/>
                <a:ea typeface="DejaVu Sans"/>
                <a:cs typeface="DejaVu Sans"/>
              </a:defRPr>
            </a:lvl4pPr>
            <a:lvl5pPr>
              <a:buNone/>
              <a:defRPr sz="1800" b="0">
                <a:solidFill>
                  <a:srgbClr val="50616A"/>
                </a:solidFill>
                <a:latin typeface="DejaVu Sans"/>
                <a:ea typeface="DejaVu Sans"/>
                <a:cs typeface="DejaVu Sans"/>
              </a:defRPr>
            </a:lvl5pPr>
            <a:lvl6pPr>
              <a:buNone/>
              <a:defRPr sz="1800" b="0">
                <a:solidFill>
                  <a:srgbClr val="50616A"/>
                </a:solidFill>
                <a:latin typeface="DejaVu Sans"/>
                <a:ea typeface="DejaVu Sans"/>
                <a:cs typeface="DejaVu Sans"/>
              </a:defRPr>
            </a:lvl6pPr>
            <a:lvl7pPr>
              <a:buNone/>
              <a:defRPr sz="1800" b="0">
                <a:solidFill>
                  <a:srgbClr val="50616A"/>
                </a:solidFill>
                <a:latin typeface="DejaVu Sans"/>
                <a:ea typeface="DejaVu Sans"/>
                <a:cs typeface="DejaVu Sans"/>
              </a:defRPr>
            </a:lvl7pPr>
            <a:lvl8pPr>
              <a:buNone/>
              <a:defRPr sz="1800" b="0">
                <a:solidFill>
                  <a:srgbClr val="50616A"/>
                </a:solidFill>
                <a:latin typeface="DejaVu Sans"/>
                <a:ea typeface="DejaVu Sans"/>
                <a:cs typeface="DejaVu Sans"/>
              </a:defRPr>
            </a:lvl8pPr>
            <a:lvl9pPr>
              <a:buNone/>
              <a:defRPr sz="1800" b="0">
                <a:solidFill>
                  <a:srgbClr val="50616A"/>
                </a:solidFill>
                <a:latin typeface="DejaVu Sans"/>
                <a:ea typeface="DejaVu Sans"/>
                <a:cs typeface="DejaVu Sans"/>
              </a:defRPr>
            </a:lvl9pPr>
          </a:lstStyle>
          <a:p xmlns:a="http://schemas.openxmlformats.org/drawingml/2006/main">
            <a:pPr>
              <a:buNone/>
              <a:defRPr sz="1800" b="0">
                <a:solidFill>
                  <a:srgbClr val="50616A"/>
                </a:solidFill>
                <a:latin typeface="DejaVu Sans"/>
                <a:ea typeface="DejaVu Sans"/>
                <a:cs typeface="DejaVu Sans"/>
              </a:defRPr>
            </a:pPr>
            <a:r>
              <a:rPr sz="1800" b="0">
                <a:solidFill>
                  <a:srgbClr val="50616A"/>
                </a:solidFill>
                <a:latin typeface="DejaVu Sans"/>
                <a:ea typeface="DejaVu Sans"/>
                <a:cs typeface="DejaVu Sans"/>
              </a:rPr>
              <a:t>A current PPID alone cannot establish the full process history.</a:t>
            </a:r>
          </a:p>
        </p:txBody>
      </p:sp>
      <p:sp>
        <p:nvSpPr>
          <p:cNvPr id="3" name="">
            <a:extLst xmlns:a="http://schemas.openxmlformats.org/drawingml/2006/main">
              <a:ext uri="{FF2B5EF4-FFF2-40B4-BE49-F238E27FC236}">
                <a16:creationId xmlns:a16="http://schemas.microsoft.com/office/drawing/2014/main" id="{B8264657-5CC5-4BCA-92B8-A93C3DAD7831}"/>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0616A"/>
                </a:solidFill>
                <a:latin typeface="DejaVu Sans"/>
                <a:ea typeface="DejaVu Sans"/>
                <a:cs typeface="DejaVu Sans"/>
              </a:defRPr>
            </a:defPPr>
            <a:lvl1pPr>
              <a:buNone/>
              <a:defRPr sz="1350" b="0">
                <a:solidFill>
                  <a:srgbClr val="50616A"/>
                </a:solidFill>
                <a:latin typeface="DejaVu Sans"/>
                <a:ea typeface="DejaVu Sans"/>
                <a:cs typeface="DejaVu Sans"/>
              </a:defRPr>
            </a:lvl1pPr>
            <a:lvl2pPr>
              <a:buNone/>
              <a:defRPr sz="1350" b="0">
                <a:solidFill>
                  <a:srgbClr val="50616A"/>
                </a:solidFill>
                <a:latin typeface="DejaVu Sans"/>
                <a:ea typeface="DejaVu Sans"/>
                <a:cs typeface="DejaVu Sans"/>
              </a:defRPr>
            </a:lvl2pPr>
            <a:lvl3pPr>
              <a:buNone/>
              <a:defRPr sz="1350" b="0">
                <a:solidFill>
                  <a:srgbClr val="50616A"/>
                </a:solidFill>
                <a:latin typeface="DejaVu Sans"/>
                <a:ea typeface="DejaVu Sans"/>
                <a:cs typeface="DejaVu Sans"/>
              </a:defRPr>
            </a:lvl3pPr>
            <a:lvl4pPr>
              <a:buNone/>
              <a:defRPr sz="1350" b="0">
                <a:solidFill>
                  <a:srgbClr val="50616A"/>
                </a:solidFill>
                <a:latin typeface="DejaVu Sans"/>
                <a:ea typeface="DejaVu Sans"/>
                <a:cs typeface="DejaVu Sans"/>
              </a:defRPr>
            </a:lvl4pPr>
            <a:lvl5pPr>
              <a:buNone/>
              <a:defRPr sz="1350" b="0">
                <a:solidFill>
                  <a:srgbClr val="50616A"/>
                </a:solidFill>
                <a:latin typeface="DejaVu Sans"/>
                <a:ea typeface="DejaVu Sans"/>
                <a:cs typeface="DejaVu Sans"/>
              </a:defRPr>
            </a:lvl5pPr>
            <a:lvl6pPr>
              <a:buNone/>
              <a:defRPr sz="1350" b="0">
                <a:solidFill>
                  <a:srgbClr val="50616A"/>
                </a:solidFill>
                <a:latin typeface="DejaVu Sans"/>
                <a:ea typeface="DejaVu Sans"/>
                <a:cs typeface="DejaVu Sans"/>
              </a:defRPr>
            </a:lvl6pPr>
            <a:lvl7pPr>
              <a:buNone/>
              <a:defRPr sz="1350" b="0">
                <a:solidFill>
                  <a:srgbClr val="50616A"/>
                </a:solidFill>
                <a:latin typeface="DejaVu Sans"/>
                <a:ea typeface="DejaVu Sans"/>
                <a:cs typeface="DejaVu Sans"/>
              </a:defRPr>
            </a:lvl7pPr>
            <a:lvl8pPr>
              <a:buNone/>
              <a:defRPr sz="1350" b="0">
                <a:solidFill>
                  <a:srgbClr val="50616A"/>
                </a:solidFill>
                <a:latin typeface="DejaVu Sans"/>
                <a:ea typeface="DejaVu Sans"/>
                <a:cs typeface="DejaVu Sans"/>
              </a:defRPr>
            </a:lvl8pPr>
            <a:lvl9pPr>
              <a:buNone/>
              <a:defRPr sz="1350" b="0">
                <a:solidFill>
                  <a:srgbClr val="50616A"/>
                </a:solidFill>
                <a:latin typeface="DejaVu Sans"/>
                <a:ea typeface="DejaVu Sans"/>
                <a:cs typeface="DejaVu Sans"/>
              </a:defRPr>
            </a:lvl9pPr>
          </a:lstStyle>
          <a:p xmlns:a="http://schemas.openxmlformats.org/drawingml/2006/main">
            <a:pPr>
              <a:buNone/>
              <a:defRPr sz="1350" b="0">
                <a:solidFill>
                  <a:srgbClr val="50616A"/>
                </a:solidFill>
                <a:latin typeface="DejaVu Sans"/>
                <a:ea typeface="DejaVu Sans"/>
                <a:cs typeface="DejaVu Sans"/>
              </a:defRPr>
            </a:pPr>
            <a:r>
              <a:rPr sz="1350" b="0">
                <a:solidFill>
                  <a:srgbClr val="50616A"/>
                </a:solidFill>
                <a:latin typeface="DejaVu Sans"/>
                <a:ea typeface="DejaVu Sans"/>
                <a:cs typeface="DejaVu Sans"/>
              </a:rPr>
              <a:t>07</a:t>
            </a:r>
          </a:p>
        </p:txBody>
      </p:sp>
      <p:graphicFrame>
        <p:nvGraphicFramePr>
          <p:cNvPr id="4" name="">
            <a:extLst xmlns:a="http://schemas.openxmlformats.org/drawingml/2006/main">
              <a:ext uri="{FF2B5EF4-FFF2-40B4-BE49-F238E27FC236}">
                <a16:creationId xmlns:a16="http://schemas.microsoft.com/office/drawing/2014/main" id="{B25AD251-C0A0-44D6-87CA-1BFAD8ACEBF3}"/>
              </a:ext>
            </a:extLst>
          </p:cNvPr>
          <p:cNvGraphicFramePr/>
          <p:nvPr/>
        </p:nvGraphicFramePr>
        <p:xfrm>
          <a:off xmlns:a="http://schemas.openxmlformats.org/drawingml/2006/main" x="609600" y="2190750"/>
          <a:ext xmlns:a="http://schemas.openxmlformats.org/drawingml/2006/main" cx="10972800" cy="3143250"/>
        </p:xfrm>
        <a:graphic xmlns:a="http://schemas.openxmlformats.org/drawingml/2006/main">
          <a:graphicData uri="http://schemas.openxmlformats.org/drawingml/2006/table">
            <a:tbl>
              <a:tblPr/>
              <a:tblGrid>
                <a:gridCol w="4572000"/>
                <a:gridCol w="6400800"/>
              </a:tblGrid>
              <a:tr h="628650">
                <a:tc>
                  <a:txBody>
                    <a:bodyPr/>
                    <a:lstStyle/>
                    <a:p>
                      <a:r>
                        <a:rPr sz="1725" b="1">
                          <a:solidFill>
                            <a:srgbClr val="FFFFFF"/>
                          </a:solidFill>
                          <a:latin typeface="DejaVu Sans"/>
                          <a:ea typeface="DejaVu Sans"/>
                          <a:cs typeface="DejaVu Sans"/>
                        </a:rPr>
                        <a:t>Observation</a:t>
                      </a:r>
                    </a:p>
                  </a:txBody>
                  <a:tcPr marL="91440" marR="91440" marT="45720" marB="45720">
                    <a:lnL w="9525">
                      <a:solidFill>
                        <a:srgbClr val="D3DEDD"/>
                      </a:solidFill>
                      <a:prstDash val="solid"/>
                    </a:lnL>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c>
                  <a:txBody>
                    <a:bodyPr/>
                    <a:lstStyle/>
                    <a:p>
                      <a:r>
                        <a:rPr sz="1725" b="1">
                          <a:solidFill>
                            <a:srgbClr val="FFFFFF"/>
                          </a:solidFill>
                          <a:latin typeface="DejaVu Sans"/>
                          <a:ea typeface="DejaVu Sans"/>
                          <a:cs typeface="DejaVu Sans"/>
                        </a:rPr>
                        <a:t>How the tool should report it</a:t>
                      </a:r>
                    </a:p>
                  </a:txBody>
                  <a:tcPr marL="91440" marR="91440" marT="45720" marB="45720">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r>
              <a:tr h="628650">
                <a:tc>
                  <a:txBody>
                    <a:bodyPr/>
                    <a:lstStyle/>
                    <a:p>
                      <a:r>
                        <a:rPr sz="1650" b="0">
                          <a:solidFill>
                            <a:srgbClr val="102A36"/>
                          </a:solidFill>
                          <a:latin typeface="DejaVu Sans"/>
                          <a:ea typeface="DejaVu Sans"/>
                          <a:cs typeface="DejaVu Sans"/>
                        </a:rPr>
                        <a:t>PPID is 1 at first scan</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Adopted or system process, history unknown</a:t>
                      </a:r>
                    </a:p>
                  </a:txBody>
                  <a:tcPr marL="91440" marR="91440" marT="45720" marB="45720">
                    <a:lnR w="9525">
                      <a:solidFill>
                        <a:srgbClr val="D3DEDD"/>
                      </a:solidFill>
                      <a:prstDash val="solid"/>
                    </a:lnR>
                    <a:lnB w="9525">
                      <a:solidFill>
                        <a:srgbClr val="D3DEDD"/>
                      </a:solidFill>
                      <a:prstDash val="solid"/>
                    </a:lnB>
                    <a:solidFill>
                      <a:srgbClr val="FFFFFF"/>
                    </a:solidFill>
                  </a:tcPr>
                </a:tc>
              </a:tr>
              <a:tr h="628650">
                <a:tc>
                  <a:txBody>
                    <a:bodyPr/>
                    <a:lstStyle/>
                    <a:p>
                      <a:r>
                        <a:rPr sz="1650" b="0">
                          <a:solidFill>
                            <a:srgbClr val="102A36"/>
                          </a:solidFill>
                          <a:latin typeface="DejaVu Sans"/>
                          <a:ea typeface="DejaVu Sans"/>
                          <a:cs typeface="DejaVu Sans"/>
                        </a:rPr>
                        <a:t>Known child changes parent</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Possible orphan event, check original parent</a:t>
                      </a:r>
                    </a:p>
                  </a:txBody>
                  <a:tcPr marL="91440" marR="91440" marT="45720" marB="45720">
                    <a:lnR w="9525">
                      <a:solidFill>
                        <a:srgbClr val="D3DEDD"/>
                      </a:solidFill>
                      <a:prstDash val="solid"/>
                    </a:lnR>
                    <a:lnB w="9525">
                      <a:solidFill>
                        <a:srgbClr val="D3DEDD"/>
                      </a:solidFill>
                      <a:prstDash val="solid"/>
                    </a:lnB>
                    <a:solidFill>
                      <a:srgbClr val="E8EFED"/>
                    </a:solidFill>
                  </a:tcPr>
                </a:tc>
              </a:tr>
              <a:tr h="628650">
                <a:tc>
                  <a:txBody>
                    <a:bodyPr/>
                    <a:lstStyle/>
                    <a:p>
                      <a:r>
                        <a:rPr sz="1650" b="0">
                          <a:solidFill>
                            <a:srgbClr val="102A36"/>
                          </a:solidFill>
                          <a:latin typeface="DejaVu Sans"/>
                          <a:ea typeface="DejaVu Sans"/>
                          <a:cs typeface="DejaVu Sans"/>
                        </a:rPr>
                        <a:t>Demo records parent exit</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Confirmed in the controlled test</a:t>
                      </a:r>
                    </a:p>
                  </a:txBody>
                  <a:tcPr marL="91440" marR="91440" marT="45720" marB="45720">
                    <a:lnR w="9525">
                      <a:solidFill>
                        <a:srgbClr val="D3DEDD"/>
                      </a:solidFill>
                      <a:prstDash val="solid"/>
                    </a:lnR>
                    <a:lnB w="9525">
                      <a:solidFill>
                        <a:srgbClr val="D3DEDD"/>
                      </a:solidFill>
                      <a:prstDash val="solid"/>
                    </a:lnB>
                    <a:solidFill>
                      <a:srgbClr val="FFFFFF"/>
                    </a:solidFill>
                  </a:tcPr>
                </a:tc>
              </a:tr>
              <a:tr h="628650">
                <a:tc>
                  <a:txBody>
                    <a:bodyPr/>
                    <a:lstStyle/>
                    <a:p>
                      <a:r>
                        <a:rPr sz="1650" b="0">
                          <a:solidFill>
                            <a:srgbClr val="102A36"/>
                          </a:solidFill>
                          <a:latin typeface="DejaVu Sans"/>
                          <a:ea typeface="DejaVu Sans"/>
                          <a:cs typeface="DejaVu Sans"/>
                        </a:rPr>
                        <a:t>Event occurs between scans</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May be missed by periodic polling</a:t>
                      </a:r>
                    </a:p>
                  </a:txBody>
                  <a:tcPr marL="91440" marR="91440" marT="45720" marB="45720">
                    <a:lnR w="9525">
                      <a:solidFill>
                        <a:srgbClr val="D3DEDD"/>
                      </a:solidFill>
                      <a:prstDash val="solid"/>
                    </a:lnR>
                    <a:lnB w="9525">
                      <a:solidFill>
                        <a:srgbClr val="D3DEDD"/>
                      </a:solidFill>
                      <a:prstDash val="solid"/>
                    </a:lnB>
                    <a:solidFill>
                      <a:srgbClr val="E8EFED"/>
                    </a:solidFill>
                  </a:tcPr>
                </a:tc>
              </a:tr>
            </a:tbl>
          </a:graphicData>
        </a:graphic>
      </p:graphicFrame>
      <p:pic xmlns:a="http://schemas.openxmlformats.org/drawingml/2006/main" xmlns:r="http://schemas.openxmlformats.org/officeDocument/2006/relationships">
        <p:nvPicPr>
          <p:cNvPr id="6" name="Picture 5" descr="image.png"/>
          <p:cNvPicPr>
            <a:picLocks noChangeAspect="1"/>
          </p:cNvPicPr>
          <p:nvPr/>
        </p:nvPicPr>
        <p:blipFill>
          <a:blip r:embed="rId3"/>
          <a:stretch>
            <a:fillRect/>
          </a:stretch>
        </p:blipFill>
        <p:spPr>
          <a:xfrm>
            <a:off x="137160" y="91440"/>
            <a:ext cx="960120" cy="526398"/>
          </a:xfrm>
          <a:prstGeom prst="rect">
            <a:avLst/>
          </a:prstGeom>
        </p:spPr>
      </p:pic>
    </p:spTree>
    <p:extLst>
      <p:ext uri="{BB962C8B-B14F-4D97-AF65-F5344CB8AC3E}">
        <p14:creationId xmlns:p14="http://schemas.microsoft.com/office/powerpoint/2010/main" val="1159972997"/>
      </p:ext>
    </p:extLst>
  </p:cSld>
</p:sld>
</file>

<file path=ppt/slides/slide8.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E6B47ED-076F-4D21-80AB-F852BD80DED4}"/>
              </a:ext>
            </a:extLst>
          </p:cNvPr>
          <p:cNvSpPr>
            <a:spLocks xmlns:a="http://schemas.openxmlformats.org/drawingml/2006/main" noGrp="1"/>
          </p:cNvSpPr>
          <p:nvPr/>
        </p:nvSpPr>
        <p:spPr>
          <a:xfrm xmlns:a="http://schemas.openxmlformats.org/drawingml/2006/main">
            <a:off x="609600" y="514350"/>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02A36"/>
                </a:solidFill>
                <a:latin typeface="DejaVu Sans"/>
                <a:ea typeface="DejaVu Sans"/>
                <a:cs typeface="DejaVu Sans"/>
              </a:defRPr>
            </a:defPPr>
            <a:lvl1pPr>
              <a:buNone/>
              <a:defRPr sz="3225" b="1">
                <a:solidFill>
                  <a:srgbClr val="102A36"/>
                </a:solidFill>
                <a:latin typeface="DejaVu Sans"/>
                <a:ea typeface="DejaVu Sans"/>
                <a:cs typeface="DejaVu Sans"/>
              </a:defRPr>
            </a:lvl1pPr>
            <a:lvl2pPr>
              <a:buNone/>
              <a:defRPr sz="3225" b="1">
                <a:solidFill>
                  <a:srgbClr val="102A36"/>
                </a:solidFill>
                <a:latin typeface="DejaVu Sans"/>
                <a:ea typeface="DejaVu Sans"/>
                <a:cs typeface="DejaVu Sans"/>
              </a:defRPr>
            </a:lvl2pPr>
            <a:lvl3pPr>
              <a:buNone/>
              <a:defRPr sz="3225" b="1">
                <a:solidFill>
                  <a:srgbClr val="102A36"/>
                </a:solidFill>
                <a:latin typeface="DejaVu Sans"/>
                <a:ea typeface="DejaVu Sans"/>
                <a:cs typeface="DejaVu Sans"/>
              </a:defRPr>
            </a:lvl3pPr>
            <a:lvl4pPr>
              <a:buNone/>
              <a:defRPr sz="3225" b="1">
                <a:solidFill>
                  <a:srgbClr val="102A36"/>
                </a:solidFill>
                <a:latin typeface="DejaVu Sans"/>
                <a:ea typeface="DejaVu Sans"/>
                <a:cs typeface="DejaVu Sans"/>
              </a:defRPr>
            </a:lvl4pPr>
            <a:lvl5pPr>
              <a:buNone/>
              <a:defRPr sz="3225" b="1">
                <a:solidFill>
                  <a:srgbClr val="102A36"/>
                </a:solidFill>
                <a:latin typeface="DejaVu Sans"/>
                <a:ea typeface="DejaVu Sans"/>
                <a:cs typeface="DejaVu Sans"/>
              </a:defRPr>
            </a:lvl5pPr>
            <a:lvl6pPr>
              <a:buNone/>
              <a:defRPr sz="3225" b="1">
                <a:solidFill>
                  <a:srgbClr val="102A36"/>
                </a:solidFill>
                <a:latin typeface="DejaVu Sans"/>
                <a:ea typeface="DejaVu Sans"/>
                <a:cs typeface="DejaVu Sans"/>
              </a:defRPr>
            </a:lvl6pPr>
            <a:lvl7pPr>
              <a:buNone/>
              <a:defRPr sz="3225" b="1">
                <a:solidFill>
                  <a:srgbClr val="102A36"/>
                </a:solidFill>
                <a:latin typeface="DejaVu Sans"/>
                <a:ea typeface="DejaVu Sans"/>
                <a:cs typeface="DejaVu Sans"/>
              </a:defRPr>
            </a:lvl7pPr>
            <a:lvl8pPr>
              <a:buNone/>
              <a:defRPr sz="3225" b="1">
                <a:solidFill>
                  <a:srgbClr val="102A36"/>
                </a:solidFill>
                <a:latin typeface="DejaVu Sans"/>
                <a:ea typeface="DejaVu Sans"/>
                <a:cs typeface="DejaVu Sans"/>
              </a:defRPr>
            </a:lvl8pPr>
            <a:lvl9pPr>
              <a:buNone/>
              <a:defRPr sz="3225" b="1">
                <a:solidFill>
                  <a:srgbClr val="102A36"/>
                </a:solidFill>
                <a:latin typeface="DejaVu Sans"/>
                <a:ea typeface="DejaVu Sans"/>
                <a:cs typeface="DejaVu Sans"/>
              </a:defRPr>
            </a:lvl9pPr>
          </a:lstStyle>
          <a:p xmlns:a="http://schemas.openxmlformats.org/drawingml/2006/main">
            <a:pPr>
              <a:buNone/>
              <a:defRPr sz="3225" b="1">
                <a:solidFill>
                  <a:srgbClr val="102A36"/>
                </a:solidFill>
                <a:latin typeface="DejaVu Sans"/>
                <a:ea typeface="DejaVu Sans"/>
                <a:cs typeface="DejaVu Sans"/>
              </a:defRPr>
            </a:pPr>
            <a:r>
              <a:rPr sz="3225" b="1">
                <a:solidFill>
                  <a:srgbClr val="102A36"/>
                </a:solidFill>
                <a:latin typeface="DejaVu Sans"/>
                <a:ea typeface="DejaVu Sans"/>
                <a:cs typeface="DejaVu Sans"/>
              </a:rPr>
              <a:t>Implementation approach</a:t>
            </a:r>
          </a:p>
        </p:txBody>
      </p:sp>
      <p:sp>
        <p:nvSpPr>
          <p:cNvPr id="2" name="">
            <a:extLst xmlns:a="http://schemas.openxmlformats.org/drawingml/2006/main">
              <a:ext uri="{FF2B5EF4-FFF2-40B4-BE49-F238E27FC236}">
                <a16:creationId xmlns:a16="http://schemas.microsoft.com/office/drawing/2014/main" id="{9BBEC001-ABB2-4102-AB09-04009677D77E}"/>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50616A"/>
                </a:solidFill>
                <a:latin typeface="DejaVu Sans"/>
                <a:ea typeface="DejaVu Sans"/>
                <a:cs typeface="DejaVu Sans"/>
              </a:defRPr>
            </a:defPPr>
            <a:lvl1pPr>
              <a:buNone/>
              <a:defRPr sz="1800" b="0">
                <a:solidFill>
                  <a:srgbClr val="50616A"/>
                </a:solidFill>
                <a:latin typeface="DejaVu Sans"/>
                <a:ea typeface="DejaVu Sans"/>
                <a:cs typeface="DejaVu Sans"/>
              </a:defRPr>
            </a:lvl1pPr>
            <a:lvl2pPr>
              <a:buNone/>
              <a:defRPr sz="1800" b="0">
                <a:solidFill>
                  <a:srgbClr val="50616A"/>
                </a:solidFill>
                <a:latin typeface="DejaVu Sans"/>
                <a:ea typeface="DejaVu Sans"/>
                <a:cs typeface="DejaVu Sans"/>
              </a:defRPr>
            </a:lvl2pPr>
            <a:lvl3pPr>
              <a:buNone/>
              <a:defRPr sz="1800" b="0">
                <a:solidFill>
                  <a:srgbClr val="50616A"/>
                </a:solidFill>
                <a:latin typeface="DejaVu Sans"/>
                <a:ea typeface="DejaVu Sans"/>
                <a:cs typeface="DejaVu Sans"/>
              </a:defRPr>
            </a:lvl3pPr>
            <a:lvl4pPr>
              <a:buNone/>
              <a:defRPr sz="1800" b="0">
                <a:solidFill>
                  <a:srgbClr val="50616A"/>
                </a:solidFill>
                <a:latin typeface="DejaVu Sans"/>
                <a:ea typeface="DejaVu Sans"/>
                <a:cs typeface="DejaVu Sans"/>
              </a:defRPr>
            </a:lvl4pPr>
            <a:lvl5pPr>
              <a:buNone/>
              <a:defRPr sz="1800" b="0">
                <a:solidFill>
                  <a:srgbClr val="50616A"/>
                </a:solidFill>
                <a:latin typeface="DejaVu Sans"/>
                <a:ea typeface="DejaVu Sans"/>
                <a:cs typeface="DejaVu Sans"/>
              </a:defRPr>
            </a:lvl5pPr>
            <a:lvl6pPr>
              <a:buNone/>
              <a:defRPr sz="1800" b="0">
                <a:solidFill>
                  <a:srgbClr val="50616A"/>
                </a:solidFill>
                <a:latin typeface="DejaVu Sans"/>
                <a:ea typeface="DejaVu Sans"/>
                <a:cs typeface="DejaVu Sans"/>
              </a:defRPr>
            </a:lvl6pPr>
            <a:lvl7pPr>
              <a:buNone/>
              <a:defRPr sz="1800" b="0">
                <a:solidFill>
                  <a:srgbClr val="50616A"/>
                </a:solidFill>
                <a:latin typeface="DejaVu Sans"/>
                <a:ea typeface="DejaVu Sans"/>
                <a:cs typeface="DejaVu Sans"/>
              </a:defRPr>
            </a:lvl7pPr>
            <a:lvl8pPr>
              <a:buNone/>
              <a:defRPr sz="1800" b="0">
                <a:solidFill>
                  <a:srgbClr val="50616A"/>
                </a:solidFill>
                <a:latin typeface="DejaVu Sans"/>
                <a:ea typeface="DejaVu Sans"/>
                <a:cs typeface="DejaVu Sans"/>
              </a:defRPr>
            </a:lvl8pPr>
            <a:lvl9pPr>
              <a:buNone/>
              <a:defRPr sz="1800" b="0">
                <a:solidFill>
                  <a:srgbClr val="50616A"/>
                </a:solidFill>
                <a:latin typeface="DejaVu Sans"/>
                <a:ea typeface="DejaVu Sans"/>
                <a:cs typeface="DejaVu Sans"/>
              </a:defRPr>
            </a:lvl9pPr>
          </a:lstStyle>
          <a:p xmlns:a="http://schemas.openxmlformats.org/drawingml/2006/main">
            <a:pPr>
              <a:buNone/>
              <a:defRPr sz="1800" b="0">
                <a:solidFill>
                  <a:srgbClr val="50616A"/>
                </a:solidFill>
                <a:latin typeface="DejaVu Sans"/>
                <a:ea typeface="DejaVu Sans"/>
                <a:cs typeface="DejaVu Sans"/>
              </a:defRPr>
            </a:pPr>
            <a:r>
              <a:rPr sz="1800" b="0">
                <a:solidFill>
                  <a:srgbClr val="50616A"/>
                </a:solidFill>
                <a:latin typeface="DejaVu Sans"/>
                <a:ea typeface="DejaVu Sans"/>
                <a:cs typeface="DejaVu Sans"/>
              </a:rPr>
              <a:t>Suggested modules keep the code easy to explain and test.</a:t>
            </a:r>
          </a:p>
        </p:txBody>
      </p:sp>
      <p:sp>
        <p:nvSpPr>
          <p:cNvPr id="3" name="">
            <a:extLst xmlns:a="http://schemas.openxmlformats.org/drawingml/2006/main">
              <a:ext uri="{FF2B5EF4-FFF2-40B4-BE49-F238E27FC236}">
                <a16:creationId xmlns:a16="http://schemas.microsoft.com/office/drawing/2014/main" id="{70E3B7F5-50DA-463D-A70F-42932683BD18}"/>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0616A"/>
                </a:solidFill>
                <a:latin typeface="DejaVu Sans"/>
                <a:ea typeface="DejaVu Sans"/>
                <a:cs typeface="DejaVu Sans"/>
              </a:defRPr>
            </a:defPPr>
            <a:lvl1pPr>
              <a:buNone/>
              <a:defRPr sz="1350" b="0">
                <a:solidFill>
                  <a:srgbClr val="50616A"/>
                </a:solidFill>
                <a:latin typeface="DejaVu Sans"/>
                <a:ea typeface="DejaVu Sans"/>
                <a:cs typeface="DejaVu Sans"/>
              </a:defRPr>
            </a:lvl1pPr>
            <a:lvl2pPr>
              <a:buNone/>
              <a:defRPr sz="1350" b="0">
                <a:solidFill>
                  <a:srgbClr val="50616A"/>
                </a:solidFill>
                <a:latin typeface="DejaVu Sans"/>
                <a:ea typeface="DejaVu Sans"/>
                <a:cs typeface="DejaVu Sans"/>
              </a:defRPr>
            </a:lvl2pPr>
            <a:lvl3pPr>
              <a:buNone/>
              <a:defRPr sz="1350" b="0">
                <a:solidFill>
                  <a:srgbClr val="50616A"/>
                </a:solidFill>
                <a:latin typeface="DejaVu Sans"/>
                <a:ea typeface="DejaVu Sans"/>
                <a:cs typeface="DejaVu Sans"/>
              </a:defRPr>
            </a:lvl3pPr>
            <a:lvl4pPr>
              <a:buNone/>
              <a:defRPr sz="1350" b="0">
                <a:solidFill>
                  <a:srgbClr val="50616A"/>
                </a:solidFill>
                <a:latin typeface="DejaVu Sans"/>
                <a:ea typeface="DejaVu Sans"/>
                <a:cs typeface="DejaVu Sans"/>
              </a:defRPr>
            </a:lvl4pPr>
            <a:lvl5pPr>
              <a:buNone/>
              <a:defRPr sz="1350" b="0">
                <a:solidFill>
                  <a:srgbClr val="50616A"/>
                </a:solidFill>
                <a:latin typeface="DejaVu Sans"/>
                <a:ea typeface="DejaVu Sans"/>
                <a:cs typeface="DejaVu Sans"/>
              </a:defRPr>
            </a:lvl5pPr>
            <a:lvl6pPr>
              <a:buNone/>
              <a:defRPr sz="1350" b="0">
                <a:solidFill>
                  <a:srgbClr val="50616A"/>
                </a:solidFill>
                <a:latin typeface="DejaVu Sans"/>
                <a:ea typeface="DejaVu Sans"/>
                <a:cs typeface="DejaVu Sans"/>
              </a:defRPr>
            </a:lvl6pPr>
            <a:lvl7pPr>
              <a:buNone/>
              <a:defRPr sz="1350" b="0">
                <a:solidFill>
                  <a:srgbClr val="50616A"/>
                </a:solidFill>
                <a:latin typeface="DejaVu Sans"/>
                <a:ea typeface="DejaVu Sans"/>
                <a:cs typeface="DejaVu Sans"/>
              </a:defRPr>
            </a:lvl7pPr>
            <a:lvl8pPr>
              <a:buNone/>
              <a:defRPr sz="1350" b="0">
                <a:solidFill>
                  <a:srgbClr val="50616A"/>
                </a:solidFill>
                <a:latin typeface="DejaVu Sans"/>
                <a:ea typeface="DejaVu Sans"/>
                <a:cs typeface="DejaVu Sans"/>
              </a:defRPr>
            </a:lvl8pPr>
            <a:lvl9pPr>
              <a:buNone/>
              <a:defRPr sz="1350" b="0">
                <a:solidFill>
                  <a:srgbClr val="50616A"/>
                </a:solidFill>
                <a:latin typeface="DejaVu Sans"/>
                <a:ea typeface="DejaVu Sans"/>
                <a:cs typeface="DejaVu Sans"/>
              </a:defRPr>
            </a:lvl9pPr>
          </a:lstStyle>
          <a:p xmlns:a="http://schemas.openxmlformats.org/drawingml/2006/main">
            <a:pPr>
              <a:buNone/>
              <a:defRPr sz="1350" b="0">
                <a:solidFill>
                  <a:srgbClr val="50616A"/>
                </a:solidFill>
                <a:latin typeface="DejaVu Sans"/>
                <a:ea typeface="DejaVu Sans"/>
                <a:cs typeface="DejaVu Sans"/>
              </a:defRPr>
            </a:pPr>
            <a:r>
              <a:rPr sz="1350" b="0">
                <a:solidFill>
                  <a:srgbClr val="50616A"/>
                </a:solidFill>
                <a:latin typeface="DejaVu Sans"/>
                <a:ea typeface="DejaVu Sans"/>
                <a:cs typeface="DejaVu Sans"/>
              </a:rPr>
              <a:t>08</a:t>
            </a:r>
          </a:p>
        </p:txBody>
      </p:sp>
      <p:sp>
        <p:nvSpPr>
          <p:cNvPr id="4" name="">
            <a:extLst xmlns:a="http://schemas.openxmlformats.org/drawingml/2006/main">
              <a:ext uri="{FF2B5EF4-FFF2-40B4-BE49-F238E27FC236}">
                <a16:creationId xmlns:a16="http://schemas.microsoft.com/office/drawing/2014/main" id="{332FC085-552F-4E1B-B394-CF75E6F266AD}"/>
              </a:ext>
            </a:extLst>
          </p:cNvPr>
          <p:cNvSpPr>
            <a:spLocks xmlns:a="http://schemas.openxmlformats.org/drawingml/2006/main" noGrp="1"/>
          </p:cNvSpPr>
          <p:nvPr/>
        </p:nvSpPr>
        <p:spPr>
          <a:xfrm xmlns:a="http://schemas.openxmlformats.org/drawingml/2006/main">
            <a:off x="609600" y="21907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8F9CD911-1018-408E-8456-F838C999D511}"/>
              </a:ext>
            </a:extLst>
          </p:cNvPr>
          <p:cNvSpPr>
            <a:spLocks xmlns:a="http://schemas.openxmlformats.org/drawingml/2006/main" noGrp="1"/>
          </p:cNvSpPr>
          <p:nvPr/>
        </p:nvSpPr>
        <p:spPr>
          <a:xfrm xmlns:a="http://schemas.openxmlformats.org/drawingml/2006/main">
            <a:off x="1524000" y="219075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collector.py reads process attributes and handles exceptions.</a:t>
            </a:r>
          </a:p>
        </p:txBody>
      </p:sp>
      <p:sp>
        <p:nvSpPr>
          <p:cNvPr id="6" name="">
            <a:extLst xmlns:a="http://schemas.openxmlformats.org/drawingml/2006/main">
              <a:ext uri="{FF2B5EF4-FFF2-40B4-BE49-F238E27FC236}">
                <a16:creationId xmlns:a16="http://schemas.microsoft.com/office/drawing/2014/main" id="{98CE0051-C352-4DB9-99CF-EEEC647A437C}"/>
              </a:ext>
            </a:extLst>
          </p:cNvPr>
          <p:cNvSpPr>
            <a:spLocks xmlns:a="http://schemas.openxmlformats.org/drawingml/2006/main" noGrp="1"/>
          </p:cNvSpPr>
          <p:nvPr/>
        </p:nvSpPr>
        <p:spPr>
          <a:xfrm xmlns:a="http://schemas.openxmlformats.org/drawingml/2006/main">
            <a:off x="609600" y="3057525"/>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02</a:t>
            </a:r>
          </a:p>
        </p:txBody>
      </p:sp>
      <p:sp>
        <p:nvSpPr>
          <p:cNvPr id="7" name="">
            <a:extLst xmlns:a="http://schemas.openxmlformats.org/drawingml/2006/main">
              <a:ext uri="{FF2B5EF4-FFF2-40B4-BE49-F238E27FC236}">
                <a16:creationId xmlns:a16="http://schemas.microsoft.com/office/drawing/2014/main" id="{80B23E90-5242-4185-9DBF-82FEBECE505B}"/>
              </a:ext>
            </a:extLst>
          </p:cNvPr>
          <p:cNvSpPr>
            <a:spLocks xmlns:a="http://schemas.openxmlformats.org/drawingml/2006/main" noGrp="1"/>
          </p:cNvSpPr>
          <p:nvPr/>
        </p:nvSpPr>
        <p:spPr>
          <a:xfrm xmlns:a="http://schemas.openxmlformats.org/drawingml/2006/main">
            <a:off x="1524000" y="3057525"/>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detector.py compares snapshots and records findings.</a:t>
            </a:r>
          </a:p>
        </p:txBody>
      </p:sp>
      <p:sp>
        <p:nvSpPr>
          <p:cNvPr id="8" name="">
            <a:extLst xmlns:a="http://schemas.openxmlformats.org/drawingml/2006/main">
              <a:ext uri="{FF2B5EF4-FFF2-40B4-BE49-F238E27FC236}">
                <a16:creationId xmlns:a16="http://schemas.microsoft.com/office/drawing/2014/main" id="{133C613C-B359-4CEC-B595-9633794D03EC}"/>
              </a:ext>
            </a:extLst>
          </p:cNvPr>
          <p:cNvSpPr>
            <a:spLocks xmlns:a="http://schemas.openxmlformats.org/drawingml/2006/main" noGrp="1"/>
          </p:cNvSpPr>
          <p:nvPr/>
        </p:nvSpPr>
        <p:spPr>
          <a:xfrm xmlns:a="http://schemas.openxmlformats.org/drawingml/2006/main">
            <a:off x="609600" y="39243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03</a:t>
            </a:r>
          </a:p>
        </p:txBody>
      </p:sp>
      <p:sp>
        <p:nvSpPr>
          <p:cNvPr id="9" name="">
            <a:extLst xmlns:a="http://schemas.openxmlformats.org/drawingml/2006/main">
              <a:ext uri="{FF2B5EF4-FFF2-40B4-BE49-F238E27FC236}">
                <a16:creationId xmlns:a16="http://schemas.microsoft.com/office/drawing/2014/main" id="{C9D82AB7-C24C-41C5-831C-EB63E70CD41C}"/>
              </a:ext>
            </a:extLst>
          </p:cNvPr>
          <p:cNvSpPr>
            <a:spLocks xmlns:a="http://schemas.openxmlformats.org/drawingml/2006/main" noGrp="1"/>
          </p:cNvSpPr>
          <p:nvPr/>
        </p:nvSpPr>
        <p:spPr>
          <a:xfrm xmlns:a="http://schemas.openxmlformats.org/drawingml/2006/main">
            <a:off x="1524000" y="392430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app.py renders a Treeview and refreshes using after().</a:t>
            </a:r>
          </a:p>
        </p:txBody>
      </p:sp>
      <p:sp>
        <p:nvSpPr>
          <p:cNvPr id="10" name="">
            <a:extLst xmlns:a="http://schemas.openxmlformats.org/drawingml/2006/main">
              <a:ext uri="{FF2B5EF4-FFF2-40B4-BE49-F238E27FC236}">
                <a16:creationId xmlns:a16="http://schemas.microsoft.com/office/drawing/2014/main" id="{6FAD03F5-0347-4544-AADB-9B4D0775288F}"/>
              </a:ext>
            </a:extLst>
          </p:cNvPr>
          <p:cNvSpPr>
            <a:spLocks xmlns:a="http://schemas.openxmlformats.org/drawingml/2006/main" noGrp="1"/>
          </p:cNvSpPr>
          <p:nvPr/>
        </p:nvSpPr>
        <p:spPr>
          <a:xfrm xmlns:a="http://schemas.openxmlformats.org/drawingml/2006/main">
            <a:off x="609600" y="4791075"/>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04</a:t>
            </a:r>
          </a:p>
        </p:txBody>
      </p:sp>
      <p:sp>
        <p:nvSpPr>
          <p:cNvPr id="11" name="">
            <a:extLst xmlns:a="http://schemas.openxmlformats.org/drawingml/2006/main">
              <a:ext uri="{FF2B5EF4-FFF2-40B4-BE49-F238E27FC236}">
                <a16:creationId xmlns:a16="http://schemas.microsoft.com/office/drawing/2014/main" id="{C080B41D-420C-470C-B809-8B7FE57301B0}"/>
              </a:ext>
            </a:extLst>
          </p:cNvPr>
          <p:cNvSpPr>
            <a:spLocks xmlns:a="http://schemas.openxmlformats.org/drawingml/2006/main" noGrp="1"/>
          </p:cNvSpPr>
          <p:nvPr/>
        </p:nvSpPr>
        <p:spPr>
          <a:xfrm xmlns:a="http://schemas.openxmlformats.org/drawingml/2006/main">
            <a:off x="1524000" y="4791075"/>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demo/ contains bounded tests using fork() and waitpid().</a:t>
            </a:r>
          </a:p>
        </p:txBody>
      </p:sp>
      <p:pic xmlns:a="http://schemas.openxmlformats.org/drawingml/2006/main" xmlns:r="http://schemas.openxmlformats.org/officeDocument/2006/relationships">
        <p:nvPicPr>
          <p:cNvPr id="13" name="Picture 12" descr="image.png"/>
          <p:cNvPicPr>
            <a:picLocks noChangeAspect="1"/>
          </p:cNvPicPr>
          <p:nvPr/>
        </p:nvPicPr>
        <p:blipFill>
          <a:blip r:embed="rId3"/>
          <a:stretch>
            <a:fillRect/>
          </a:stretch>
        </p:blipFill>
        <p:spPr>
          <a:xfrm>
            <a:off x="137160" y="91440"/>
            <a:ext cx="960120" cy="526398"/>
          </a:xfrm>
          <a:prstGeom prst="rect">
            <a:avLst/>
          </a:prstGeom>
        </p:spPr>
      </p:pic>
    </p:spTree>
    <p:extLst>
      <p:ext uri="{BB962C8B-B14F-4D97-AF65-F5344CB8AC3E}">
        <p14:creationId xmlns:p14="http://schemas.microsoft.com/office/powerpoint/2010/main" val="1171896133"/>
      </p:ext>
    </p:extLst>
  </p:cSld>
</p:sld>
</file>

<file path=ppt/slides/slide9.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99150C-0719-4EEC-92E7-A7BE4FA2F494}"/>
              </a:ext>
            </a:extLst>
          </p:cNvPr>
          <p:cNvSpPr>
            <a:spLocks xmlns:a="http://schemas.openxmlformats.org/drawingml/2006/main" noGrp="1"/>
          </p:cNvSpPr>
          <p:nvPr/>
        </p:nvSpPr>
        <p:spPr>
          <a:xfrm xmlns:a="http://schemas.openxmlformats.org/drawingml/2006/main">
            <a:off x="609600" y="514350"/>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02A36"/>
                </a:solidFill>
                <a:latin typeface="DejaVu Sans"/>
                <a:ea typeface="DejaVu Sans"/>
                <a:cs typeface="DejaVu Sans"/>
              </a:defRPr>
            </a:defPPr>
            <a:lvl1pPr>
              <a:buNone/>
              <a:defRPr sz="3225" b="1">
                <a:solidFill>
                  <a:srgbClr val="102A36"/>
                </a:solidFill>
                <a:latin typeface="DejaVu Sans"/>
                <a:ea typeface="DejaVu Sans"/>
                <a:cs typeface="DejaVu Sans"/>
              </a:defRPr>
            </a:lvl1pPr>
            <a:lvl2pPr>
              <a:buNone/>
              <a:defRPr sz="3225" b="1">
                <a:solidFill>
                  <a:srgbClr val="102A36"/>
                </a:solidFill>
                <a:latin typeface="DejaVu Sans"/>
                <a:ea typeface="DejaVu Sans"/>
                <a:cs typeface="DejaVu Sans"/>
              </a:defRPr>
            </a:lvl2pPr>
            <a:lvl3pPr>
              <a:buNone/>
              <a:defRPr sz="3225" b="1">
                <a:solidFill>
                  <a:srgbClr val="102A36"/>
                </a:solidFill>
                <a:latin typeface="DejaVu Sans"/>
                <a:ea typeface="DejaVu Sans"/>
                <a:cs typeface="DejaVu Sans"/>
              </a:defRPr>
            </a:lvl3pPr>
            <a:lvl4pPr>
              <a:buNone/>
              <a:defRPr sz="3225" b="1">
                <a:solidFill>
                  <a:srgbClr val="102A36"/>
                </a:solidFill>
                <a:latin typeface="DejaVu Sans"/>
                <a:ea typeface="DejaVu Sans"/>
                <a:cs typeface="DejaVu Sans"/>
              </a:defRPr>
            </a:lvl4pPr>
            <a:lvl5pPr>
              <a:buNone/>
              <a:defRPr sz="3225" b="1">
                <a:solidFill>
                  <a:srgbClr val="102A36"/>
                </a:solidFill>
                <a:latin typeface="DejaVu Sans"/>
                <a:ea typeface="DejaVu Sans"/>
                <a:cs typeface="DejaVu Sans"/>
              </a:defRPr>
            </a:lvl5pPr>
            <a:lvl6pPr>
              <a:buNone/>
              <a:defRPr sz="3225" b="1">
                <a:solidFill>
                  <a:srgbClr val="102A36"/>
                </a:solidFill>
                <a:latin typeface="DejaVu Sans"/>
                <a:ea typeface="DejaVu Sans"/>
                <a:cs typeface="DejaVu Sans"/>
              </a:defRPr>
            </a:lvl6pPr>
            <a:lvl7pPr>
              <a:buNone/>
              <a:defRPr sz="3225" b="1">
                <a:solidFill>
                  <a:srgbClr val="102A36"/>
                </a:solidFill>
                <a:latin typeface="DejaVu Sans"/>
                <a:ea typeface="DejaVu Sans"/>
                <a:cs typeface="DejaVu Sans"/>
              </a:defRPr>
            </a:lvl7pPr>
            <a:lvl8pPr>
              <a:buNone/>
              <a:defRPr sz="3225" b="1">
                <a:solidFill>
                  <a:srgbClr val="102A36"/>
                </a:solidFill>
                <a:latin typeface="DejaVu Sans"/>
                <a:ea typeface="DejaVu Sans"/>
                <a:cs typeface="DejaVu Sans"/>
              </a:defRPr>
            </a:lvl8pPr>
            <a:lvl9pPr>
              <a:buNone/>
              <a:defRPr sz="3225" b="1">
                <a:solidFill>
                  <a:srgbClr val="102A36"/>
                </a:solidFill>
                <a:latin typeface="DejaVu Sans"/>
                <a:ea typeface="DejaVu Sans"/>
                <a:cs typeface="DejaVu Sans"/>
              </a:defRPr>
            </a:lvl9pPr>
          </a:lstStyle>
          <a:p xmlns:a="http://schemas.openxmlformats.org/drawingml/2006/main">
            <a:pPr>
              <a:buNone/>
              <a:defRPr sz="3225" b="1">
                <a:solidFill>
                  <a:srgbClr val="102A36"/>
                </a:solidFill>
                <a:latin typeface="DejaVu Sans"/>
                <a:ea typeface="DejaVu Sans"/>
                <a:cs typeface="DejaVu Sans"/>
              </a:defRPr>
            </a:pPr>
            <a:r>
              <a:rPr sz="3225" b="1">
                <a:solidFill>
                  <a:srgbClr val="102A36"/>
                </a:solidFill>
                <a:latin typeface="DejaVu Sans"/>
                <a:ea typeface="DejaVu Sans"/>
                <a:cs typeface="DejaVu Sans"/>
              </a:rPr>
              <a:t>Technologies and requirements</a:t>
            </a:r>
          </a:p>
        </p:txBody>
      </p:sp>
      <p:sp>
        <p:nvSpPr>
          <p:cNvPr id="2" name="">
            <a:extLst xmlns:a="http://schemas.openxmlformats.org/drawingml/2006/main">
              <a:ext uri="{FF2B5EF4-FFF2-40B4-BE49-F238E27FC236}">
                <a16:creationId xmlns:a16="http://schemas.microsoft.com/office/drawing/2014/main" id="{6372D48F-CA2F-49A3-AF36-ED8215342966}"/>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50616A"/>
                </a:solidFill>
                <a:latin typeface="DejaVu Sans"/>
                <a:ea typeface="DejaVu Sans"/>
                <a:cs typeface="DejaVu Sans"/>
              </a:defRPr>
            </a:defPPr>
            <a:lvl1pPr>
              <a:buNone/>
              <a:defRPr sz="1800" b="0">
                <a:solidFill>
                  <a:srgbClr val="50616A"/>
                </a:solidFill>
                <a:latin typeface="DejaVu Sans"/>
                <a:ea typeface="DejaVu Sans"/>
                <a:cs typeface="DejaVu Sans"/>
              </a:defRPr>
            </a:lvl1pPr>
            <a:lvl2pPr>
              <a:buNone/>
              <a:defRPr sz="1800" b="0">
                <a:solidFill>
                  <a:srgbClr val="50616A"/>
                </a:solidFill>
                <a:latin typeface="DejaVu Sans"/>
                <a:ea typeface="DejaVu Sans"/>
                <a:cs typeface="DejaVu Sans"/>
              </a:defRPr>
            </a:lvl2pPr>
            <a:lvl3pPr>
              <a:buNone/>
              <a:defRPr sz="1800" b="0">
                <a:solidFill>
                  <a:srgbClr val="50616A"/>
                </a:solidFill>
                <a:latin typeface="DejaVu Sans"/>
                <a:ea typeface="DejaVu Sans"/>
                <a:cs typeface="DejaVu Sans"/>
              </a:defRPr>
            </a:lvl3pPr>
            <a:lvl4pPr>
              <a:buNone/>
              <a:defRPr sz="1800" b="0">
                <a:solidFill>
                  <a:srgbClr val="50616A"/>
                </a:solidFill>
                <a:latin typeface="DejaVu Sans"/>
                <a:ea typeface="DejaVu Sans"/>
                <a:cs typeface="DejaVu Sans"/>
              </a:defRPr>
            </a:lvl4pPr>
            <a:lvl5pPr>
              <a:buNone/>
              <a:defRPr sz="1800" b="0">
                <a:solidFill>
                  <a:srgbClr val="50616A"/>
                </a:solidFill>
                <a:latin typeface="DejaVu Sans"/>
                <a:ea typeface="DejaVu Sans"/>
                <a:cs typeface="DejaVu Sans"/>
              </a:defRPr>
            </a:lvl5pPr>
            <a:lvl6pPr>
              <a:buNone/>
              <a:defRPr sz="1800" b="0">
                <a:solidFill>
                  <a:srgbClr val="50616A"/>
                </a:solidFill>
                <a:latin typeface="DejaVu Sans"/>
                <a:ea typeface="DejaVu Sans"/>
                <a:cs typeface="DejaVu Sans"/>
              </a:defRPr>
            </a:lvl6pPr>
            <a:lvl7pPr>
              <a:buNone/>
              <a:defRPr sz="1800" b="0">
                <a:solidFill>
                  <a:srgbClr val="50616A"/>
                </a:solidFill>
                <a:latin typeface="DejaVu Sans"/>
                <a:ea typeface="DejaVu Sans"/>
                <a:cs typeface="DejaVu Sans"/>
              </a:defRPr>
            </a:lvl7pPr>
            <a:lvl8pPr>
              <a:buNone/>
              <a:defRPr sz="1800" b="0">
                <a:solidFill>
                  <a:srgbClr val="50616A"/>
                </a:solidFill>
                <a:latin typeface="DejaVu Sans"/>
                <a:ea typeface="DejaVu Sans"/>
                <a:cs typeface="DejaVu Sans"/>
              </a:defRPr>
            </a:lvl8pPr>
            <a:lvl9pPr>
              <a:buNone/>
              <a:defRPr sz="1800" b="0">
                <a:solidFill>
                  <a:srgbClr val="50616A"/>
                </a:solidFill>
                <a:latin typeface="DejaVu Sans"/>
                <a:ea typeface="DejaVu Sans"/>
                <a:cs typeface="DejaVu Sans"/>
              </a:defRPr>
            </a:lvl9pPr>
          </a:lstStyle>
          <a:p xmlns:a="http://schemas.openxmlformats.org/drawingml/2006/main">
            <a:pPr>
              <a:buNone/>
              <a:defRPr sz="1800" b="0">
                <a:solidFill>
                  <a:srgbClr val="50616A"/>
                </a:solidFill>
                <a:latin typeface="DejaVu Sans"/>
                <a:ea typeface="DejaVu Sans"/>
                <a:cs typeface="DejaVu Sans"/>
              </a:defRPr>
            </a:pPr>
            <a:r>
              <a:rPr sz="1800" b="0">
                <a:solidFill>
                  <a:srgbClr val="50616A"/>
                </a:solidFill>
                <a:latin typeface="DejaVu Sans"/>
                <a:ea typeface="DejaVu Sans"/>
                <a:cs typeface="DejaVu Sans"/>
              </a:rPr>
              <a:t>A small local tool is enough for the hackathon demonstration.</a:t>
            </a:r>
          </a:p>
        </p:txBody>
      </p:sp>
      <p:sp>
        <p:nvSpPr>
          <p:cNvPr id="3" name="">
            <a:extLst xmlns:a="http://schemas.openxmlformats.org/drawingml/2006/main">
              <a:ext uri="{FF2B5EF4-FFF2-40B4-BE49-F238E27FC236}">
                <a16:creationId xmlns:a16="http://schemas.microsoft.com/office/drawing/2014/main" id="{62BEF24B-E681-4891-8B21-D93BC929B7F5}"/>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0616A"/>
                </a:solidFill>
                <a:latin typeface="DejaVu Sans"/>
                <a:ea typeface="DejaVu Sans"/>
                <a:cs typeface="DejaVu Sans"/>
              </a:defRPr>
            </a:defPPr>
            <a:lvl1pPr>
              <a:buNone/>
              <a:defRPr sz="1350" b="0">
                <a:solidFill>
                  <a:srgbClr val="50616A"/>
                </a:solidFill>
                <a:latin typeface="DejaVu Sans"/>
                <a:ea typeface="DejaVu Sans"/>
                <a:cs typeface="DejaVu Sans"/>
              </a:defRPr>
            </a:lvl1pPr>
            <a:lvl2pPr>
              <a:buNone/>
              <a:defRPr sz="1350" b="0">
                <a:solidFill>
                  <a:srgbClr val="50616A"/>
                </a:solidFill>
                <a:latin typeface="DejaVu Sans"/>
                <a:ea typeface="DejaVu Sans"/>
                <a:cs typeface="DejaVu Sans"/>
              </a:defRPr>
            </a:lvl2pPr>
            <a:lvl3pPr>
              <a:buNone/>
              <a:defRPr sz="1350" b="0">
                <a:solidFill>
                  <a:srgbClr val="50616A"/>
                </a:solidFill>
                <a:latin typeface="DejaVu Sans"/>
                <a:ea typeface="DejaVu Sans"/>
                <a:cs typeface="DejaVu Sans"/>
              </a:defRPr>
            </a:lvl3pPr>
            <a:lvl4pPr>
              <a:buNone/>
              <a:defRPr sz="1350" b="0">
                <a:solidFill>
                  <a:srgbClr val="50616A"/>
                </a:solidFill>
                <a:latin typeface="DejaVu Sans"/>
                <a:ea typeface="DejaVu Sans"/>
                <a:cs typeface="DejaVu Sans"/>
              </a:defRPr>
            </a:lvl4pPr>
            <a:lvl5pPr>
              <a:buNone/>
              <a:defRPr sz="1350" b="0">
                <a:solidFill>
                  <a:srgbClr val="50616A"/>
                </a:solidFill>
                <a:latin typeface="DejaVu Sans"/>
                <a:ea typeface="DejaVu Sans"/>
                <a:cs typeface="DejaVu Sans"/>
              </a:defRPr>
            </a:lvl5pPr>
            <a:lvl6pPr>
              <a:buNone/>
              <a:defRPr sz="1350" b="0">
                <a:solidFill>
                  <a:srgbClr val="50616A"/>
                </a:solidFill>
                <a:latin typeface="DejaVu Sans"/>
                <a:ea typeface="DejaVu Sans"/>
                <a:cs typeface="DejaVu Sans"/>
              </a:defRPr>
            </a:lvl6pPr>
            <a:lvl7pPr>
              <a:buNone/>
              <a:defRPr sz="1350" b="0">
                <a:solidFill>
                  <a:srgbClr val="50616A"/>
                </a:solidFill>
                <a:latin typeface="DejaVu Sans"/>
                <a:ea typeface="DejaVu Sans"/>
                <a:cs typeface="DejaVu Sans"/>
              </a:defRPr>
            </a:lvl7pPr>
            <a:lvl8pPr>
              <a:buNone/>
              <a:defRPr sz="1350" b="0">
                <a:solidFill>
                  <a:srgbClr val="50616A"/>
                </a:solidFill>
                <a:latin typeface="DejaVu Sans"/>
                <a:ea typeface="DejaVu Sans"/>
                <a:cs typeface="DejaVu Sans"/>
              </a:defRPr>
            </a:lvl8pPr>
            <a:lvl9pPr>
              <a:buNone/>
              <a:defRPr sz="1350" b="0">
                <a:solidFill>
                  <a:srgbClr val="50616A"/>
                </a:solidFill>
                <a:latin typeface="DejaVu Sans"/>
                <a:ea typeface="DejaVu Sans"/>
                <a:cs typeface="DejaVu Sans"/>
              </a:defRPr>
            </a:lvl9pPr>
          </a:lstStyle>
          <a:p xmlns:a="http://schemas.openxmlformats.org/drawingml/2006/main">
            <a:pPr>
              <a:buNone/>
              <a:defRPr sz="1350" b="0">
                <a:solidFill>
                  <a:srgbClr val="50616A"/>
                </a:solidFill>
                <a:latin typeface="DejaVu Sans"/>
                <a:ea typeface="DejaVu Sans"/>
                <a:cs typeface="DejaVu Sans"/>
              </a:defRPr>
            </a:pPr>
            <a:r>
              <a:rPr sz="1350" b="0">
                <a:solidFill>
                  <a:srgbClr val="50616A"/>
                </a:solidFill>
                <a:latin typeface="DejaVu Sans"/>
                <a:ea typeface="DejaVu Sans"/>
                <a:cs typeface="DejaVu Sans"/>
              </a:rPr>
              <a:t>09</a:t>
            </a:r>
          </a:p>
        </p:txBody>
      </p:sp>
      <p:graphicFrame>
        <p:nvGraphicFramePr>
          <p:cNvPr id="4" name="">
            <a:extLst xmlns:a="http://schemas.openxmlformats.org/drawingml/2006/main">
              <a:ext uri="{FF2B5EF4-FFF2-40B4-BE49-F238E27FC236}">
                <a16:creationId xmlns:a16="http://schemas.microsoft.com/office/drawing/2014/main" id="{90D9D94B-7CA2-46D1-94CF-655132F73BFE}"/>
              </a:ext>
            </a:extLst>
          </p:cNvPr>
          <p:cNvGraphicFramePr/>
          <p:nvPr/>
        </p:nvGraphicFramePr>
        <p:xfrm>
          <a:off xmlns:a="http://schemas.openxmlformats.org/drawingml/2006/main" x="609600" y="2133600"/>
          <a:ext xmlns:a="http://schemas.openxmlformats.org/drawingml/2006/main" cx="10972800" cy="3667125"/>
        </p:xfrm>
        <a:graphic xmlns:a="http://schemas.openxmlformats.org/drawingml/2006/main">
          <a:graphicData uri="http://schemas.openxmlformats.org/drawingml/2006/table">
            <a:tbl>
              <a:tblPr/>
              <a:tblGrid>
                <a:gridCol w="4238625"/>
                <a:gridCol w="6734175"/>
              </a:tblGrid>
              <a:tr h="611188">
                <a:tc>
                  <a:txBody>
                    <a:bodyPr/>
                    <a:lstStyle/>
                    <a:p>
                      <a:r>
                        <a:rPr sz="1725" b="1">
                          <a:solidFill>
                            <a:srgbClr val="FFFFFF"/>
                          </a:solidFill>
                          <a:latin typeface="DejaVu Sans"/>
                          <a:ea typeface="DejaVu Sans"/>
                          <a:cs typeface="DejaVu Sans"/>
                        </a:rPr>
                        <a:t>Technology</a:t>
                      </a:r>
                    </a:p>
                  </a:txBody>
                  <a:tcPr marL="91440" marR="91440" marT="45720" marB="45720">
                    <a:lnL w="9525">
                      <a:solidFill>
                        <a:srgbClr val="D3DEDD"/>
                      </a:solidFill>
                      <a:prstDash val="solid"/>
                    </a:lnL>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c>
                  <a:txBody>
                    <a:bodyPr/>
                    <a:lstStyle/>
                    <a:p>
                      <a:r>
                        <a:rPr sz="1725" b="1">
                          <a:solidFill>
                            <a:srgbClr val="FFFFFF"/>
                          </a:solidFill>
                          <a:latin typeface="DejaVu Sans"/>
                          <a:ea typeface="DejaVu Sans"/>
                          <a:cs typeface="DejaVu Sans"/>
                        </a:rPr>
                        <a:t>Purpose</a:t>
                      </a:r>
                    </a:p>
                  </a:txBody>
                  <a:tcPr marL="91440" marR="91440" marT="45720" marB="45720">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r>
              <a:tr h="611188">
                <a:tc>
                  <a:txBody>
                    <a:bodyPr/>
                    <a:lstStyle/>
                    <a:p>
                      <a:r>
                        <a:rPr sz="1650" b="0">
                          <a:solidFill>
                            <a:srgbClr val="102A36"/>
                          </a:solidFill>
                          <a:latin typeface="DejaVu Sans"/>
                          <a:ea typeface="DejaVu Sans"/>
                          <a:cs typeface="DejaVu Sans"/>
                        </a:rPr>
                        <a:t>Linux or Ubuntu VM</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Run the monitor and controlled process tests</a:t>
                      </a:r>
                    </a:p>
                  </a:txBody>
                  <a:tcPr marL="91440" marR="91440" marT="45720" marB="45720">
                    <a:lnR w="9525">
                      <a:solidFill>
                        <a:srgbClr val="D3DEDD"/>
                      </a:solidFill>
                      <a:prstDash val="solid"/>
                    </a:lnR>
                    <a:lnB w="9525">
                      <a:solidFill>
                        <a:srgbClr val="D3DEDD"/>
                      </a:solidFill>
                      <a:prstDash val="solid"/>
                    </a:lnB>
                    <a:solidFill>
                      <a:srgbClr val="FFFFFF"/>
                    </a:solidFill>
                  </a:tcPr>
                </a:tc>
              </a:tr>
              <a:tr h="611188">
                <a:tc>
                  <a:txBody>
                    <a:bodyPr/>
                    <a:lstStyle/>
                    <a:p>
                      <a:r>
                        <a:rPr sz="1650" b="0">
                          <a:solidFill>
                            <a:srgbClr val="102A36"/>
                          </a:solidFill>
                          <a:latin typeface="DejaVu Sans"/>
                          <a:ea typeface="DejaVu Sans"/>
                          <a:cs typeface="DejaVu Sans"/>
                        </a:rPr>
                        <a:t>Python 3 + psutil</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Collect and classify process information</a:t>
                      </a:r>
                    </a:p>
                  </a:txBody>
                  <a:tcPr marL="91440" marR="91440" marT="45720" marB="45720">
                    <a:lnR w="9525">
                      <a:solidFill>
                        <a:srgbClr val="D3DEDD"/>
                      </a:solidFill>
                      <a:prstDash val="solid"/>
                    </a:lnR>
                    <a:lnB w="9525">
                      <a:solidFill>
                        <a:srgbClr val="D3DEDD"/>
                      </a:solidFill>
                      <a:prstDash val="solid"/>
                    </a:lnB>
                    <a:solidFill>
                      <a:srgbClr val="E8EFED"/>
                    </a:solidFill>
                  </a:tcPr>
                </a:tc>
              </a:tr>
              <a:tr h="611188">
                <a:tc>
                  <a:txBody>
                    <a:bodyPr/>
                    <a:lstStyle/>
                    <a:p>
                      <a:r>
                        <a:rPr sz="1650" b="0">
                          <a:solidFill>
                            <a:srgbClr val="102A36"/>
                          </a:solidFill>
                          <a:latin typeface="DejaVu Sans"/>
                          <a:ea typeface="DejaVu Sans"/>
                          <a:cs typeface="DejaVu Sans"/>
                        </a:rPr>
                        <a:t>Tkinter + ttk.Treeview</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Display the process list and family tree</a:t>
                      </a:r>
                    </a:p>
                  </a:txBody>
                  <a:tcPr marL="91440" marR="91440" marT="45720" marB="45720">
                    <a:lnR w="9525">
                      <a:solidFill>
                        <a:srgbClr val="D3DEDD"/>
                      </a:solidFill>
                      <a:prstDash val="solid"/>
                    </a:lnR>
                    <a:lnB w="9525">
                      <a:solidFill>
                        <a:srgbClr val="D3DEDD"/>
                      </a:solidFill>
                      <a:prstDash val="solid"/>
                    </a:lnB>
                    <a:solidFill>
                      <a:srgbClr val="FFFFFF"/>
                    </a:solidFill>
                  </a:tcPr>
                </a:tc>
              </a:tr>
              <a:tr h="611188">
                <a:tc>
                  <a:txBody>
                    <a:bodyPr/>
                    <a:lstStyle/>
                    <a:p>
                      <a:r>
                        <a:rPr sz="1650" b="0">
                          <a:solidFill>
                            <a:srgbClr val="102A36"/>
                          </a:solidFill>
                          <a:latin typeface="DejaVu Sans"/>
                          <a:ea typeface="DejaVu Sans"/>
                          <a:cs typeface="DejaVu Sans"/>
                        </a:rPr>
                        <a:t>C or Python os.fork()</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Create bounded zombie and orphan scenarios</a:t>
                      </a:r>
                    </a:p>
                  </a:txBody>
                  <a:tcPr marL="91440" marR="91440" marT="45720" marB="45720">
                    <a:lnR w="9525">
                      <a:solidFill>
                        <a:srgbClr val="D3DEDD"/>
                      </a:solidFill>
                      <a:prstDash val="solid"/>
                    </a:lnR>
                    <a:lnB w="9525">
                      <a:solidFill>
                        <a:srgbClr val="D3DEDD"/>
                      </a:solidFill>
                      <a:prstDash val="solid"/>
                    </a:lnB>
                    <a:solidFill>
                      <a:srgbClr val="E8EFED"/>
                    </a:solidFill>
                  </a:tcPr>
                </a:tc>
              </a:tr>
              <a:tr h="611188">
                <a:tc>
                  <a:txBody>
                    <a:bodyPr/>
                    <a:lstStyle/>
                    <a:p>
                      <a:r>
                        <a:rPr sz="1650" b="0">
                          <a:solidFill>
                            <a:srgbClr val="102A36"/>
                          </a:solidFill>
                          <a:latin typeface="DejaVu Sans"/>
                          <a:ea typeface="DejaVu Sans"/>
                          <a:cs typeface="DejaVu Sans"/>
                        </a:rPr>
                        <a:t>GitHub + Markdown</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Store code, setup guide and project report</a:t>
                      </a:r>
                    </a:p>
                  </a:txBody>
                  <a:tcPr marL="91440" marR="91440" marT="45720" marB="45720">
                    <a:lnR w="9525">
                      <a:solidFill>
                        <a:srgbClr val="D3DEDD"/>
                      </a:solidFill>
                      <a:prstDash val="solid"/>
                    </a:lnR>
                    <a:lnB w="9525">
                      <a:solidFill>
                        <a:srgbClr val="D3DEDD"/>
                      </a:solidFill>
                      <a:prstDash val="solid"/>
                    </a:lnB>
                    <a:solidFill>
                      <a:srgbClr val="FFFFFF"/>
                    </a:solidFill>
                  </a:tcPr>
                </a:tc>
              </a:tr>
            </a:tbl>
          </a:graphicData>
        </a:graphic>
      </p:graphicFrame>
      <p:pic xmlns:a="http://schemas.openxmlformats.org/drawingml/2006/main" xmlns:r="http://schemas.openxmlformats.org/officeDocument/2006/relationships">
        <p:nvPicPr>
          <p:cNvPr id="6" name="Picture 5" descr="image.png"/>
          <p:cNvPicPr>
            <a:picLocks noChangeAspect="1"/>
          </p:cNvPicPr>
          <p:nvPr/>
        </p:nvPicPr>
        <p:blipFill>
          <a:blip r:embed="rId3"/>
          <a:stretch>
            <a:fillRect/>
          </a:stretch>
        </p:blipFill>
        <p:spPr>
          <a:xfrm>
            <a:off x="137160" y="91440"/>
            <a:ext cx="960120" cy="526398"/>
          </a:xfrm>
          <a:prstGeom prst="rect">
            <a:avLst/>
          </a:prstGeom>
        </p:spPr>
      </p:pic>
    </p:spTree>
    <p:extLst>
      <p:ext uri="{BB962C8B-B14F-4D97-AF65-F5344CB8AC3E}">
        <p14:creationId xmlns:p14="http://schemas.microsoft.com/office/powerpoint/2010/main" val="1478563249"/>
      </p:ext>
    </p:extLst>
  </p:cSld>
</p:sld>
</file>

<file path=ppt/slides/slide10.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E50B8F-2B2B-4FB8-9A59-8A9EEA4E70F6}"/>
              </a:ext>
            </a:extLst>
          </p:cNvPr>
          <p:cNvSpPr>
            <a:spLocks xmlns:a="http://schemas.openxmlformats.org/drawingml/2006/main" noGrp="1"/>
          </p:cNvSpPr>
          <p:nvPr/>
        </p:nvSpPr>
        <p:spPr>
          <a:xfrm xmlns:a="http://schemas.openxmlformats.org/drawingml/2006/main">
            <a:off x="609600" y="514350"/>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02A36"/>
                </a:solidFill>
                <a:latin typeface="DejaVu Sans"/>
                <a:ea typeface="DejaVu Sans"/>
                <a:cs typeface="DejaVu Sans"/>
              </a:defRPr>
            </a:defPPr>
            <a:lvl1pPr>
              <a:buNone/>
              <a:defRPr sz="3225" b="1">
                <a:solidFill>
                  <a:srgbClr val="102A36"/>
                </a:solidFill>
                <a:latin typeface="DejaVu Sans"/>
                <a:ea typeface="DejaVu Sans"/>
                <a:cs typeface="DejaVu Sans"/>
              </a:defRPr>
            </a:lvl1pPr>
            <a:lvl2pPr>
              <a:buNone/>
              <a:defRPr sz="3225" b="1">
                <a:solidFill>
                  <a:srgbClr val="102A36"/>
                </a:solidFill>
                <a:latin typeface="DejaVu Sans"/>
                <a:ea typeface="DejaVu Sans"/>
                <a:cs typeface="DejaVu Sans"/>
              </a:defRPr>
            </a:lvl2pPr>
            <a:lvl3pPr>
              <a:buNone/>
              <a:defRPr sz="3225" b="1">
                <a:solidFill>
                  <a:srgbClr val="102A36"/>
                </a:solidFill>
                <a:latin typeface="DejaVu Sans"/>
                <a:ea typeface="DejaVu Sans"/>
                <a:cs typeface="DejaVu Sans"/>
              </a:defRPr>
            </a:lvl3pPr>
            <a:lvl4pPr>
              <a:buNone/>
              <a:defRPr sz="3225" b="1">
                <a:solidFill>
                  <a:srgbClr val="102A36"/>
                </a:solidFill>
                <a:latin typeface="DejaVu Sans"/>
                <a:ea typeface="DejaVu Sans"/>
                <a:cs typeface="DejaVu Sans"/>
              </a:defRPr>
            </a:lvl4pPr>
            <a:lvl5pPr>
              <a:buNone/>
              <a:defRPr sz="3225" b="1">
                <a:solidFill>
                  <a:srgbClr val="102A36"/>
                </a:solidFill>
                <a:latin typeface="DejaVu Sans"/>
                <a:ea typeface="DejaVu Sans"/>
                <a:cs typeface="DejaVu Sans"/>
              </a:defRPr>
            </a:lvl5pPr>
            <a:lvl6pPr>
              <a:buNone/>
              <a:defRPr sz="3225" b="1">
                <a:solidFill>
                  <a:srgbClr val="102A36"/>
                </a:solidFill>
                <a:latin typeface="DejaVu Sans"/>
                <a:ea typeface="DejaVu Sans"/>
                <a:cs typeface="DejaVu Sans"/>
              </a:defRPr>
            </a:lvl6pPr>
            <a:lvl7pPr>
              <a:buNone/>
              <a:defRPr sz="3225" b="1">
                <a:solidFill>
                  <a:srgbClr val="102A36"/>
                </a:solidFill>
                <a:latin typeface="DejaVu Sans"/>
                <a:ea typeface="DejaVu Sans"/>
                <a:cs typeface="DejaVu Sans"/>
              </a:defRPr>
            </a:lvl7pPr>
            <a:lvl8pPr>
              <a:buNone/>
              <a:defRPr sz="3225" b="1">
                <a:solidFill>
                  <a:srgbClr val="102A36"/>
                </a:solidFill>
                <a:latin typeface="DejaVu Sans"/>
                <a:ea typeface="DejaVu Sans"/>
                <a:cs typeface="DejaVu Sans"/>
              </a:defRPr>
            </a:lvl8pPr>
            <a:lvl9pPr>
              <a:buNone/>
              <a:defRPr sz="3225" b="1">
                <a:solidFill>
                  <a:srgbClr val="102A36"/>
                </a:solidFill>
                <a:latin typeface="DejaVu Sans"/>
                <a:ea typeface="DejaVu Sans"/>
                <a:cs typeface="DejaVu Sans"/>
              </a:defRPr>
            </a:lvl9pPr>
          </a:lstStyle>
          <a:p xmlns:a="http://schemas.openxmlformats.org/drawingml/2006/main">
            <a:pPr>
              <a:buNone/>
              <a:defRPr sz="3225" b="1">
                <a:solidFill>
                  <a:srgbClr val="102A36"/>
                </a:solidFill>
                <a:latin typeface="DejaVu Sans"/>
                <a:ea typeface="DejaVu Sans"/>
                <a:cs typeface="DejaVu Sans"/>
              </a:defRPr>
            </a:pPr>
            <a:r>
              <a:rPr sz="3225" b="1">
                <a:solidFill>
                  <a:srgbClr val="102A36"/>
                </a:solidFill>
                <a:latin typeface="DejaVu Sans"/>
                <a:ea typeface="DejaVu Sans"/>
                <a:cs typeface="DejaVu Sans"/>
              </a:rPr>
              <a:t>Testing and validation</a:t>
            </a:r>
          </a:p>
        </p:txBody>
      </p:sp>
      <p:sp>
        <p:nvSpPr>
          <p:cNvPr id="2" name="">
            <a:extLst xmlns:a="http://schemas.openxmlformats.org/drawingml/2006/main">
              <a:ext uri="{FF2B5EF4-FFF2-40B4-BE49-F238E27FC236}">
                <a16:creationId xmlns:a16="http://schemas.microsoft.com/office/drawing/2014/main" id="{E690F40C-E81F-4F1B-B961-17D48DEA862F}"/>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50616A"/>
                </a:solidFill>
                <a:latin typeface="DejaVu Sans"/>
                <a:ea typeface="DejaVu Sans"/>
                <a:cs typeface="DejaVu Sans"/>
              </a:defRPr>
            </a:defPPr>
            <a:lvl1pPr>
              <a:buNone/>
              <a:defRPr sz="1800" b="0">
                <a:solidFill>
                  <a:srgbClr val="50616A"/>
                </a:solidFill>
                <a:latin typeface="DejaVu Sans"/>
                <a:ea typeface="DejaVu Sans"/>
                <a:cs typeface="DejaVu Sans"/>
              </a:defRPr>
            </a:lvl1pPr>
            <a:lvl2pPr>
              <a:buNone/>
              <a:defRPr sz="1800" b="0">
                <a:solidFill>
                  <a:srgbClr val="50616A"/>
                </a:solidFill>
                <a:latin typeface="DejaVu Sans"/>
                <a:ea typeface="DejaVu Sans"/>
                <a:cs typeface="DejaVu Sans"/>
              </a:defRPr>
            </a:lvl2pPr>
            <a:lvl3pPr>
              <a:buNone/>
              <a:defRPr sz="1800" b="0">
                <a:solidFill>
                  <a:srgbClr val="50616A"/>
                </a:solidFill>
                <a:latin typeface="DejaVu Sans"/>
                <a:ea typeface="DejaVu Sans"/>
                <a:cs typeface="DejaVu Sans"/>
              </a:defRPr>
            </a:lvl3pPr>
            <a:lvl4pPr>
              <a:buNone/>
              <a:defRPr sz="1800" b="0">
                <a:solidFill>
                  <a:srgbClr val="50616A"/>
                </a:solidFill>
                <a:latin typeface="DejaVu Sans"/>
                <a:ea typeface="DejaVu Sans"/>
                <a:cs typeface="DejaVu Sans"/>
              </a:defRPr>
            </a:lvl4pPr>
            <a:lvl5pPr>
              <a:buNone/>
              <a:defRPr sz="1800" b="0">
                <a:solidFill>
                  <a:srgbClr val="50616A"/>
                </a:solidFill>
                <a:latin typeface="DejaVu Sans"/>
                <a:ea typeface="DejaVu Sans"/>
                <a:cs typeface="DejaVu Sans"/>
              </a:defRPr>
            </a:lvl5pPr>
            <a:lvl6pPr>
              <a:buNone/>
              <a:defRPr sz="1800" b="0">
                <a:solidFill>
                  <a:srgbClr val="50616A"/>
                </a:solidFill>
                <a:latin typeface="DejaVu Sans"/>
                <a:ea typeface="DejaVu Sans"/>
                <a:cs typeface="DejaVu Sans"/>
              </a:defRPr>
            </a:lvl6pPr>
            <a:lvl7pPr>
              <a:buNone/>
              <a:defRPr sz="1800" b="0">
                <a:solidFill>
                  <a:srgbClr val="50616A"/>
                </a:solidFill>
                <a:latin typeface="DejaVu Sans"/>
                <a:ea typeface="DejaVu Sans"/>
                <a:cs typeface="DejaVu Sans"/>
              </a:defRPr>
            </a:lvl7pPr>
            <a:lvl8pPr>
              <a:buNone/>
              <a:defRPr sz="1800" b="0">
                <a:solidFill>
                  <a:srgbClr val="50616A"/>
                </a:solidFill>
                <a:latin typeface="DejaVu Sans"/>
                <a:ea typeface="DejaVu Sans"/>
                <a:cs typeface="DejaVu Sans"/>
              </a:defRPr>
            </a:lvl8pPr>
            <a:lvl9pPr>
              <a:buNone/>
              <a:defRPr sz="1800" b="0">
                <a:solidFill>
                  <a:srgbClr val="50616A"/>
                </a:solidFill>
                <a:latin typeface="DejaVu Sans"/>
                <a:ea typeface="DejaVu Sans"/>
                <a:cs typeface="DejaVu Sans"/>
              </a:defRPr>
            </a:lvl9pPr>
          </a:lstStyle>
          <a:p xmlns:a="http://schemas.openxmlformats.org/drawingml/2006/main">
            <a:pPr>
              <a:buNone/>
              <a:defRPr sz="1800" b="0">
                <a:solidFill>
                  <a:srgbClr val="50616A"/>
                </a:solidFill>
                <a:latin typeface="DejaVu Sans"/>
                <a:ea typeface="DejaVu Sans"/>
                <a:cs typeface="DejaVu Sans"/>
              </a:defRPr>
            </a:pPr>
            <a:r>
              <a:rPr sz="1800" b="0">
                <a:solidFill>
                  <a:srgbClr val="50616A"/>
                </a:solidFill>
                <a:latin typeface="DejaVu Sans"/>
                <a:ea typeface="DejaVu Sans"/>
                <a:cs typeface="DejaVu Sans"/>
              </a:rPr>
              <a:t>Test cases and expected outcomes, pending execution on the prototype.</a:t>
            </a:r>
          </a:p>
        </p:txBody>
      </p:sp>
      <p:sp>
        <p:nvSpPr>
          <p:cNvPr id="3" name="">
            <a:extLst xmlns:a="http://schemas.openxmlformats.org/drawingml/2006/main">
              <a:ext uri="{FF2B5EF4-FFF2-40B4-BE49-F238E27FC236}">
                <a16:creationId xmlns:a16="http://schemas.microsoft.com/office/drawing/2014/main" id="{7A47904C-FDC7-4E9D-9334-510BDC117052}"/>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0616A"/>
                </a:solidFill>
                <a:latin typeface="DejaVu Sans"/>
                <a:ea typeface="DejaVu Sans"/>
                <a:cs typeface="DejaVu Sans"/>
              </a:defRPr>
            </a:defPPr>
            <a:lvl1pPr>
              <a:buNone/>
              <a:defRPr sz="1350" b="0">
                <a:solidFill>
                  <a:srgbClr val="50616A"/>
                </a:solidFill>
                <a:latin typeface="DejaVu Sans"/>
                <a:ea typeface="DejaVu Sans"/>
                <a:cs typeface="DejaVu Sans"/>
              </a:defRPr>
            </a:lvl1pPr>
            <a:lvl2pPr>
              <a:buNone/>
              <a:defRPr sz="1350" b="0">
                <a:solidFill>
                  <a:srgbClr val="50616A"/>
                </a:solidFill>
                <a:latin typeface="DejaVu Sans"/>
                <a:ea typeface="DejaVu Sans"/>
                <a:cs typeface="DejaVu Sans"/>
              </a:defRPr>
            </a:lvl2pPr>
            <a:lvl3pPr>
              <a:buNone/>
              <a:defRPr sz="1350" b="0">
                <a:solidFill>
                  <a:srgbClr val="50616A"/>
                </a:solidFill>
                <a:latin typeface="DejaVu Sans"/>
                <a:ea typeface="DejaVu Sans"/>
                <a:cs typeface="DejaVu Sans"/>
              </a:defRPr>
            </a:lvl3pPr>
            <a:lvl4pPr>
              <a:buNone/>
              <a:defRPr sz="1350" b="0">
                <a:solidFill>
                  <a:srgbClr val="50616A"/>
                </a:solidFill>
                <a:latin typeface="DejaVu Sans"/>
                <a:ea typeface="DejaVu Sans"/>
                <a:cs typeface="DejaVu Sans"/>
              </a:defRPr>
            </a:lvl4pPr>
            <a:lvl5pPr>
              <a:buNone/>
              <a:defRPr sz="1350" b="0">
                <a:solidFill>
                  <a:srgbClr val="50616A"/>
                </a:solidFill>
                <a:latin typeface="DejaVu Sans"/>
                <a:ea typeface="DejaVu Sans"/>
                <a:cs typeface="DejaVu Sans"/>
              </a:defRPr>
            </a:lvl5pPr>
            <a:lvl6pPr>
              <a:buNone/>
              <a:defRPr sz="1350" b="0">
                <a:solidFill>
                  <a:srgbClr val="50616A"/>
                </a:solidFill>
                <a:latin typeface="DejaVu Sans"/>
                <a:ea typeface="DejaVu Sans"/>
                <a:cs typeface="DejaVu Sans"/>
              </a:defRPr>
            </a:lvl6pPr>
            <a:lvl7pPr>
              <a:buNone/>
              <a:defRPr sz="1350" b="0">
                <a:solidFill>
                  <a:srgbClr val="50616A"/>
                </a:solidFill>
                <a:latin typeface="DejaVu Sans"/>
                <a:ea typeface="DejaVu Sans"/>
                <a:cs typeface="DejaVu Sans"/>
              </a:defRPr>
            </a:lvl7pPr>
            <a:lvl8pPr>
              <a:buNone/>
              <a:defRPr sz="1350" b="0">
                <a:solidFill>
                  <a:srgbClr val="50616A"/>
                </a:solidFill>
                <a:latin typeface="DejaVu Sans"/>
                <a:ea typeface="DejaVu Sans"/>
                <a:cs typeface="DejaVu Sans"/>
              </a:defRPr>
            </a:lvl8pPr>
            <a:lvl9pPr>
              <a:buNone/>
              <a:defRPr sz="1350" b="0">
                <a:solidFill>
                  <a:srgbClr val="50616A"/>
                </a:solidFill>
                <a:latin typeface="DejaVu Sans"/>
                <a:ea typeface="DejaVu Sans"/>
                <a:cs typeface="DejaVu Sans"/>
              </a:defRPr>
            </a:lvl9pPr>
          </a:lstStyle>
          <a:p xmlns:a="http://schemas.openxmlformats.org/drawingml/2006/main">
            <a:pPr>
              <a:buNone/>
              <a:defRPr sz="1350" b="0">
                <a:solidFill>
                  <a:srgbClr val="50616A"/>
                </a:solidFill>
                <a:latin typeface="DejaVu Sans"/>
                <a:ea typeface="DejaVu Sans"/>
                <a:cs typeface="DejaVu Sans"/>
              </a:defRPr>
            </a:pPr>
            <a:r>
              <a:rPr sz="1350" b="0">
                <a:solidFill>
                  <a:srgbClr val="50616A"/>
                </a:solidFill>
                <a:latin typeface="DejaVu Sans"/>
                <a:ea typeface="DejaVu Sans"/>
                <a:cs typeface="DejaVu Sans"/>
              </a:rPr>
              <a:t>10</a:t>
            </a:r>
          </a:p>
        </p:txBody>
      </p:sp>
      <p:graphicFrame>
        <p:nvGraphicFramePr>
          <p:cNvPr id="4" name="">
            <a:extLst xmlns:a="http://schemas.openxmlformats.org/drawingml/2006/main">
              <a:ext uri="{FF2B5EF4-FFF2-40B4-BE49-F238E27FC236}">
                <a16:creationId xmlns:a16="http://schemas.microsoft.com/office/drawing/2014/main" id="{106647CB-99D4-4FA8-82F2-EBB6406D6C1A}"/>
              </a:ext>
            </a:extLst>
          </p:cNvPr>
          <p:cNvGraphicFramePr/>
          <p:nvPr/>
        </p:nvGraphicFramePr>
        <p:xfrm>
          <a:off xmlns:a="http://schemas.openxmlformats.org/drawingml/2006/main" x="609600" y="2133600"/>
          <a:ext xmlns:a="http://schemas.openxmlformats.org/drawingml/2006/main" cx="10972800" cy="3667125"/>
        </p:xfrm>
        <a:graphic xmlns:a="http://schemas.openxmlformats.org/drawingml/2006/main">
          <a:graphicData uri="http://schemas.openxmlformats.org/drawingml/2006/table">
            <a:tbl>
              <a:tblPr/>
              <a:tblGrid>
                <a:gridCol w="4238625"/>
                <a:gridCol w="6734175"/>
              </a:tblGrid>
              <a:tr h="611188">
                <a:tc>
                  <a:txBody>
                    <a:bodyPr/>
                    <a:lstStyle/>
                    <a:p>
                      <a:r>
                        <a:rPr sz="1725" b="1">
                          <a:solidFill>
                            <a:srgbClr val="FFFFFF"/>
                          </a:solidFill>
                          <a:latin typeface="DejaVu Sans"/>
                          <a:ea typeface="DejaVu Sans"/>
                          <a:cs typeface="DejaVu Sans"/>
                        </a:rPr>
                        <a:t>Scenario</a:t>
                      </a:r>
                    </a:p>
                  </a:txBody>
                  <a:tcPr marL="91440" marR="91440" marT="45720" marB="45720">
                    <a:lnL w="9525">
                      <a:solidFill>
                        <a:srgbClr val="D3DEDD"/>
                      </a:solidFill>
                      <a:prstDash val="solid"/>
                    </a:lnL>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c>
                  <a:txBody>
                    <a:bodyPr/>
                    <a:lstStyle/>
                    <a:p>
                      <a:r>
                        <a:rPr sz="1725" b="1">
                          <a:solidFill>
                            <a:srgbClr val="FFFFFF"/>
                          </a:solidFill>
                          <a:latin typeface="DejaVu Sans"/>
                          <a:ea typeface="DejaVu Sans"/>
                          <a:cs typeface="DejaVu Sans"/>
                        </a:rPr>
                        <a:t>Expected outcome</a:t>
                      </a:r>
                    </a:p>
                  </a:txBody>
                  <a:tcPr marL="91440" marR="91440" marT="45720" marB="45720">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r>
              <a:tr h="611188">
                <a:tc>
                  <a:txBody>
                    <a:bodyPr/>
                    <a:lstStyle/>
                    <a:p>
                      <a:r>
                        <a:rPr sz="1650" b="0">
                          <a:solidFill>
                            <a:srgbClr val="102A36"/>
                          </a:solidFill>
                          <a:latin typeface="DejaVu Sans"/>
                          <a:ea typeface="DejaVu Sans"/>
                          <a:cs typeface="DejaVu Sans"/>
                        </a:rPr>
                        <a:t>Normal child, parent waits</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No persistent zombie flag</a:t>
                      </a:r>
                    </a:p>
                  </a:txBody>
                  <a:tcPr marL="91440" marR="91440" marT="45720" marB="45720">
                    <a:lnR w="9525">
                      <a:solidFill>
                        <a:srgbClr val="D3DEDD"/>
                      </a:solidFill>
                      <a:prstDash val="solid"/>
                    </a:lnR>
                    <a:lnB w="9525">
                      <a:solidFill>
                        <a:srgbClr val="D3DEDD"/>
                      </a:solidFill>
                      <a:prstDash val="solid"/>
                    </a:lnB>
                    <a:solidFill>
                      <a:srgbClr val="FFFFFF"/>
                    </a:solidFill>
                  </a:tcPr>
                </a:tc>
              </a:tr>
              <a:tr h="611188">
                <a:tc>
                  <a:txBody>
                    <a:bodyPr/>
                    <a:lstStyle/>
                    <a:p>
                      <a:r>
                        <a:rPr sz="1650" b="0">
                          <a:solidFill>
                            <a:srgbClr val="102A36"/>
                          </a:solidFill>
                          <a:latin typeface="DejaVu Sans"/>
                          <a:ea typeface="DejaVu Sans"/>
                          <a:cs typeface="DejaVu Sans"/>
                        </a:rPr>
                        <a:t>Child exits, parent delays wait</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Zombie appears until parent collects status</a:t>
                      </a:r>
                    </a:p>
                  </a:txBody>
                  <a:tcPr marL="91440" marR="91440" marT="45720" marB="45720">
                    <a:lnR w="9525">
                      <a:solidFill>
                        <a:srgbClr val="D3DEDD"/>
                      </a:solidFill>
                      <a:prstDash val="solid"/>
                    </a:lnR>
                    <a:lnB w="9525">
                      <a:solidFill>
                        <a:srgbClr val="D3DEDD"/>
                      </a:solidFill>
                      <a:prstDash val="solid"/>
                    </a:lnB>
                    <a:solidFill>
                      <a:srgbClr val="E8EFED"/>
                    </a:solidFill>
                  </a:tcPr>
                </a:tc>
              </a:tr>
              <a:tr h="611188">
                <a:tc>
                  <a:txBody>
                    <a:bodyPr/>
                    <a:lstStyle/>
                    <a:p>
                      <a:r>
                        <a:rPr sz="1650" b="0">
                          <a:solidFill>
                            <a:srgbClr val="102A36"/>
                          </a:solidFill>
                          <a:latin typeface="DejaVu Sans"/>
                          <a:ea typeface="DejaVu Sans"/>
                          <a:cs typeface="DejaVu Sans"/>
                        </a:rPr>
                        <a:t>Parent exits before child</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Parent history records the adoption</a:t>
                      </a:r>
                    </a:p>
                  </a:txBody>
                  <a:tcPr marL="91440" marR="91440" marT="45720" marB="45720">
                    <a:lnR w="9525">
                      <a:solidFill>
                        <a:srgbClr val="D3DEDD"/>
                      </a:solidFill>
                      <a:prstDash val="solid"/>
                    </a:lnR>
                    <a:lnB w="9525">
                      <a:solidFill>
                        <a:srgbClr val="D3DEDD"/>
                      </a:solidFill>
                      <a:prstDash val="solid"/>
                    </a:lnB>
                    <a:solidFill>
                      <a:srgbClr val="FFFFFF"/>
                    </a:solidFill>
                  </a:tcPr>
                </a:tc>
              </a:tr>
              <a:tr h="611188">
                <a:tc>
                  <a:txBody>
                    <a:bodyPr/>
                    <a:lstStyle/>
                    <a:p>
                      <a:r>
                        <a:rPr sz="1650" b="0">
                          <a:solidFill>
                            <a:srgbClr val="102A36"/>
                          </a:solidFill>
                          <a:latin typeface="DejaVu Sans"/>
                          <a:ea typeface="DejaVu Sans"/>
                          <a:cs typeface="DejaVu Sans"/>
                        </a:rPr>
                        <a:t>Service starts under PID 1</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No confirmed orphan claim from PPID alone</a:t>
                      </a:r>
                    </a:p>
                  </a:txBody>
                  <a:tcPr marL="91440" marR="91440" marT="45720" marB="45720">
                    <a:lnR w="9525">
                      <a:solidFill>
                        <a:srgbClr val="D3DEDD"/>
                      </a:solidFill>
                      <a:prstDash val="solid"/>
                    </a:lnR>
                    <a:lnB w="9525">
                      <a:solidFill>
                        <a:srgbClr val="D3DEDD"/>
                      </a:solidFill>
                      <a:prstDash val="solid"/>
                    </a:lnB>
                    <a:solidFill>
                      <a:srgbClr val="E8EFED"/>
                    </a:solidFill>
                  </a:tcPr>
                </a:tc>
              </a:tr>
              <a:tr h="611188">
                <a:tc>
                  <a:txBody>
                    <a:bodyPr/>
                    <a:lstStyle/>
                    <a:p>
                      <a:r>
                        <a:rPr sz="1650" b="0">
                          <a:solidFill>
                            <a:srgbClr val="102A36"/>
                          </a:solidFill>
                          <a:latin typeface="DejaVu Sans"/>
                          <a:ea typeface="DejaVu Sans"/>
                          <a:cs typeface="DejaVu Sans"/>
                        </a:rPr>
                        <a:t>Process exits during scan</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Monitor continues without crashing</a:t>
                      </a:r>
                    </a:p>
                  </a:txBody>
                  <a:tcPr marL="91440" marR="91440" marT="45720" marB="45720">
                    <a:lnR w="9525">
                      <a:solidFill>
                        <a:srgbClr val="D3DEDD"/>
                      </a:solidFill>
                      <a:prstDash val="solid"/>
                    </a:lnR>
                    <a:lnB w="9525">
                      <a:solidFill>
                        <a:srgbClr val="D3DEDD"/>
                      </a:solidFill>
                      <a:prstDash val="solid"/>
                    </a:lnB>
                    <a:solidFill>
                      <a:srgbClr val="FFFFFF"/>
                    </a:solidFill>
                  </a:tcPr>
                </a:tc>
              </a:tr>
            </a:tbl>
          </a:graphicData>
        </a:graphic>
      </p:graphicFrame>
      <p:pic xmlns:a="http://schemas.openxmlformats.org/drawingml/2006/main" xmlns:r="http://schemas.openxmlformats.org/officeDocument/2006/relationships">
        <p:nvPicPr>
          <p:cNvPr id="6" name="Picture 5" descr="image.png"/>
          <p:cNvPicPr>
            <a:picLocks noChangeAspect="1"/>
          </p:cNvPicPr>
          <p:nvPr/>
        </p:nvPicPr>
        <p:blipFill>
          <a:blip r:embed="rId3"/>
          <a:stretch>
            <a:fillRect/>
          </a:stretch>
        </p:blipFill>
        <p:spPr>
          <a:xfrm>
            <a:off x="137160" y="91440"/>
            <a:ext cx="960120" cy="526398"/>
          </a:xfrm>
          <a:prstGeom prst="rect">
            <a:avLst/>
          </a:prstGeom>
        </p:spPr>
      </p:pic>
    </p:spTree>
    <p:extLst>
      <p:ext uri="{BB962C8B-B14F-4D97-AF65-F5344CB8AC3E}">
        <p14:creationId xmlns:p14="http://schemas.microsoft.com/office/powerpoint/2010/main" val="791345765"/>
      </p:ext>
    </p:extLst>
  </p:cSld>
</p:sld>
</file>

<file path=ppt/slides/slide11.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56B222-6F43-4DDB-8E7F-1792A914FBBD}"/>
              </a:ext>
            </a:extLst>
          </p:cNvPr>
          <p:cNvSpPr>
            <a:spLocks xmlns:a="http://schemas.openxmlformats.org/drawingml/2006/main" noGrp="1"/>
          </p:cNvSpPr>
          <p:nvPr/>
        </p:nvSpPr>
        <p:spPr>
          <a:xfrm xmlns:a="http://schemas.openxmlformats.org/drawingml/2006/main">
            <a:off x="609600" y="514350"/>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02A36"/>
                </a:solidFill>
                <a:latin typeface="DejaVu Sans"/>
                <a:ea typeface="DejaVu Sans"/>
                <a:cs typeface="DejaVu Sans"/>
              </a:defRPr>
            </a:defPPr>
            <a:lvl1pPr>
              <a:buNone/>
              <a:defRPr sz="3225" b="1">
                <a:solidFill>
                  <a:srgbClr val="102A36"/>
                </a:solidFill>
                <a:latin typeface="DejaVu Sans"/>
                <a:ea typeface="DejaVu Sans"/>
                <a:cs typeface="DejaVu Sans"/>
              </a:defRPr>
            </a:lvl1pPr>
            <a:lvl2pPr>
              <a:buNone/>
              <a:defRPr sz="3225" b="1">
                <a:solidFill>
                  <a:srgbClr val="102A36"/>
                </a:solidFill>
                <a:latin typeface="DejaVu Sans"/>
                <a:ea typeface="DejaVu Sans"/>
                <a:cs typeface="DejaVu Sans"/>
              </a:defRPr>
            </a:lvl2pPr>
            <a:lvl3pPr>
              <a:buNone/>
              <a:defRPr sz="3225" b="1">
                <a:solidFill>
                  <a:srgbClr val="102A36"/>
                </a:solidFill>
                <a:latin typeface="DejaVu Sans"/>
                <a:ea typeface="DejaVu Sans"/>
                <a:cs typeface="DejaVu Sans"/>
              </a:defRPr>
            </a:lvl3pPr>
            <a:lvl4pPr>
              <a:buNone/>
              <a:defRPr sz="3225" b="1">
                <a:solidFill>
                  <a:srgbClr val="102A36"/>
                </a:solidFill>
                <a:latin typeface="DejaVu Sans"/>
                <a:ea typeface="DejaVu Sans"/>
                <a:cs typeface="DejaVu Sans"/>
              </a:defRPr>
            </a:lvl4pPr>
            <a:lvl5pPr>
              <a:buNone/>
              <a:defRPr sz="3225" b="1">
                <a:solidFill>
                  <a:srgbClr val="102A36"/>
                </a:solidFill>
                <a:latin typeface="DejaVu Sans"/>
                <a:ea typeface="DejaVu Sans"/>
                <a:cs typeface="DejaVu Sans"/>
              </a:defRPr>
            </a:lvl5pPr>
            <a:lvl6pPr>
              <a:buNone/>
              <a:defRPr sz="3225" b="1">
                <a:solidFill>
                  <a:srgbClr val="102A36"/>
                </a:solidFill>
                <a:latin typeface="DejaVu Sans"/>
                <a:ea typeface="DejaVu Sans"/>
                <a:cs typeface="DejaVu Sans"/>
              </a:defRPr>
            </a:lvl6pPr>
            <a:lvl7pPr>
              <a:buNone/>
              <a:defRPr sz="3225" b="1">
                <a:solidFill>
                  <a:srgbClr val="102A36"/>
                </a:solidFill>
                <a:latin typeface="DejaVu Sans"/>
                <a:ea typeface="DejaVu Sans"/>
                <a:cs typeface="DejaVu Sans"/>
              </a:defRPr>
            </a:lvl7pPr>
            <a:lvl8pPr>
              <a:buNone/>
              <a:defRPr sz="3225" b="1">
                <a:solidFill>
                  <a:srgbClr val="102A36"/>
                </a:solidFill>
                <a:latin typeface="DejaVu Sans"/>
                <a:ea typeface="DejaVu Sans"/>
                <a:cs typeface="DejaVu Sans"/>
              </a:defRPr>
            </a:lvl8pPr>
            <a:lvl9pPr>
              <a:buNone/>
              <a:defRPr sz="3225" b="1">
                <a:solidFill>
                  <a:srgbClr val="102A36"/>
                </a:solidFill>
                <a:latin typeface="DejaVu Sans"/>
                <a:ea typeface="DejaVu Sans"/>
                <a:cs typeface="DejaVu Sans"/>
              </a:defRPr>
            </a:lvl9pPr>
          </a:lstStyle>
          <a:p xmlns:a="http://schemas.openxmlformats.org/drawingml/2006/main">
            <a:pPr>
              <a:buNone/>
              <a:defRPr sz="3225" b="1">
                <a:solidFill>
                  <a:srgbClr val="102A36"/>
                </a:solidFill>
                <a:latin typeface="DejaVu Sans"/>
                <a:ea typeface="DejaVu Sans"/>
                <a:cs typeface="DejaVu Sans"/>
              </a:defRPr>
            </a:pPr>
            <a:r>
              <a:rPr sz="3225" b="1">
                <a:solidFill>
                  <a:srgbClr val="102A36"/>
                </a:solidFill>
                <a:latin typeface="DejaVu Sans"/>
                <a:ea typeface="DejaVu Sans"/>
                <a:cs typeface="DejaVu Sans"/>
              </a:rPr>
              <a:t>Expected display and results</a:t>
            </a:r>
          </a:p>
        </p:txBody>
      </p:sp>
      <p:sp>
        <p:nvSpPr>
          <p:cNvPr id="2" name="">
            <a:extLst xmlns:a="http://schemas.openxmlformats.org/drawingml/2006/main">
              <a:ext uri="{FF2B5EF4-FFF2-40B4-BE49-F238E27FC236}">
                <a16:creationId xmlns:a16="http://schemas.microsoft.com/office/drawing/2014/main" id="{46EF781B-EEB8-4C9D-B737-67D6CE00366E}"/>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50616A"/>
                </a:solidFill>
                <a:latin typeface="DejaVu Sans"/>
                <a:ea typeface="DejaVu Sans"/>
                <a:cs typeface="DejaVu Sans"/>
              </a:defRPr>
            </a:defPPr>
            <a:lvl1pPr>
              <a:buNone/>
              <a:defRPr sz="1800" b="0">
                <a:solidFill>
                  <a:srgbClr val="50616A"/>
                </a:solidFill>
                <a:latin typeface="DejaVu Sans"/>
                <a:ea typeface="DejaVu Sans"/>
                <a:cs typeface="DejaVu Sans"/>
              </a:defRPr>
            </a:lvl1pPr>
            <a:lvl2pPr>
              <a:buNone/>
              <a:defRPr sz="1800" b="0">
                <a:solidFill>
                  <a:srgbClr val="50616A"/>
                </a:solidFill>
                <a:latin typeface="DejaVu Sans"/>
                <a:ea typeface="DejaVu Sans"/>
                <a:cs typeface="DejaVu Sans"/>
              </a:defRPr>
            </a:lvl2pPr>
            <a:lvl3pPr>
              <a:buNone/>
              <a:defRPr sz="1800" b="0">
                <a:solidFill>
                  <a:srgbClr val="50616A"/>
                </a:solidFill>
                <a:latin typeface="DejaVu Sans"/>
                <a:ea typeface="DejaVu Sans"/>
                <a:cs typeface="DejaVu Sans"/>
              </a:defRPr>
            </a:lvl3pPr>
            <a:lvl4pPr>
              <a:buNone/>
              <a:defRPr sz="1800" b="0">
                <a:solidFill>
                  <a:srgbClr val="50616A"/>
                </a:solidFill>
                <a:latin typeface="DejaVu Sans"/>
                <a:ea typeface="DejaVu Sans"/>
                <a:cs typeface="DejaVu Sans"/>
              </a:defRPr>
            </a:lvl4pPr>
            <a:lvl5pPr>
              <a:buNone/>
              <a:defRPr sz="1800" b="0">
                <a:solidFill>
                  <a:srgbClr val="50616A"/>
                </a:solidFill>
                <a:latin typeface="DejaVu Sans"/>
                <a:ea typeface="DejaVu Sans"/>
                <a:cs typeface="DejaVu Sans"/>
              </a:defRPr>
            </a:lvl5pPr>
            <a:lvl6pPr>
              <a:buNone/>
              <a:defRPr sz="1800" b="0">
                <a:solidFill>
                  <a:srgbClr val="50616A"/>
                </a:solidFill>
                <a:latin typeface="DejaVu Sans"/>
                <a:ea typeface="DejaVu Sans"/>
                <a:cs typeface="DejaVu Sans"/>
              </a:defRPr>
            </a:lvl6pPr>
            <a:lvl7pPr>
              <a:buNone/>
              <a:defRPr sz="1800" b="0">
                <a:solidFill>
                  <a:srgbClr val="50616A"/>
                </a:solidFill>
                <a:latin typeface="DejaVu Sans"/>
                <a:ea typeface="DejaVu Sans"/>
                <a:cs typeface="DejaVu Sans"/>
              </a:defRPr>
            </a:lvl7pPr>
            <a:lvl8pPr>
              <a:buNone/>
              <a:defRPr sz="1800" b="0">
                <a:solidFill>
                  <a:srgbClr val="50616A"/>
                </a:solidFill>
                <a:latin typeface="DejaVu Sans"/>
                <a:ea typeface="DejaVu Sans"/>
                <a:cs typeface="DejaVu Sans"/>
              </a:defRPr>
            </a:lvl8pPr>
            <a:lvl9pPr>
              <a:buNone/>
              <a:defRPr sz="1800" b="0">
                <a:solidFill>
                  <a:srgbClr val="50616A"/>
                </a:solidFill>
                <a:latin typeface="DejaVu Sans"/>
                <a:ea typeface="DejaVu Sans"/>
                <a:cs typeface="DejaVu Sans"/>
              </a:defRPr>
            </a:lvl9pPr>
          </a:lstStyle>
          <a:p xmlns:a="http://schemas.openxmlformats.org/drawingml/2006/main">
            <a:pPr>
              <a:buNone/>
              <a:defRPr sz="1800" b="0">
                <a:solidFill>
                  <a:srgbClr val="50616A"/>
                </a:solidFill>
                <a:latin typeface="DejaVu Sans"/>
                <a:ea typeface="DejaVu Sans"/>
                <a:cs typeface="DejaVu Sans"/>
              </a:defRPr>
            </a:pPr>
            <a:r>
              <a:rPr sz="1800" b="0">
                <a:solidFill>
                  <a:srgbClr val="50616A"/>
                </a:solidFill>
                <a:latin typeface="DejaVu Sans"/>
                <a:ea typeface="DejaVu Sans"/>
                <a:cs typeface="DejaVu Sans"/>
              </a:rPr>
              <a:t>Illustrative process data for explaining the output, not a live capture.</a:t>
            </a:r>
          </a:p>
        </p:txBody>
      </p:sp>
      <p:sp>
        <p:nvSpPr>
          <p:cNvPr id="3" name="">
            <a:extLst xmlns:a="http://schemas.openxmlformats.org/drawingml/2006/main">
              <a:ext uri="{FF2B5EF4-FFF2-40B4-BE49-F238E27FC236}">
                <a16:creationId xmlns:a16="http://schemas.microsoft.com/office/drawing/2014/main" id="{05A84A6D-8ECB-4E52-B1BF-5749CA7E695C}"/>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0616A"/>
                </a:solidFill>
                <a:latin typeface="DejaVu Sans"/>
                <a:ea typeface="DejaVu Sans"/>
                <a:cs typeface="DejaVu Sans"/>
              </a:defRPr>
            </a:defPPr>
            <a:lvl1pPr>
              <a:buNone/>
              <a:defRPr sz="1350" b="0">
                <a:solidFill>
                  <a:srgbClr val="50616A"/>
                </a:solidFill>
                <a:latin typeface="DejaVu Sans"/>
                <a:ea typeface="DejaVu Sans"/>
                <a:cs typeface="DejaVu Sans"/>
              </a:defRPr>
            </a:lvl1pPr>
            <a:lvl2pPr>
              <a:buNone/>
              <a:defRPr sz="1350" b="0">
                <a:solidFill>
                  <a:srgbClr val="50616A"/>
                </a:solidFill>
                <a:latin typeface="DejaVu Sans"/>
                <a:ea typeface="DejaVu Sans"/>
                <a:cs typeface="DejaVu Sans"/>
              </a:defRPr>
            </a:lvl2pPr>
            <a:lvl3pPr>
              <a:buNone/>
              <a:defRPr sz="1350" b="0">
                <a:solidFill>
                  <a:srgbClr val="50616A"/>
                </a:solidFill>
                <a:latin typeface="DejaVu Sans"/>
                <a:ea typeface="DejaVu Sans"/>
                <a:cs typeface="DejaVu Sans"/>
              </a:defRPr>
            </a:lvl3pPr>
            <a:lvl4pPr>
              <a:buNone/>
              <a:defRPr sz="1350" b="0">
                <a:solidFill>
                  <a:srgbClr val="50616A"/>
                </a:solidFill>
                <a:latin typeface="DejaVu Sans"/>
                <a:ea typeface="DejaVu Sans"/>
                <a:cs typeface="DejaVu Sans"/>
              </a:defRPr>
            </a:lvl4pPr>
            <a:lvl5pPr>
              <a:buNone/>
              <a:defRPr sz="1350" b="0">
                <a:solidFill>
                  <a:srgbClr val="50616A"/>
                </a:solidFill>
                <a:latin typeface="DejaVu Sans"/>
                <a:ea typeface="DejaVu Sans"/>
                <a:cs typeface="DejaVu Sans"/>
              </a:defRPr>
            </a:lvl5pPr>
            <a:lvl6pPr>
              <a:buNone/>
              <a:defRPr sz="1350" b="0">
                <a:solidFill>
                  <a:srgbClr val="50616A"/>
                </a:solidFill>
                <a:latin typeface="DejaVu Sans"/>
                <a:ea typeface="DejaVu Sans"/>
                <a:cs typeface="DejaVu Sans"/>
              </a:defRPr>
            </a:lvl6pPr>
            <a:lvl7pPr>
              <a:buNone/>
              <a:defRPr sz="1350" b="0">
                <a:solidFill>
                  <a:srgbClr val="50616A"/>
                </a:solidFill>
                <a:latin typeface="DejaVu Sans"/>
                <a:ea typeface="DejaVu Sans"/>
                <a:cs typeface="DejaVu Sans"/>
              </a:defRPr>
            </a:lvl7pPr>
            <a:lvl8pPr>
              <a:buNone/>
              <a:defRPr sz="1350" b="0">
                <a:solidFill>
                  <a:srgbClr val="50616A"/>
                </a:solidFill>
                <a:latin typeface="DejaVu Sans"/>
                <a:ea typeface="DejaVu Sans"/>
                <a:cs typeface="DejaVu Sans"/>
              </a:defRPr>
            </a:lvl8pPr>
            <a:lvl9pPr>
              <a:buNone/>
              <a:defRPr sz="1350" b="0">
                <a:solidFill>
                  <a:srgbClr val="50616A"/>
                </a:solidFill>
                <a:latin typeface="DejaVu Sans"/>
                <a:ea typeface="DejaVu Sans"/>
                <a:cs typeface="DejaVu Sans"/>
              </a:defRPr>
            </a:lvl9pPr>
          </a:lstStyle>
          <a:p xmlns:a="http://schemas.openxmlformats.org/drawingml/2006/main">
            <a:pPr>
              <a:buNone/>
              <a:defRPr sz="1350" b="0">
                <a:solidFill>
                  <a:srgbClr val="50616A"/>
                </a:solidFill>
                <a:latin typeface="DejaVu Sans"/>
                <a:ea typeface="DejaVu Sans"/>
                <a:cs typeface="DejaVu Sans"/>
              </a:defRPr>
            </a:pPr>
            <a:r>
              <a:rPr sz="1350" b="0">
                <a:solidFill>
                  <a:srgbClr val="50616A"/>
                </a:solidFill>
                <a:latin typeface="DejaVu Sans"/>
                <a:ea typeface="DejaVu Sans"/>
                <a:cs typeface="DejaVu Sans"/>
              </a:rPr>
              <a:t>11</a:t>
            </a:r>
          </a:p>
        </p:txBody>
      </p:sp>
      <p:graphicFrame>
        <p:nvGraphicFramePr>
          <p:cNvPr id="4" name="">
            <a:extLst xmlns:a="http://schemas.openxmlformats.org/drawingml/2006/main">
              <a:ext uri="{FF2B5EF4-FFF2-40B4-BE49-F238E27FC236}">
                <a16:creationId xmlns:a16="http://schemas.microsoft.com/office/drawing/2014/main" id="{713D467C-CFD7-4EC3-B790-793235650D17}"/>
              </a:ext>
            </a:extLst>
          </p:cNvPr>
          <p:cNvGraphicFramePr/>
          <p:nvPr/>
        </p:nvGraphicFramePr>
        <p:xfrm>
          <a:off xmlns:a="http://schemas.openxmlformats.org/drawingml/2006/main" x="609600" y="2209800"/>
          <a:ext xmlns:a="http://schemas.openxmlformats.org/drawingml/2006/main" cx="10972800" cy="2686050"/>
        </p:xfrm>
        <a:graphic xmlns:a="http://schemas.openxmlformats.org/drawingml/2006/main">
          <a:graphicData uri="http://schemas.openxmlformats.org/drawingml/2006/table">
            <a:tbl>
              <a:tblPr/>
              <a:tblGrid>
                <a:gridCol w="1238250"/>
                <a:gridCol w="1238250"/>
                <a:gridCol w="3619500"/>
                <a:gridCol w="4876800"/>
              </a:tblGrid>
              <a:tr h="671513">
                <a:tc>
                  <a:txBody>
                    <a:bodyPr/>
                    <a:lstStyle/>
                    <a:p>
                      <a:r>
                        <a:rPr sz="1725" b="1">
                          <a:solidFill>
                            <a:srgbClr val="FFFFFF"/>
                          </a:solidFill>
                          <a:latin typeface="DejaVu Sans"/>
                          <a:ea typeface="DejaVu Sans"/>
                          <a:cs typeface="DejaVu Sans"/>
                        </a:rPr>
                        <a:t>PID</a:t>
                      </a:r>
                    </a:p>
                  </a:txBody>
                  <a:tcPr marL="91440" marR="91440" marT="45720" marB="45720">
                    <a:lnL w="9525">
                      <a:solidFill>
                        <a:srgbClr val="D3DEDD"/>
                      </a:solidFill>
                      <a:prstDash val="solid"/>
                    </a:lnL>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c>
                  <a:txBody>
                    <a:bodyPr/>
                    <a:lstStyle/>
                    <a:p>
                      <a:r>
                        <a:rPr sz="1725" b="1">
                          <a:solidFill>
                            <a:srgbClr val="FFFFFF"/>
                          </a:solidFill>
                          <a:latin typeface="DejaVu Sans"/>
                          <a:ea typeface="DejaVu Sans"/>
                          <a:cs typeface="DejaVu Sans"/>
                        </a:rPr>
                        <a:t>PPID</a:t>
                      </a:r>
                    </a:p>
                  </a:txBody>
                  <a:tcPr marL="91440" marR="91440" marT="45720" marB="45720">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c>
                  <a:txBody>
                    <a:bodyPr/>
                    <a:lstStyle/>
                    <a:p>
                      <a:r>
                        <a:rPr sz="1725" b="1">
                          <a:solidFill>
                            <a:srgbClr val="FFFFFF"/>
                          </a:solidFill>
                          <a:latin typeface="DejaVu Sans"/>
                          <a:ea typeface="DejaVu Sans"/>
                          <a:cs typeface="DejaVu Sans"/>
                        </a:rPr>
                        <a:t>State / finding</a:t>
                      </a:r>
                    </a:p>
                  </a:txBody>
                  <a:tcPr marL="91440" marR="91440" marT="45720" marB="45720">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c>
                  <a:txBody>
                    <a:bodyPr/>
                    <a:lstStyle/>
                    <a:p>
                      <a:r>
                        <a:rPr sz="1725" b="1">
                          <a:solidFill>
                            <a:srgbClr val="FFFFFF"/>
                          </a:solidFill>
                          <a:latin typeface="DejaVu Sans"/>
                          <a:ea typeface="DejaVu Sans"/>
                          <a:cs typeface="DejaVu Sans"/>
                        </a:rPr>
                        <a:t>Relationship</a:t>
                      </a:r>
                    </a:p>
                  </a:txBody>
                  <a:tcPr marL="91440" marR="91440" marT="45720" marB="45720">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r>
              <a:tr h="671513">
                <a:tc>
                  <a:txBody>
                    <a:bodyPr/>
                    <a:lstStyle/>
                    <a:p>
                      <a:r>
                        <a:rPr sz="1650" b="0">
                          <a:solidFill>
                            <a:srgbClr val="102A36"/>
                          </a:solidFill>
                          <a:latin typeface="DejaVu Sans"/>
                          <a:ea typeface="DejaVu Sans"/>
                          <a:cs typeface="DejaVu Sans"/>
                        </a:rPr>
                        <a:t>4100</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3000</a:t>
                      </a:r>
                    </a:p>
                  </a:txBody>
                  <a:tcPr marL="91440" marR="91440" marT="45720" marB="45720">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Sleeping parent</a:t>
                      </a:r>
                    </a:p>
                  </a:txBody>
                  <a:tcPr marL="91440" marR="91440" marT="45720" marB="45720">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Parent of 4101</a:t>
                      </a:r>
                    </a:p>
                  </a:txBody>
                  <a:tcPr marL="91440" marR="91440" marT="45720" marB="45720">
                    <a:lnR w="9525">
                      <a:solidFill>
                        <a:srgbClr val="D3DEDD"/>
                      </a:solidFill>
                      <a:prstDash val="solid"/>
                    </a:lnR>
                    <a:lnB w="9525">
                      <a:solidFill>
                        <a:srgbClr val="D3DEDD"/>
                      </a:solidFill>
                      <a:prstDash val="solid"/>
                    </a:lnB>
                    <a:solidFill>
                      <a:srgbClr val="FFFFFF"/>
                    </a:solidFill>
                  </a:tcPr>
                </a:tc>
              </a:tr>
              <a:tr h="671513">
                <a:tc>
                  <a:txBody>
                    <a:bodyPr/>
                    <a:lstStyle/>
                    <a:p>
                      <a:r>
                        <a:rPr sz="1650" b="0">
                          <a:solidFill>
                            <a:srgbClr val="102A36"/>
                          </a:solidFill>
                          <a:latin typeface="DejaVu Sans"/>
                          <a:ea typeface="DejaVu Sans"/>
                          <a:cs typeface="DejaVu Sans"/>
                        </a:rPr>
                        <a:t>4101</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4100</a:t>
                      </a:r>
                    </a:p>
                  </a:txBody>
                  <a:tcPr marL="91440" marR="91440" marT="45720" marB="45720">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Zombie</a:t>
                      </a:r>
                    </a:p>
                  </a:txBody>
                  <a:tcPr marL="91440" marR="91440" marT="45720" marB="45720">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Exited child awaiting collection</a:t>
                      </a:r>
                    </a:p>
                  </a:txBody>
                  <a:tcPr marL="91440" marR="91440" marT="45720" marB="45720">
                    <a:lnR w="9525">
                      <a:solidFill>
                        <a:srgbClr val="D3DEDD"/>
                      </a:solidFill>
                      <a:prstDash val="solid"/>
                    </a:lnR>
                    <a:lnB w="9525">
                      <a:solidFill>
                        <a:srgbClr val="D3DEDD"/>
                      </a:solidFill>
                      <a:prstDash val="solid"/>
                    </a:lnB>
                    <a:solidFill>
                      <a:srgbClr val="E8EFED"/>
                    </a:solidFill>
                  </a:tcPr>
                </a:tc>
              </a:tr>
              <a:tr h="671513">
                <a:tc>
                  <a:txBody>
                    <a:bodyPr/>
                    <a:lstStyle/>
                    <a:p>
                      <a:r>
                        <a:rPr sz="1650" b="0">
                          <a:solidFill>
                            <a:srgbClr val="102A36"/>
                          </a:solidFill>
                          <a:latin typeface="DejaVu Sans"/>
                          <a:ea typeface="DejaVu Sans"/>
                          <a:cs typeface="DejaVu Sans"/>
                        </a:rPr>
                        <a:t>4201</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1</a:t>
                      </a:r>
                    </a:p>
                  </a:txBody>
                  <a:tcPr marL="91440" marR="91440" marT="45720" marB="45720">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Observed orphan event</a:t>
                      </a:r>
                    </a:p>
                  </a:txBody>
                  <a:tcPr marL="91440" marR="91440" marT="45720" marB="45720">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Previous parent 4200 ended</a:t>
                      </a:r>
                    </a:p>
                  </a:txBody>
                  <a:tcPr marL="91440" marR="91440" marT="45720" marB="45720">
                    <a:lnR w="9525">
                      <a:solidFill>
                        <a:srgbClr val="D3DEDD"/>
                      </a:solidFill>
                      <a:prstDash val="solid"/>
                    </a:lnR>
                    <a:lnB w="9525">
                      <a:solidFill>
                        <a:srgbClr val="D3DEDD"/>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656DD3D-64DE-4F10-A741-543D857A0DD8}"/>
              </a:ext>
            </a:extLst>
          </p:cNvPr>
          <p:cNvSpPr>
            <a:spLocks xmlns:a="http://schemas.openxmlformats.org/drawingml/2006/main" noGrp="1"/>
          </p:cNvSpPr>
          <p:nvPr/>
        </p:nvSpPr>
        <p:spPr>
          <a:xfrm xmlns:a="http://schemas.openxmlformats.org/drawingml/2006/main">
            <a:off x="609600" y="5381625"/>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7E80"/>
                </a:solidFill>
                <a:latin typeface="DejaVu Sans"/>
                <a:ea typeface="DejaVu Sans"/>
                <a:cs typeface="DejaVu Sans"/>
              </a:defRPr>
            </a:defPPr>
            <a:lvl1pPr>
              <a:buNone/>
              <a:defRPr sz="2025" b="1">
                <a:solidFill>
                  <a:srgbClr val="007E80"/>
                </a:solidFill>
                <a:latin typeface="DejaVu Sans"/>
                <a:ea typeface="DejaVu Sans"/>
                <a:cs typeface="DejaVu Sans"/>
              </a:defRPr>
            </a:lvl1pPr>
            <a:lvl2pPr>
              <a:buNone/>
              <a:defRPr sz="2025" b="1">
                <a:solidFill>
                  <a:srgbClr val="007E80"/>
                </a:solidFill>
                <a:latin typeface="DejaVu Sans"/>
                <a:ea typeface="DejaVu Sans"/>
                <a:cs typeface="DejaVu Sans"/>
              </a:defRPr>
            </a:lvl2pPr>
            <a:lvl3pPr>
              <a:buNone/>
              <a:defRPr sz="2025" b="1">
                <a:solidFill>
                  <a:srgbClr val="007E80"/>
                </a:solidFill>
                <a:latin typeface="DejaVu Sans"/>
                <a:ea typeface="DejaVu Sans"/>
                <a:cs typeface="DejaVu Sans"/>
              </a:defRPr>
            </a:lvl3pPr>
            <a:lvl4pPr>
              <a:buNone/>
              <a:defRPr sz="2025" b="1">
                <a:solidFill>
                  <a:srgbClr val="007E80"/>
                </a:solidFill>
                <a:latin typeface="DejaVu Sans"/>
                <a:ea typeface="DejaVu Sans"/>
                <a:cs typeface="DejaVu Sans"/>
              </a:defRPr>
            </a:lvl4pPr>
            <a:lvl5pPr>
              <a:buNone/>
              <a:defRPr sz="2025" b="1">
                <a:solidFill>
                  <a:srgbClr val="007E80"/>
                </a:solidFill>
                <a:latin typeface="DejaVu Sans"/>
                <a:ea typeface="DejaVu Sans"/>
                <a:cs typeface="DejaVu Sans"/>
              </a:defRPr>
            </a:lvl5pPr>
            <a:lvl6pPr>
              <a:buNone/>
              <a:defRPr sz="2025" b="1">
                <a:solidFill>
                  <a:srgbClr val="007E80"/>
                </a:solidFill>
                <a:latin typeface="DejaVu Sans"/>
                <a:ea typeface="DejaVu Sans"/>
                <a:cs typeface="DejaVu Sans"/>
              </a:defRPr>
            </a:lvl6pPr>
            <a:lvl7pPr>
              <a:buNone/>
              <a:defRPr sz="2025" b="1">
                <a:solidFill>
                  <a:srgbClr val="007E80"/>
                </a:solidFill>
                <a:latin typeface="DejaVu Sans"/>
                <a:ea typeface="DejaVu Sans"/>
                <a:cs typeface="DejaVu Sans"/>
              </a:defRPr>
            </a:lvl7pPr>
            <a:lvl8pPr>
              <a:buNone/>
              <a:defRPr sz="2025" b="1">
                <a:solidFill>
                  <a:srgbClr val="007E80"/>
                </a:solidFill>
                <a:latin typeface="DejaVu Sans"/>
                <a:ea typeface="DejaVu Sans"/>
                <a:cs typeface="DejaVu Sans"/>
              </a:defRPr>
            </a:lvl8pPr>
            <a:lvl9pPr>
              <a:buNone/>
              <a:defRPr sz="2025" b="1">
                <a:solidFill>
                  <a:srgbClr val="007E80"/>
                </a:solidFill>
                <a:latin typeface="DejaVu Sans"/>
                <a:ea typeface="DejaVu Sans"/>
                <a:cs typeface="DejaVu Sans"/>
              </a:defRPr>
            </a:lvl9pPr>
          </a:lstStyle>
          <a:p xmlns:a="http://schemas.openxmlformats.org/drawingml/2006/main">
            <a:pPr>
              <a:buNone/>
              <a:defRPr sz="2025" b="1">
                <a:solidFill>
                  <a:srgbClr val="007E80"/>
                </a:solidFill>
                <a:latin typeface="DejaVu Sans"/>
                <a:ea typeface="DejaVu Sans"/>
                <a:cs typeface="DejaVu Sans"/>
              </a:defRPr>
            </a:pPr>
            <a:r>
              <a:rPr sz="2025" b="1">
                <a:solidFill>
                  <a:srgbClr val="007E80"/>
                </a:solidFill>
                <a:latin typeface="DejaVu Sans"/>
                <a:ea typeface="DejaVu Sans"/>
                <a:cs typeface="DejaVu Sans"/>
              </a:rPr>
              <a:t>Success criterion: correct findings and relationships in controlled tests.</a:t>
            </a:r>
          </a:p>
        </p:txBody>
      </p:sp>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137160" y="91440"/>
            <a:ext cx="960120" cy="526398"/>
          </a:xfrm>
          <a:prstGeom prst="rect">
            <a:avLst/>
          </a:prstGeom>
        </p:spPr>
      </p:pic>
    </p:spTree>
    <p:extLst>
      <p:ext uri="{BB962C8B-B14F-4D97-AF65-F5344CB8AC3E}">
        <p14:creationId xmlns:p14="http://schemas.microsoft.com/office/powerpoint/2010/main" val="152961532"/>
      </p:ext>
    </p:extLst>
  </p:cSld>
</p:sld>
</file>

<file path=ppt/slides/slide12.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19614AC-E0FD-4B2D-9DF0-92149A3DCC29}"/>
              </a:ext>
            </a:extLst>
          </p:cNvPr>
          <p:cNvSpPr>
            <a:spLocks xmlns:a="http://schemas.openxmlformats.org/drawingml/2006/main" noGrp="1"/>
          </p:cNvSpPr>
          <p:nvPr/>
        </p:nvSpPr>
        <p:spPr>
          <a:xfrm xmlns:a="http://schemas.openxmlformats.org/drawingml/2006/main">
            <a:off x="609600" y="514350"/>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02A36"/>
                </a:solidFill>
                <a:latin typeface="DejaVu Sans"/>
                <a:ea typeface="DejaVu Sans"/>
                <a:cs typeface="DejaVu Sans"/>
              </a:defRPr>
            </a:defPPr>
            <a:lvl1pPr>
              <a:buNone/>
              <a:defRPr sz="3225" b="1">
                <a:solidFill>
                  <a:srgbClr val="102A36"/>
                </a:solidFill>
                <a:latin typeface="DejaVu Sans"/>
                <a:ea typeface="DejaVu Sans"/>
                <a:cs typeface="DejaVu Sans"/>
              </a:defRPr>
            </a:lvl1pPr>
            <a:lvl2pPr>
              <a:buNone/>
              <a:defRPr sz="3225" b="1">
                <a:solidFill>
                  <a:srgbClr val="102A36"/>
                </a:solidFill>
                <a:latin typeface="DejaVu Sans"/>
                <a:ea typeface="DejaVu Sans"/>
                <a:cs typeface="DejaVu Sans"/>
              </a:defRPr>
            </a:lvl2pPr>
            <a:lvl3pPr>
              <a:buNone/>
              <a:defRPr sz="3225" b="1">
                <a:solidFill>
                  <a:srgbClr val="102A36"/>
                </a:solidFill>
                <a:latin typeface="DejaVu Sans"/>
                <a:ea typeface="DejaVu Sans"/>
                <a:cs typeface="DejaVu Sans"/>
              </a:defRPr>
            </a:lvl3pPr>
            <a:lvl4pPr>
              <a:buNone/>
              <a:defRPr sz="3225" b="1">
                <a:solidFill>
                  <a:srgbClr val="102A36"/>
                </a:solidFill>
                <a:latin typeface="DejaVu Sans"/>
                <a:ea typeface="DejaVu Sans"/>
                <a:cs typeface="DejaVu Sans"/>
              </a:defRPr>
            </a:lvl4pPr>
            <a:lvl5pPr>
              <a:buNone/>
              <a:defRPr sz="3225" b="1">
                <a:solidFill>
                  <a:srgbClr val="102A36"/>
                </a:solidFill>
                <a:latin typeface="DejaVu Sans"/>
                <a:ea typeface="DejaVu Sans"/>
                <a:cs typeface="DejaVu Sans"/>
              </a:defRPr>
            </a:lvl5pPr>
            <a:lvl6pPr>
              <a:buNone/>
              <a:defRPr sz="3225" b="1">
                <a:solidFill>
                  <a:srgbClr val="102A36"/>
                </a:solidFill>
                <a:latin typeface="DejaVu Sans"/>
                <a:ea typeface="DejaVu Sans"/>
                <a:cs typeface="DejaVu Sans"/>
              </a:defRPr>
            </a:lvl6pPr>
            <a:lvl7pPr>
              <a:buNone/>
              <a:defRPr sz="3225" b="1">
                <a:solidFill>
                  <a:srgbClr val="102A36"/>
                </a:solidFill>
                <a:latin typeface="DejaVu Sans"/>
                <a:ea typeface="DejaVu Sans"/>
                <a:cs typeface="DejaVu Sans"/>
              </a:defRPr>
            </a:lvl7pPr>
            <a:lvl8pPr>
              <a:buNone/>
              <a:defRPr sz="3225" b="1">
                <a:solidFill>
                  <a:srgbClr val="102A36"/>
                </a:solidFill>
                <a:latin typeface="DejaVu Sans"/>
                <a:ea typeface="DejaVu Sans"/>
                <a:cs typeface="DejaVu Sans"/>
              </a:defRPr>
            </a:lvl8pPr>
            <a:lvl9pPr>
              <a:buNone/>
              <a:defRPr sz="3225" b="1">
                <a:solidFill>
                  <a:srgbClr val="102A36"/>
                </a:solidFill>
                <a:latin typeface="DejaVu Sans"/>
                <a:ea typeface="DejaVu Sans"/>
                <a:cs typeface="DejaVu Sans"/>
              </a:defRPr>
            </a:lvl9pPr>
          </a:lstStyle>
          <a:p xmlns:a="http://schemas.openxmlformats.org/drawingml/2006/main">
            <a:pPr>
              <a:buNone/>
              <a:defRPr sz="3225" b="1">
                <a:solidFill>
                  <a:srgbClr val="102A36"/>
                </a:solidFill>
                <a:latin typeface="DejaVu Sans"/>
                <a:ea typeface="DejaVu Sans"/>
                <a:cs typeface="DejaVu Sans"/>
              </a:defRPr>
            </a:pPr>
            <a:r>
              <a:rPr sz="3225" b="1">
                <a:solidFill>
                  <a:srgbClr val="102A36"/>
                </a:solidFill>
                <a:latin typeface="DejaVu Sans"/>
                <a:ea typeface="DejaVu Sans"/>
                <a:cs typeface="DejaVu Sans"/>
              </a:rPr>
              <a:t>Live demonstration</a:t>
            </a:r>
          </a:p>
        </p:txBody>
      </p:sp>
      <p:sp>
        <p:nvSpPr>
          <p:cNvPr id="2" name="">
            <a:extLst xmlns:a="http://schemas.openxmlformats.org/drawingml/2006/main">
              <a:ext uri="{FF2B5EF4-FFF2-40B4-BE49-F238E27FC236}">
                <a16:creationId xmlns:a16="http://schemas.microsoft.com/office/drawing/2014/main" id="{2CF9AD57-F013-47D8-BA87-C3452ADC4B55}"/>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50616A"/>
                </a:solidFill>
                <a:latin typeface="DejaVu Sans"/>
                <a:ea typeface="DejaVu Sans"/>
                <a:cs typeface="DejaVu Sans"/>
              </a:defRPr>
            </a:defPPr>
            <a:lvl1pPr>
              <a:buNone/>
              <a:defRPr sz="1800" b="0">
                <a:solidFill>
                  <a:srgbClr val="50616A"/>
                </a:solidFill>
                <a:latin typeface="DejaVu Sans"/>
                <a:ea typeface="DejaVu Sans"/>
                <a:cs typeface="DejaVu Sans"/>
              </a:defRPr>
            </a:lvl1pPr>
            <a:lvl2pPr>
              <a:buNone/>
              <a:defRPr sz="1800" b="0">
                <a:solidFill>
                  <a:srgbClr val="50616A"/>
                </a:solidFill>
                <a:latin typeface="DejaVu Sans"/>
                <a:ea typeface="DejaVu Sans"/>
                <a:cs typeface="DejaVu Sans"/>
              </a:defRPr>
            </a:lvl2pPr>
            <a:lvl3pPr>
              <a:buNone/>
              <a:defRPr sz="1800" b="0">
                <a:solidFill>
                  <a:srgbClr val="50616A"/>
                </a:solidFill>
                <a:latin typeface="DejaVu Sans"/>
                <a:ea typeface="DejaVu Sans"/>
                <a:cs typeface="DejaVu Sans"/>
              </a:defRPr>
            </a:lvl3pPr>
            <a:lvl4pPr>
              <a:buNone/>
              <a:defRPr sz="1800" b="0">
                <a:solidFill>
                  <a:srgbClr val="50616A"/>
                </a:solidFill>
                <a:latin typeface="DejaVu Sans"/>
                <a:ea typeface="DejaVu Sans"/>
                <a:cs typeface="DejaVu Sans"/>
              </a:defRPr>
            </a:lvl4pPr>
            <a:lvl5pPr>
              <a:buNone/>
              <a:defRPr sz="1800" b="0">
                <a:solidFill>
                  <a:srgbClr val="50616A"/>
                </a:solidFill>
                <a:latin typeface="DejaVu Sans"/>
                <a:ea typeface="DejaVu Sans"/>
                <a:cs typeface="DejaVu Sans"/>
              </a:defRPr>
            </a:lvl5pPr>
            <a:lvl6pPr>
              <a:buNone/>
              <a:defRPr sz="1800" b="0">
                <a:solidFill>
                  <a:srgbClr val="50616A"/>
                </a:solidFill>
                <a:latin typeface="DejaVu Sans"/>
                <a:ea typeface="DejaVu Sans"/>
                <a:cs typeface="DejaVu Sans"/>
              </a:defRPr>
            </a:lvl6pPr>
            <a:lvl7pPr>
              <a:buNone/>
              <a:defRPr sz="1800" b="0">
                <a:solidFill>
                  <a:srgbClr val="50616A"/>
                </a:solidFill>
                <a:latin typeface="DejaVu Sans"/>
                <a:ea typeface="DejaVu Sans"/>
                <a:cs typeface="DejaVu Sans"/>
              </a:defRPr>
            </a:lvl7pPr>
            <a:lvl8pPr>
              <a:buNone/>
              <a:defRPr sz="1800" b="0">
                <a:solidFill>
                  <a:srgbClr val="50616A"/>
                </a:solidFill>
                <a:latin typeface="DejaVu Sans"/>
                <a:ea typeface="DejaVu Sans"/>
                <a:cs typeface="DejaVu Sans"/>
              </a:defRPr>
            </a:lvl8pPr>
            <a:lvl9pPr>
              <a:buNone/>
              <a:defRPr sz="1800" b="0">
                <a:solidFill>
                  <a:srgbClr val="50616A"/>
                </a:solidFill>
                <a:latin typeface="DejaVu Sans"/>
                <a:ea typeface="DejaVu Sans"/>
                <a:cs typeface="DejaVu Sans"/>
              </a:defRPr>
            </a:lvl9pPr>
          </a:lstStyle>
          <a:p xmlns:a="http://schemas.openxmlformats.org/drawingml/2006/main">
            <a:pPr>
              <a:buNone/>
              <a:defRPr sz="1800" b="0">
                <a:solidFill>
                  <a:srgbClr val="50616A"/>
                </a:solidFill>
                <a:latin typeface="DejaVu Sans"/>
                <a:ea typeface="DejaVu Sans"/>
                <a:cs typeface="DejaVu Sans"/>
              </a:defRPr>
            </a:pPr>
            <a:r>
              <a:rPr sz="1800" b="0">
                <a:solidFill>
                  <a:srgbClr val="50616A"/>
                </a:solidFill>
                <a:latin typeface="DejaVu Sans"/>
                <a:ea typeface="DejaVu Sans"/>
                <a:cs typeface="DejaVu Sans"/>
              </a:rPr>
              <a:t>Suggested sequence for the evaluation.</a:t>
            </a:r>
          </a:p>
        </p:txBody>
      </p:sp>
      <p:sp>
        <p:nvSpPr>
          <p:cNvPr id="3" name="">
            <a:extLst xmlns:a="http://schemas.openxmlformats.org/drawingml/2006/main">
              <a:ext uri="{FF2B5EF4-FFF2-40B4-BE49-F238E27FC236}">
                <a16:creationId xmlns:a16="http://schemas.microsoft.com/office/drawing/2014/main" id="{76BFF6E0-ECB1-4C98-A8A0-C46AE65E0FB4}"/>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0616A"/>
                </a:solidFill>
                <a:latin typeface="DejaVu Sans"/>
                <a:ea typeface="DejaVu Sans"/>
                <a:cs typeface="DejaVu Sans"/>
              </a:defRPr>
            </a:defPPr>
            <a:lvl1pPr>
              <a:buNone/>
              <a:defRPr sz="1350" b="0">
                <a:solidFill>
                  <a:srgbClr val="50616A"/>
                </a:solidFill>
                <a:latin typeface="DejaVu Sans"/>
                <a:ea typeface="DejaVu Sans"/>
                <a:cs typeface="DejaVu Sans"/>
              </a:defRPr>
            </a:lvl1pPr>
            <a:lvl2pPr>
              <a:buNone/>
              <a:defRPr sz="1350" b="0">
                <a:solidFill>
                  <a:srgbClr val="50616A"/>
                </a:solidFill>
                <a:latin typeface="DejaVu Sans"/>
                <a:ea typeface="DejaVu Sans"/>
                <a:cs typeface="DejaVu Sans"/>
              </a:defRPr>
            </a:lvl2pPr>
            <a:lvl3pPr>
              <a:buNone/>
              <a:defRPr sz="1350" b="0">
                <a:solidFill>
                  <a:srgbClr val="50616A"/>
                </a:solidFill>
                <a:latin typeface="DejaVu Sans"/>
                <a:ea typeface="DejaVu Sans"/>
                <a:cs typeface="DejaVu Sans"/>
              </a:defRPr>
            </a:lvl3pPr>
            <a:lvl4pPr>
              <a:buNone/>
              <a:defRPr sz="1350" b="0">
                <a:solidFill>
                  <a:srgbClr val="50616A"/>
                </a:solidFill>
                <a:latin typeface="DejaVu Sans"/>
                <a:ea typeface="DejaVu Sans"/>
                <a:cs typeface="DejaVu Sans"/>
              </a:defRPr>
            </a:lvl4pPr>
            <a:lvl5pPr>
              <a:buNone/>
              <a:defRPr sz="1350" b="0">
                <a:solidFill>
                  <a:srgbClr val="50616A"/>
                </a:solidFill>
                <a:latin typeface="DejaVu Sans"/>
                <a:ea typeface="DejaVu Sans"/>
                <a:cs typeface="DejaVu Sans"/>
              </a:defRPr>
            </a:lvl5pPr>
            <a:lvl6pPr>
              <a:buNone/>
              <a:defRPr sz="1350" b="0">
                <a:solidFill>
                  <a:srgbClr val="50616A"/>
                </a:solidFill>
                <a:latin typeface="DejaVu Sans"/>
                <a:ea typeface="DejaVu Sans"/>
                <a:cs typeface="DejaVu Sans"/>
              </a:defRPr>
            </a:lvl6pPr>
            <a:lvl7pPr>
              <a:buNone/>
              <a:defRPr sz="1350" b="0">
                <a:solidFill>
                  <a:srgbClr val="50616A"/>
                </a:solidFill>
                <a:latin typeface="DejaVu Sans"/>
                <a:ea typeface="DejaVu Sans"/>
                <a:cs typeface="DejaVu Sans"/>
              </a:defRPr>
            </a:lvl7pPr>
            <a:lvl8pPr>
              <a:buNone/>
              <a:defRPr sz="1350" b="0">
                <a:solidFill>
                  <a:srgbClr val="50616A"/>
                </a:solidFill>
                <a:latin typeface="DejaVu Sans"/>
                <a:ea typeface="DejaVu Sans"/>
                <a:cs typeface="DejaVu Sans"/>
              </a:defRPr>
            </a:lvl8pPr>
            <a:lvl9pPr>
              <a:buNone/>
              <a:defRPr sz="1350" b="0">
                <a:solidFill>
                  <a:srgbClr val="50616A"/>
                </a:solidFill>
                <a:latin typeface="DejaVu Sans"/>
                <a:ea typeface="DejaVu Sans"/>
                <a:cs typeface="DejaVu Sans"/>
              </a:defRPr>
            </a:lvl9pPr>
          </a:lstStyle>
          <a:p xmlns:a="http://schemas.openxmlformats.org/drawingml/2006/main">
            <a:pPr>
              <a:buNone/>
              <a:defRPr sz="1350" b="0">
                <a:solidFill>
                  <a:srgbClr val="50616A"/>
                </a:solidFill>
                <a:latin typeface="DejaVu Sans"/>
                <a:ea typeface="DejaVu Sans"/>
                <a:cs typeface="DejaVu Sans"/>
              </a:defRPr>
            </a:pPr>
            <a:r>
              <a:rPr sz="1350" b="0">
                <a:solidFill>
                  <a:srgbClr val="50616A"/>
                </a:solidFill>
                <a:latin typeface="DejaVu Sans"/>
                <a:ea typeface="DejaVu Sans"/>
                <a:cs typeface="DejaVu Sans"/>
              </a:rPr>
              <a:t>12</a:t>
            </a:r>
          </a:p>
        </p:txBody>
      </p:sp>
      <p:sp>
        <p:nvSpPr>
          <p:cNvPr id="4" name="">
            <a:extLst xmlns:a="http://schemas.openxmlformats.org/drawingml/2006/main">
              <a:ext uri="{FF2B5EF4-FFF2-40B4-BE49-F238E27FC236}">
                <a16:creationId xmlns:a16="http://schemas.microsoft.com/office/drawing/2014/main" id="{E3646807-DF47-4761-BBAD-13E64CD6B678}"/>
              </a:ext>
            </a:extLst>
          </p:cNvPr>
          <p:cNvSpPr>
            <a:spLocks xmlns:a="http://schemas.openxmlformats.org/drawingml/2006/main" noGrp="1"/>
          </p:cNvSpPr>
          <p:nvPr/>
        </p:nvSpPr>
        <p:spPr>
          <a:xfrm xmlns:a="http://schemas.openxmlformats.org/drawingml/2006/main">
            <a:off x="609600" y="21907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5C744708-8AC4-4AC6-8A2F-417D075519FE}"/>
              </a:ext>
            </a:extLst>
          </p:cNvPr>
          <p:cNvSpPr>
            <a:spLocks xmlns:a="http://schemas.openxmlformats.org/drawingml/2006/main" noGrp="1"/>
          </p:cNvSpPr>
          <p:nvPr/>
        </p:nvSpPr>
        <p:spPr>
          <a:xfrm xmlns:a="http://schemas.openxmlformats.org/drawingml/2006/main">
            <a:off x="1524000" y="219075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Open the monitor and show the normal process tree.</a:t>
            </a:r>
          </a:p>
        </p:txBody>
      </p:sp>
      <p:sp>
        <p:nvSpPr>
          <p:cNvPr id="6" name="">
            <a:extLst xmlns:a="http://schemas.openxmlformats.org/drawingml/2006/main">
              <a:ext uri="{FF2B5EF4-FFF2-40B4-BE49-F238E27FC236}">
                <a16:creationId xmlns:a16="http://schemas.microsoft.com/office/drawing/2014/main" id="{D66C243B-29A6-43A0-98D4-47F770CE2623}"/>
              </a:ext>
            </a:extLst>
          </p:cNvPr>
          <p:cNvSpPr>
            <a:spLocks xmlns:a="http://schemas.openxmlformats.org/drawingml/2006/main" noGrp="1"/>
          </p:cNvSpPr>
          <p:nvPr/>
        </p:nvSpPr>
        <p:spPr>
          <a:xfrm xmlns:a="http://schemas.openxmlformats.org/drawingml/2006/main">
            <a:off x="609600" y="3057525"/>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02</a:t>
            </a:r>
          </a:p>
        </p:txBody>
      </p:sp>
      <p:sp>
        <p:nvSpPr>
          <p:cNvPr id="7" name="">
            <a:extLst xmlns:a="http://schemas.openxmlformats.org/drawingml/2006/main">
              <a:ext uri="{FF2B5EF4-FFF2-40B4-BE49-F238E27FC236}">
                <a16:creationId xmlns:a16="http://schemas.microsoft.com/office/drawing/2014/main" id="{1DC0B844-DBE9-4802-8A3F-EA4CA3CC2A84}"/>
              </a:ext>
            </a:extLst>
          </p:cNvPr>
          <p:cNvSpPr>
            <a:spLocks xmlns:a="http://schemas.openxmlformats.org/drawingml/2006/main" noGrp="1"/>
          </p:cNvSpPr>
          <p:nvPr/>
        </p:nvSpPr>
        <p:spPr>
          <a:xfrm xmlns:a="http://schemas.openxmlformats.org/drawingml/2006/main">
            <a:off x="1524000" y="3057525"/>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Run the zombie demo and highlight its PID and parent.</a:t>
            </a:r>
          </a:p>
        </p:txBody>
      </p:sp>
      <p:sp>
        <p:nvSpPr>
          <p:cNvPr id="8" name="">
            <a:extLst xmlns:a="http://schemas.openxmlformats.org/drawingml/2006/main">
              <a:ext uri="{FF2B5EF4-FFF2-40B4-BE49-F238E27FC236}">
                <a16:creationId xmlns:a16="http://schemas.microsoft.com/office/drawing/2014/main" id="{C4EFFC96-6E70-4631-85FE-CBB5C1F5FE47}"/>
              </a:ext>
            </a:extLst>
          </p:cNvPr>
          <p:cNvSpPr>
            <a:spLocks xmlns:a="http://schemas.openxmlformats.org/drawingml/2006/main" noGrp="1"/>
          </p:cNvSpPr>
          <p:nvPr/>
        </p:nvSpPr>
        <p:spPr>
          <a:xfrm xmlns:a="http://schemas.openxmlformats.org/drawingml/2006/main">
            <a:off x="609600" y="39243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03</a:t>
            </a:r>
          </a:p>
        </p:txBody>
      </p:sp>
      <p:sp>
        <p:nvSpPr>
          <p:cNvPr id="9" name="">
            <a:extLst xmlns:a="http://schemas.openxmlformats.org/drawingml/2006/main">
              <a:ext uri="{FF2B5EF4-FFF2-40B4-BE49-F238E27FC236}">
                <a16:creationId xmlns:a16="http://schemas.microsoft.com/office/drawing/2014/main" id="{6141D258-36D1-48F0-95ED-5D24C899EADC}"/>
              </a:ext>
            </a:extLst>
          </p:cNvPr>
          <p:cNvSpPr>
            <a:spLocks xmlns:a="http://schemas.openxmlformats.org/drawingml/2006/main" noGrp="1"/>
          </p:cNvSpPr>
          <p:nvPr/>
        </p:nvSpPr>
        <p:spPr>
          <a:xfrm xmlns:a="http://schemas.openxmlformats.org/drawingml/2006/main">
            <a:off x="1524000" y="392430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Let the parent collect status and show the flag disappear.</a:t>
            </a:r>
          </a:p>
        </p:txBody>
      </p:sp>
      <p:sp>
        <p:nvSpPr>
          <p:cNvPr id="10" name="">
            <a:extLst xmlns:a="http://schemas.openxmlformats.org/drawingml/2006/main">
              <a:ext uri="{FF2B5EF4-FFF2-40B4-BE49-F238E27FC236}">
                <a16:creationId xmlns:a16="http://schemas.microsoft.com/office/drawing/2014/main" id="{3075ED1A-7B50-4467-9DD0-A8A5975DCA0B}"/>
              </a:ext>
            </a:extLst>
          </p:cNvPr>
          <p:cNvSpPr>
            <a:spLocks xmlns:a="http://schemas.openxmlformats.org/drawingml/2006/main" noGrp="1"/>
          </p:cNvSpPr>
          <p:nvPr/>
        </p:nvSpPr>
        <p:spPr>
          <a:xfrm xmlns:a="http://schemas.openxmlformats.org/drawingml/2006/main">
            <a:off x="609600" y="4791075"/>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04</a:t>
            </a:r>
          </a:p>
        </p:txBody>
      </p:sp>
      <p:sp>
        <p:nvSpPr>
          <p:cNvPr id="11" name="">
            <a:extLst xmlns:a="http://schemas.openxmlformats.org/drawingml/2006/main">
              <a:ext uri="{FF2B5EF4-FFF2-40B4-BE49-F238E27FC236}">
                <a16:creationId xmlns:a16="http://schemas.microsoft.com/office/drawing/2014/main" id="{F1188F69-F28A-48BA-B75E-371AB45DE6C3}"/>
              </a:ext>
            </a:extLst>
          </p:cNvPr>
          <p:cNvSpPr>
            <a:spLocks xmlns:a="http://schemas.openxmlformats.org/drawingml/2006/main" noGrp="1"/>
          </p:cNvSpPr>
          <p:nvPr/>
        </p:nvSpPr>
        <p:spPr>
          <a:xfrm xmlns:a="http://schemas.openxmlformats.org/drawingml/2006/main">
            <a:off x="1524000" y="4791075"/>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Run the orphan demo and show old and new parent IDs.</a:t>
            </a:r>
          </a:p>
        </p:txBody>
      </p:sp>
      <p:pic xmlns:a="http://schemas.openxmlformats.org/drawingml/2006/main" xmlns:r="http://schemas.openxmlformats.org/officeDocument/2006/relationships">
        <p:nvPicPr>
          <p:cNvPr id="13" name="Picture 12" descr="image.png"/>
          <p:cNvPicPr>
            <a:picLocks noChangeAspect="1"/>
          </p:cNvPicPr>
          <p:nvPr/>
        </p:nvPicPr>
        <p:blipFill>
          <a:blip r:embed="rId3"/>
          <a:stretch>
            <a:fillRect/>
          </a:stretch>
        </p:blipFill>
        <p:spPr>
          <a:xfrm>
            <a:off x="137160" y="91440"/>
            <a:ext cx="960120" cy="526398"/>
          </a:xfrm>
          <a:prstGeom prst="rect">
            <a:avLst/>
          </a:prstGeom>
        </p:spPr>
      </p:pic>
    </p:spTree>
    <p:extLst>
      <p:ext uri="{BB962C8B-B14F-4D97-AF65-F5344CB8AC3E}">
        <p14:creationId xmlns:p14="http://schemas.microsoft.com/office/powerpoint/2010/main" val="564431630"/>
      </p:ext>
    </p:extLst>
  </p:cSld>
</p:sld>
</file>

<file path=ppt/slides/slide13.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86804A5-94BD-4000-82D2-81A44FFF0F22}"/>
              </a:ext>
            </a:extLst>
          </p:cNvPr>
          <p:cNvSpPr>
            <a:spLocks xmlns:a="http://schemas.openxmlformats.org/drawingml/2006/main" noGrp="1"/>
          </p:cNvSpPr>
          <p:nvPr/>
        </p:nvSpPr>
        <p:spPr>
          <a:xfrm xmlns:a="http://schemas.openxmlformats.org/drawingml/2006/main">
            <a:off x="609600" y="514350"/>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02A36"/>
                </a:solidFill>
                <a:latin typeface="DejaVu Sans"/>
                <a:ea typeface="DejaVu Sans"/>
                <a:cs typeface="DejaVu Sans"/>
              </a:defRPr>
            </a:defPPr>
            <a:lvl1pPr>
              <a:buNone/>
              <a:defRPr sz="3225" b="1">
                <a:solidFill>
                  <a:srgbClr val="102A36"/>
                </a:solidFill>
                <a:latin typeface="DejaVu Sans"/>
                <a:ea typeface="DejaVu Sans"/>
                <a:cs typeface="DejaVu Sans"/>
              </a:defRPr>
            </a:lvl1pPr>
            <a:lvl2pPr>
              <a:buNone/>
              <a:defRPr sz="3225" b="1">
                <a:solidFill>
                  <a:srgbClr val="102A36"/>
                </a:solidFill>
                <a:latin typeface="DejaVu Sans"/>
                <a:ea typeface="DejaVu Sans"/>
                <a:cs typeface="DejaVu Sans"/>
              </a:defRPr>
            </a:lvl2pPr>
            <a:lvl3pPr>
              <a:buNone/>
              <a:defRPr sz="3225" b="1">
                <a:solidFill>
                  <a:srgbClr val="102A36"/>
                </a:solidFill>
                <a:latin typeface="DejaVu Sans"/>
                <a:ea typeface="DejaVu Sans"/>
                <a:cs typeface="DejaVu Sans"/>
              </a:defRPr>
            </a:lvl3pPr>
            <a:lvl4pPr>
              <a:buNone/>
              <a:defRPr sz="3225" b="1">
                <a:solidFill>
                  <a:srgbClr val="102A36"/>
                </a:solidFill>
                <a:latin typeface="DejaVu Sans"/>
                <a:ea typeface="DejaVu Sans"/>
                <a:cs typeface="DejaVu Sans"/>
              </a:defRPr>
            </a:lvl4pPr>
            <a:lvl5pPr>
              <a:buNone/>
              <a:defRPr sz="3225" b="1">
                <a:solidFill>
                  <a:srgbClr val="102A36"/>
                </a:solidFill>
                <a:latin typeface="DejaVu Sans"/>
                <a:ea typeface="DejaVu Sans"/>
                <a:cs typeface="DejaVu Sans"/>
              </a:defRPr>
            </a:lvl5pPr>
            <a:lvl6pPr>
              <a:buNone/>
              <a:defRPr sz="3225" b="1">
                <a:solidFill>
                  <a:srgbClr val="102A36"/>
                </a:solidFill>
                <a:latin typeface="DejaVu Sans"/>
                <a:ea typeface="DejaVu Sans"/>
                <a:cs typeface="DejaVu Sans"/>
              </a:defRPr>
            </a:lvl6pPr>
            <a:lvl7pPr>
              <a:buNone/>
              <a:defRPr sz="3225" b="1">
                <a:solidFill>
                  <a:srgbClr val="102A36"/>
                </a:solidFill>
                <a:latin typeface="DejaVu Sans"/>
                <a:ea typeface="DejaVu Sans"/>
                <a:cs typeface="DejaVu Sans"/>
              </a:defRPr>
            </a:lvl7pPr>
            <a:lvl8pPr>
              <a:buNone/>
              <a:defRPr sz="3225" b="1">
                <a:solidFill>
                  <a:srgbClr val="102A36"/>
                </a:solidFill>
                <a:latin typeface="DejaVu Sans"/>
                <a:ea typeface="DejaVu Sans"/>
                <a:cs typeface="DejaVu Sans"/>
              </a:defRPr>
            </a:lvl8pPr>
            <a:lvl9pPr>
              <a:buNone/>
              <a:defRPr sz="3225" b="1">
                <a:solidFill>
                  <a:srgbClr val="102A36"/>
                </a:solidFill>
                <a:latin typeface="DejaVu Sans"/>
                <a:ea typeface="DejaVu Sans"/>
                <a:cs typeface="DejaVu Sans"/>
              </a:defRPr>
            </a:lvl9pPr>
          </a:lstStyle>
          <a:p xmlns:a="http://schemas.openxmlformats.org/drawingml/2006/main">
            <a:pPr>
              <a:buNone/>
              <a:defRPr sz="3225" b="1">
                <a:solidFill>
                  <a:srgbClr val="102A36"/>
                </a:solidFill>
                <a:latin typeface="DejaVu Sans"/>
                <a:ea typeface="DejaVu Sans"/>
                <a:cs typeface="DejaVu Sans"/>
              </a:defRPr>
            </a:pPr>
            <a:r>
              <a:rPr sz="3225" b="1">
                <a:solidFill>
                  <a:srgbClr val="102A36"/>
                </a:solidFill>
                <a:latin typeface="DejaVu Sans"/>
                <a:ea typeface="DejaVu Sans"/>
                <a:cs typeface="DejaVu Sans"/>
              </a:rPr>
              <a:t>Repository and team participation</a:t>
            </a:r>
          </a:p>
        </p:txBody>
      </p:sp>
      <p:sp>
        <p:nvSpPr>
          <p:cNvPr id="2" name="">
            <a:extLst xmlns:a="http://schemas.openxmlformats.org/drawingml/2006/main">
              <a:ext uri="{FF2B5EF4-FFF2-40B4-BE49-F238E27FC236}">
                <a16:creationId xmlns:a16="http://schemas.microsoft.com/office/drawing/2014/main" id="{91C79001-C61A-40B0-B982-5C3FE53F1606}"/>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50616A"/>
                </a:solidFill>
                <a:latin typeface="DejaVu Sans"/>
                <a:ea typeface="DejaVu Sans"/>
                <a:cs typeface="DejaVu Sans"/>
              </a:defRPr>
            </a:defPPr>
            <a:lvl1pPr>
              <a:buNone/>
              <a:defRPr sz="1800" b="0">
                <a:solidFill>
                  <a:srgbClr val="50616A"/>
                </a:solidFill>
                <a:latin typeface="DejaVu Sans"/>
                <a:ea typeface="DejaVu Sans"/>
                <a:cs typeface="DejaVu Sans"/>
              </a:defRPr>
            </a:lvl1pPr>
            <a:lvl2pPr>
              <a:buNone/>
              <a:defRPr sz="1800" b="0">
                <a:solidFill>
                  <a:srgbClr val="50616A"/>
                </a:solidFill>
                <a:latin typeface="DejaVu Sans"/>
                <a:ea typeface="DejaVu Sans"/>
                <a:cs typeface="DejaVu Sans"/>
              </a:defRPr>
            </a:lvl2pPr>
            <a:lvl3pPr>
              <a:buNone/>
              <a:defRPr sz="1800" b="0">
                <a:solidFill>
                  <a:srgbClr val="50616A"/>
                </a:solidFill>
                <a:latin typeface="DejaVu Sans"/>
                <a:ea typeface="DejaVu Sans"/>
                <a:cs typeface="DejaVu Sans"/>
              </a:defRPr>
            </a:lvl3pPr>
            <a:lvl4pPr>
              <a:buNone/>
              <a:defRPr sz="1800" b="0">
                <a:solidFill>
                  <a:srgbClr val="50616A"/>
                </a:solidFill>
                <a:latin typeface="DejaVu Sans"/>
                <a:ea typeface="DejaVu Sans"/>
                <a:cs typeface="DejaVu Sans"/>
              </a:defRPr>
            </a:lvl4pPr>
            <a:lvl5pPr>
              <a:buNone/>
              <a:defRPr sz="1800" b="0">
                <a:solidFill>
                  <a:srgbClr val="50616A"/>
                </a:solidFill>
                <a:latin typeface="DejaVu Sans"/>
                <a:ea typeface="DejaVu Sans"/>
                <a:cs typeface="DejaVu Sans"/>
              </a:defRPr>
            </a:lvl5pPr>
            <a:lvl6pPr>
              <a:buNone/>
              <a:defRPr sz="1800" b="0">
                <a:solidFill>
                  <a:srgbClr val="50616A"/>
                </a:solidFill>
                <a:latin typeface="DejaVu Sans"/>
                <a:ea typeface="DejaVu Sans"/>
                <a:cs typeface="DejaVu Sans"/>
              </a:defRPr>
            </a:lvl6pPr>
            <a:lvl7pPr>
              <a:buNone/>
              <a:defRPr sz="1800" b="0">
                <a:solidFill>
                  <a:srgbClr val="50616A"/>
                </a:solidFill>
                <a:latin typeface="DejaVu Sans"/>
                <a:ea typeface="DejaVu Sans"/>
                <a:cs typeface="DejaVu Sans"/>
              </a:defRPr>
            </a:lvl7pPr>
            <a:lvl8pPr>
              <a:buNone/>
              <a:defRPr sz="1800" b="0">
                <a:solidFill>
                  <a:srgbClr val="50616A"/>
                </a:solidFill>
                <a:latin typeface="DejaVu Sans"/>
                <a:ea typeface="DejaVu Sans"/>
                <a:cs typeface="DejaVu Sans"/>
              </a:defRPr>
            </a:lvl8pPr>
            <a:lvl9pPr>
              <a:buNone/>
              <a:defRPr sz="1800" b="0">
                <a:solidFill>
                  <a:srgbClr val="50616A"/>
                </a:solidFill>
                <a:latin typeface="DejaVu Sans"/>
                <a:ea typeface="DejaVu Sans"/>
                <a:cs typeface="DejaVu Sans"/>
              </a:defRPr>
            </a:lvl9pPr>
          </a:lstStyle>
          <a:p xmlns:a="http://schemas.openxmlformats.org/drawingml/2006/main">
            <a:pPr>
              <a:buNone/>
              <a:defRPr sz="1800" b="0">
                <a:solidFill>
                  <a:srgbClr val="50616A"/>
                </a:solidFill>
                <a:latin typeface="DejaVu Sans"/>
                <a:ea typeface="DejaVu Sans"/>
                <a:cs typeface="DejaVu Sans"/>
              </a:defRPr>
            </a:pPr>
            <a:r>
              <a:rPr sz="1800" b="0">
                <a:solidFill>
                  <a:srgbClr val="50616A"/>
                </a:solidFill>
                <a:latin typeface="DejaVu Sans"/>
                <a:ea typeface="DejaVu Sans"/>
                <a:cs typeface="DejaVu Sans"/>
              </a:rPr>
              <a:t>The submission should let an evaluator reproduce the demonstration.</a:t>
            </a:r>
          </a:p>
        </p:txBody>
      </p:sp>
      <p:sp>
        <p:nvSpPr>
          <p:cNvPr id="3" name="">
            <a:extLst xmlns:a="http://schemas.openxmlformats.org/drawingml/2006/main">
              <a:ext uri="{FF2B5EF4-FFF2-40B4-BE49-F238E27FC236}">
                <a16:creationId xmlns:a16="http://schemas.microsoft.com/office/drawing/2014/main" id="{0417ACA5-930B-44C4-BF0A-CC82F1DCCECA}"/>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0616A"/>
                </a:solidFill>
                <a:latin typeface="DejaVu Sans"/>
                <a:ea typeface="DejaVu Sans"/>
                <a:cs typeface="DejaVu Sans"/>
              </a:defRPr>
            </a:defPPr>
            <a:lvl1pPr>
              <a:buNone/>
              <a:defRPr sz="1350" b="0">
                <a:solidFill>
                  <a:srgbClr val="50616A"/>
                </a:solidFill>
                <a:latin typeface="DejaVu Sans"/>
                <a:ea typeface="DejaVu Sans"/>
                <a:cs typeface="DejaVu Sans"/>
              </a:defRPr>
            </a:lvl1pPr>
            <a:lvl2pPr>
              <a:buNone/>
              <a:defRPr sz="1350" b="0">
                <a:solidFill>
                  <a:srgbClr val="50616A"/>
                </a:solidFill>
                <a:latin typeface="DejaVu Sans"/>
                <a:ea typeface="DejaVu Sans"/>
                <a:cs typeface="DejaVu Sans"/>
              </a:defRPr>
            </a:lvl2pPr>
            <a:lvl3pPr>
              <a:buNone/>
              <a:defRPr sz="1350" b="0">
                <a:solidFill>
                  <a:srgbClr val="50616A"/>
                </a:solidFill>
                <a:latin typeface="DejaVu Sans"/>
                <a:ea typeface="DejaVu Sans"/>
                <a:cs typeface="DejaVu Sans"/>
              </a:defRPr>
            </a:lvl3pPr>
            <a:lvl4pPr>
              <a:buNone/>
              <a:defRPr sz="1350" b="0">
                <a:solidFill>
                  <a:srgbClr val="50616A"/>
                </a:solidFill>
                <a:latin typeface="DejaVu Sans"/>
                <a:ea typeface="DejaVu Sans"/>
                <a:cs typeface="DejaVu Sans"/>
              </a:defRPr>
            </a:lvl4pPr>
            <a:lvl5pPr>
              <a:buNone/>
              <a:defRPr sz="1350" b="0">
                <a:solidFill>
                  <a:srgbClr val="50616A"/>
                </a:solidFill>
                <a:latin typeface="DejaVu Sans"/>
                <a:ea typeface="DejaVu Sans"/>
                <a:cs typeface="DejaVu Sans"/>
              </a:defRPr>
            </a:lvl5pPr>
            <a:lvl6pPr>
              <a:buNone/>
              <a:defRPr sz="1350" b="0">
                <a:solidFill>
                  <a:srgbClr val="50616A"/>
                </a:solidFill>
                <a:latin typeface="DejaVu Sans"/>
                <a:ea typeface="DejaVu Sans"/>
                <a:cs typeface="DejaVu Sans"/>
              </a:defRPr>
            </a:lvl6pPr>
            <a:lvl7pPr>
              <a:buNone/>
              <a:defRPr sz="1350" b="0">
                <a:solidFill>
                  <a:srgbClr val="50616A"/>
                </a:solidFill>
                <a:latin typeface="DejaVu Sans"/>
                <a:ea typeface="DejaVu Sans"/>
                <a:cs typeface="DejaVu Sans"/>
              </a:defRPr>
            </a:lvl7pPr>
            <a:lvl8pPr>
              <a:buNone/>
              <a:defRPr sz="1350" b="0">
                <a:solidFill>
                  <a:srgbClr val="50616A"/>
                </a:solidFill>
                <a:latin typeface="DejaVu Sans"/>
                <a:ea typeface="DejaVu Sans"/>
                <a:cs typeface="DejaVu Sans"/>
              </a:defRPr>
            </a:lvl8pPr>
            <a:lvl9pPr>
              <a:buNone/>
              <a:defRPr sz="1350" b="0">
                <a:solidFill>
                  <a:srgbClr val="50616A"/>
                </a:solidFill>
                <a:latin typeface="DejaVu Sans"/>
                <a:ea typeface="DejaVu Sans"/>
                <a:cs typeface="DejaVu Sans"/>
              </a:defRPr>
            </a:lvl9pPr>
          </a:lstStyle>
          <a:p xmlns:a="http://schemas.openxmlformats.org/drawingml/2006/main">
            <a:pPr>
              <a:buNone/>
              <a:defRPr sz="1350" b="0">
                <a:solidFill>
                  <a:srgbClr val="50616A"/>
                </a:solidFill>
                <a:latin typeface="DejaVu Sans"/>
                <a:ea typeface="DejaVu Sans"/>
                <a:cs typeface="DejaVu Sans"/>
              </a:defRPr>
            </a:pPr>
            <a:r>
              <a:rPr sz="1350" b="0">
                <a:solidFill>
                  <a:srgbClr val="50616A"/>
                </a:solidFill>
                <a:latin typeface="DejaVu Sans"/>
                <a:ea typeface="DejaVu Sans"/>
                <a:cs typeface="DejaVu Sans"/>
              </a:rPr>
              <a:t>13</a:t>
            </a:r>
          </a:p>
        </p:txBody>
      </p:sp>
      <p:graphicFrame>
        <p:nvGraphicFramePr>
          <p:cNvPr id="4" name="">
            <a:extLst xmlns:a="http://schemas.openxmlformats.org/drawingml/2006/main">
              <a:ext uri="{FF2B5EF4-FFF2-40B4-BE49-F238E27FC236}">
                <a16:creationId xmlns:a16="http://schemas.microsoft.com/office/drawing/2014/main" id="{088702AA-FB8A-47DB-8808-17D1CE76936D}"/>
              </a:ext>
            </a:extLst>
          </p:cNvPr>
          <p:cNvGraphicFramePr/>
          <p:nvPr/>
        </p:nvGraphicFramePr>
        <p:xfrm>
          <a:off xmlns:a="http://schemas.openxmlformats.org/drawingml/2006/main" x="609600" y="2190750"/>
          <a:ext xmlns:a="http://schemas.openxmlformats.org/drawingml/2006/main" cx="10972800" cy="3143250"/>
        </p:xfrm>
        <a:graphic xmlns:a="http://schemas.openxmlformats.org/drawingml/2006/main">
          <a:graphicData uri="http://schemas.openxmlformats.org/drawingml/2006/table">
            <a:tbl>
              <a:tblPr/>
              <a:tblGrid>
                <a:gridCol w="3238500"/>
                <a:gridCol w="7734300"/>
              </a:tblGrid>
              <a:tr h="628650">
                <a:tc>
                  <a:txBody>
                    <a:bodyPr/>
                    <a:lstStyle/>
                    <a:p>
                      <a:r>
                        <a:rPr sz="1725" b="1">
                          <a:solidFill>
                            <a:srgbClr val="FFFFFF"/>
                          </a:solidFill>
                          <a:latin typeface="DejaVu Sans"/>
                          <a:ea typeface="DejaVu Sans"/>
                          <a:cs typeface="DejaVu Sans"/>
                        </a:rPr>
                        <a:t>Deliverable</a:t>
                      </a:r>
                    </a:p>
                  </a:txBody>
                  <a:tcPr marL="91440" marR="91440" marT="45720" marB="45720">
                    <a:lnL w="9525">
                      <a:solidFill>
                        <a:srgbClr val="D3DEDD"/>
                      </a:solidFill>
                      <a:prstDash val="solid"/>
                    </a:lnL>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c>
                  <a:txBody>
                    <a:bodyPr/>
                    <a:lstStyle/>
                    <a:p>
                      <a:r>
                        <a:rPr sz="1725" b="1">
                          <a:solidFill>
                            <a:srgbClr val="FFFFFF"/>
                          </a:solidFill>
                          <a:latin typeface="DejaVu Sans"/>
                          <a:ea typeface="DejaVu Sans"/>
                          <a:cs typeface="DejaVu Sans"/>
                        </a:rPr>
                        <a:t>Contents</a:t>
                      </a:r>
                    </a:p>
                  </a:txBody>
                  <a:tcPr marL="91440" marR="91440" marT="45720" marB="45720">
                    <a:lnR w="9525">
                      <a:solidFill>
                        <a:srgbClr val="D3DEDD"/>
                      </a:solidFill>
                      <a:prstDash val="solid"/>
                    </a:lnR>
                    <a:lnT w="9525">
                      <a:solidFill>
                        <a:srgbClr val="D3DEDD"/>
                      </a:solidFill>
                      <a:prstDash val="solid"/>
                    </a:lnT>
                    <a:lnB w="9525">
                      <a:solidFill>
                        <a:srgbClr val="D3DEDD"/>
                      </a:solidFill>
                      <a:prstDash val="solid"/>
                    </a:lnB>
                    <a:solidFill>
                      <a:srgbClr val="102A36"/>
                    </a:solidFill>
                  </a:tcPr>
                </a:tc>
              </a:tr>
              <a:tr h="628650">
                <a:tc>
                  <a:txBody>
                    <a:bodyPr/>
                    <a:lstStyle/>
                    <a:p>
                      <a:r>
                        <a:rPr sz="1650" b="0">
                          <a:solidFill>
                            <a:srgbClr val="102A36"/>
                          </a:solidFill>
                          <a:latin typeface="DejaVu Sans"/>
                          <a:ea typeface="DejaVu Sans"/>
                          <a:cs typeface="DejaVu Sans"/>
                        </a:rPr>
                        <a:t>Source code</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Monitor modules, demo scripts and dependencies</a:t>
                      </a:r>
                    </a:p>
                  </a:txBody>
                  <a:tcPr marL="91440" marR="91440" marT="45720" marB="45720">
                    <a:lnR w="9525">
                      <a:solidFill>
                        <a:srgbClr val="D3DEDD"/>
                      </a:solidFill>
                      <a:prstDash val="solid"/>
                    </a:lnR>
                    <a:lnB w="9525">
                      <a:solidFill>
                        <a:srgbClr val="D3DEDD"/>
                      </a:solidFill>
                      <a:prstDash val="solid"/>
                    </a:lnB>
                    <a:solidFill>
                      <a:srgbClr val="FFFFFF"/>
                    </a:solidFill>
                  </a:tcPr>
                </a:tc>
              </a:tr>
              <a:tr h="628650">
                <a:tc>
                  <a:txBody>
                    <a:bodyPr/>
                    <a:lstStyle/>
                    <a:p>
                      <a:r>
                        <a:rPr sz="1650" b="0">
                          <a:solidFill>
                            <a:srgbClr val="102A36"/>
                          </a:solidFill>
                          <a:latin typeface="DejaVu Sans"/>
                          <a:ea typeface="DejaVu Sans"/>
                          <a:cs typeface="DejaVu Sans"/>
                        </a:rPr>
                        <a:t>README</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Setup, execution, test steps and cleanup</a:t>
                      </a:r>
                    </a:p>
                  </a:txBody>
                  <a:tcPr marL="91440" marR="91440" marT="45720" marB="45720">
                    <a:lnR w="9525">
                      <a:solidFill>
                        <a:srgbClr val="D3DEDD"/>
                      </a:solidFill>
                      <a:prstDash val="solid"/>
                    </a:lnR>
                    <a:lnB w="9525">
                      <a:solidFill>
                        <a:srgbClr val="D3DEDD"/>
                      </a:solidFill>
                      <a:prstDash val="solid"/>
                    </a:lnB>
                    <a:solidFill>
                      <a:srgbClr val="E8EFED"/>
                    </a:solidFill>
                  </a:tcPr>
                </a:tc>
              </a:tr>
              <a:tr h="628650">
                <a:tc>
                  <a:txBody>
                    <a:bodyPr/>
                    <a:lstStyle/>
                    <a:p>
                      <a:r>
                        <a:rPr sz="1650" b="0">
                          <a:solidFill>
                            <a:srgbClr val="102A36"/>
                          </a:solidFill>
                          <a:latin typeface="DejaVu Sans"/>
                          <a:ea typeface="DejaVu Sans"/>
                          <a:cs typeface="DejaVu Sans"/>
                        </a:rPr>
                        <a:t>Documentation</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FFFFFF"/>
                    </a:solidFill>
                  </a:tcPr>
                </a:tc>
                <a:tc>
                  <a:txBody>
                    <a:bodyPr/>
                    <a:lstStyle/>
                    <a:p>
                      <a:r>
                        <a:rPr sz="1650" b="0">
                          <a:solidFill>
                            <a:srgbClr val="102A36"/>
                          </a:solidFill>
                          <a:latin typeface="DejaVu Sans"/>
                          <a:ea typeface="DejaVu Sans"/>
                          <a:cs typeface="DejaVu Sans"/>
                        </a:rPr>
                        <a:t>Project report, screenshots and test outcomes</a:t>
                      </a:r>
                    </a:p>
                  </a:txBody>
                  <a:tcPr marL="91440" marR="91440" marT="45720" marB="45720">
                    <a:lnR w="9525">
                      <a:solidFill>
                        <a:srgbClr val="D3DEDD"/>
                      </a:solidFill>
                      <a:prstDash val="solid"/>
                    </a:lnR>
                    <a:lnB w="9525">
                      <a:solidFill>
                        <a:srgbClr val="D3DEDD"/>
                      </a:solidFill>
                      <a:prstDash val="solid"/>
                    </a:lnB>
                    <a:solidFill>
                      <a:srgbClr val="FFFFFF"/>
                    </a:solidFill>
                  </a:tcPr>
                </a:tc>
              </a:tr>
              <a:tr h="628650">
                <a:tc>
                  <a:txBody>
                    <a:bodyPr/>
                    <a:lstStyle/>
                    <a:p>
                      <a:r>
                        <a:rPr sz="1650" b="0">
                          <a:solidFill>
                            <a:srgbClr val="102A36"/>
                          </a:solidFill>
                          <a:latin typeface="DejaVu Sans"/>
                          <a:ea typeface="DejaVu Sans"/>
                          <a:cs typeface="DejaVu Sans"/>
                        </a:rPr>
                        <a:t>Team contributions</a:t>
                      </a:r>
                    </a:p>
                  </a:txBody>
                  <a:tcPr marL="91440" marR="91440" marT="45720" marB="45720">
                    <a:lnL w="9525">
                      <a:solidFill>
                        <a:srgbClr val="D3DEDD"/>
                      </a:solidFill>
                      <a:prstDash val="solid"/>
                    </a:lnL>
                    <a:lnR w="9525">
                      <a:solidFill>
                        <a:srgbClr val="D3DEDD"/>
                      </a:solidFill>
                      <a:prstDash val="solid"/>
                    </a:lnR>
                    <a:lnB w="9525">
                      <a:solidFill>
                        <a:srgbClr val="D3DEDD"/>
                      </a:solidFill>
                      <a:prstDash val="solid"/>
                    </a:lnB>
                    <a:solidFill>
                      <a:srgbClr val="E8EFED"/>
                    </a:solidFill>
                  </a:tcPr>
                </a:tc>
                <a:tc>
                  <a:txBody>
                    <a:bodyPr/>
                    <a:lstStyle/>
                    <a:p>
                      <a:r>
                        <a:rPr sz="1650" b="0">
                          <a:solidFill>
                            <a:srgbClr val="102A36"/>
                          </a:solidFill>
                          <a:latin typeface="DejaVu Sans"/>
                          <a:ea typeface="DejaVu Sans"/>
                          <a:cs typeface="DejaVu Sans"/>
                        </a:rPr>
                        <a:t>Named owners for development, UI and testing</a:t>
                      </a:r>
                    </a:p>
                  </a:txBody>
                  <a:tcPr marL="91440" marR="91440" marT="45720" marB="45720">
                    <a:lnR w="9525">
                      <a:solidFill>
                        <a:srgbClr val="D3DEDD"/>
                      </a:solidFill>
                      <a:prstDash val="solid"/>
                    </a:lnR>
                    <a:lnB w="9525">
                      <a:solidFill>
                        <a:srgbClr val="D3DEDD"/>
                      </a:solidFill>
                      <a:prstDash val="solid"/>
                    </a:lnB>
                    <a:solidFill>
                      <a:srgbClr val="E8EFED"/>
                    </a:solidFill>
                  </a:tcPr>
                </a:tc>
              </a:tr>
            </a:tbl>
          </a:graphicData>
        </a:graphic>
      </p:graphicFrame>
      <p:pic xmlns:a="http://schemas.openxmlformats.org/drawingml/2006/main" xmlns:r="http://schemas.openxmlformats.org/officeDocument/2006/relationships">
        <p:nvPicPr>
          <p:cNvPr id="6" name="Picture 5" descr="image.png"/>
          <p:cNvPicPr>
            <a:picLocks noChangeAspect="1"/>
          </p:cNvPicPr>
          <p:nvPr/>
        </p:nvPicPr>
        <p:blipFill>
          <a:blip r:embed="rId3"/>
          <a:stretch>
            <a:fillRect/>
          </a:stretch>
        </p:blipFill>
        <p:spPr>
          <a:xfrm>
            <a:off x="137160" y="91440"/>
            <a:ext cx="960120" cy="526398"/>
          </a:xfrm>
          <a:prstGeom prst="rect">
            <a:avLst/>
          </a:prstGeom>
        </p:spPr>
      </p:pic>
    </p:spTree>
    <p:extLst>
      <p:ext uri="{BB962C8B-B14F-4D97-AF65-F5344CB8AC3E}">
        <p14:creationId xmlns:p14="http://schemas.microsoft.com/office/powerpoint/2010/main" val="448729187"/>
      </p:ext>
    </p:extLst>
  </p:cSld>
</p:sld>
</file>

<file path=ppt/slides/slide14.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A970818-72DF-4332-96AA-DC6DFE7B5CFC}"/>
              </a:ext>
            </a:extLst>
          </p:cNvPr>
          <p:cNvSpPr>
            <a:spLocks xmlns:a="http://schemas.openxmlformats.org/drawingml/2006/main" noGrp="1"/>
          </p:cNvSpPr>
          <p:nvPr/>
        </p:nvSpPr>
        <p:spPr>
          <a:xfrm xmlns:a="http://schemas.openxmlformats.org/drawingml/2006/main">
            <a:off x="609600" y="514350"/>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02A36"/>
                </a:solidFill>
                <a:latin typeface="DejaVu Sans"/>
                <a:ea typeface="DejaVu Sans"/>
                <a:cs typeface="DejaVu Sans"/>
              </a:defRPr>
            </a:defPPr>
            <a:lvl1pPr>
              <a:buNone/>
              <a:defRPr sz="3225" b="1">
                <a:solidFill>
                  <a:srgbClr val="102A36"/>
                </a:solidFill>
                <a:latin typeface="DejaVu Sans"/>
                <a:ea typeface="DejaVu Sans"/>
                <a:cs typeface="DejaVu Sans"/>
              </a:defRPr>
            </a:lvl1pPr>
            <a:lvl2pPr>
              <a:buNone/>
              <a:defRPr sz="3225" b="1">
                <a:solidFill>
                  <a:srgbClr val="102A36"/>
                </a:solidFill>
                <a:latin typeface="DejaVu Sans"/>
                <a:ea typeface="DejaVu Sans"/>
                <a:cs typeface="DejaVu Sans"/>
              </a:defRPr>
            </a:lvl2pPr>
            <a:lvl3pPr>
              <a:buNone/>
              <a:defRPr sz="3225" b="1">
                <a:solidFill>
                  <a:srgbClr val="102A36"/>
                </a:solidFill>
                <a:latin typeface="DejaVu Sans"/>
                <a:ea typeface="DejaVu Sans"/>
                <a:cs typeface="DejaVu Sans"/>
              </a:defRPr>
            </a:lvl3pPr>
            <a:lvl4pPr>
              <a:buNone/>
              <a:defRPr sz="3225" b="1">
                <a:solidFill>
                  <a:srgbClr val="102A36"/>
                </a:solidFill>
                <a:latin typeface="DejaVu Sans"/>
                <a:ea typeface="DejaVu Sans"/>
                <a:cs typeface="DejaVu Sans"/>
              </a:defRPr>
            </a:lvl4pPr>
            <a:lvl5pPr>
              <a:buNone/>
              <a:defRPr sz="3225" b="1">
                <a:solidFill>
                  <a:srgbClr val="102A36"/>
                </a:solidFill>
                <a:latin typeface="DejaVu Sans"/>
                <a:ea typeface="DejaVu Sans"/>
                <a:cs typeface="DejaVu Sans"/>
              </a:defRPr>
            </a:lvl5pPr>
            <a:lvl6pPr>
              <a:buNone/>
              <a:defRPr sz="3225" b="1">
                <a:solidFill>
                  <a:srgbClr val="102A36"/>
                </a:solidFill>
                <a:latin typeface="DejaVu Sans"/>
                <a:ea typeface="DejaVu Sans"/>
                <a:cs typeface="DejaVu Sans"/>
              </a:defRPr>
            </a:lvl6pPr>
            <a:lvl7pPr>
              <a:buNone/>
              <a:defRPr sz="3225" b="1">
                <a:solidFill>
                  <a:srgbClr val="102A36"/>
                </a:solidFill>
                <a:latin typeface="DejaVu Sans"/>
                <a:ea typeface="DejaVu Sans"/>
                <a:cs typeface="DejaVu Sans"/>
              </a:defRPr>
            </a:lvl7pPr>
            <a:lvl8pPr>
              <a:buNone/>
              <a:defRPr sz="3225" b="1">
                <a:solidFill>
                  <a:srgbClr val="102A36"/>
                </a:solidFill>
                <a:latin typeface="DejaVu Sans"/>
                <a:ea typeface="DejaVu Sans"/>
                <a:cs typeface="DejaVu Sans"/>
              </a:defRPr>
            </a:lvl8pPr>
            <a:lvl9pPr>
              <a:buNone/>
              <a:defRPr sz="3225" b="1">
                <a:solidFill>
                  <a:srgbClr val="102A36"/>
                </a:solidFill>
                <a:latin typeface="DejaVu Sans"/>
                <a:ea typeface="DejaVu Sans"/>
                <a:cs typeface="DejaVu Sans"/>
              </a:defRPr>
            </a:lvl9pPr>
          </a:lstStyle>
          <a:p xmlns:a="http://schemas.openxmlformats.org/drawingml/2006/main">
            <a:pPr>
              <a:buNone/>
              <a:defRPr sz="3225" b="1">
                <a:solidFill>
                  <a:srgbClr val="102A36"/>
                </a:solidFill>
                <a:latin typeface="DejaVu Sans"/>
                <a:ea typeface="DejaVu Sans"/>
                <a:cs typeface="DejaVu Sans"/>
              </a:defRPr>
            </a:pPr>
            <a:r>
              <a:rPr sz="3225" b="1">
                <a:solidFill>
                  <a:srgbClr val="102A36"/>
                </a:solidFill>
                <a:latin typeface="DejaVu Sans"/>
                <a:ea typeface="DejaVu Sans"/>
                <a:cs typeface="DejaVu Sans"/>
              </a:rPr>
              <a:t>Impact and future scope</a:t>
            </a:r>
          </a:p>
        </p:txBody>
      </p:sp>
      <p:sp>
        <p:nvSpPr>
          <p:cNvPr id="2" name="">
            <a:extLst xmlns:a="http://schemas.openxmlformats.org/drawingml/2006/main">
              <a:ext uri="{FF2B5EF4-FFF2-40B4-BE49-F238E27FC236}">
                <a16:creationId xmlns:a16="http://schemas.microsoft.com/office/drawing/2014/main" id="{8E023456-899F-448B-843E-E0600298D1D1}"/>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50616A"/>
                </a:solidFill>
                <a:latin typeface="DejaVu Sans"/>
                <a:ea typeface="DejaVu Sans"/>
                <a:cs typeface="DejaVu Sans"/>
              </a:defRPr>
            </a:defPPr>
            <a:lvl1pPr>
              <a:buNone/>
              <a:defRPr sz="1800" b="0">
                <a:solidFill>
                  <a:srgbClr val="50616A"/>
                </a:solidFill>
                <a:latin typeface="DejaVu Sans"/>
                <a:ea typeface="DejaVu Sans"/>
                <a:cs typeface="DejaVu Sans"/>
              </a:defRPr>
            </a:lvl1pPr>
            <a:lvl2pPr>
              <a:buNone/>
              <a:defRPr sz="1800" b="0">
                <a:solidFill>
                  <a:srgbClr val="50616A"/>
                </a:solidFill>
                <a:latin typeface="DejaVu Sans"/>
                <a:ea typeface="DejaVu Sans"/>
                <a:cs typeface="DejaVu Sans"/>
              </a:defRPr>
            </a:lvl2pPr>
            <a:lvl3pPr>
              <a:buNone/>
              <a:defRPr sz="1800" b="0">
                <a:solidFill>
                  <a:srgbClr val="50616A"/>
                </a:solidFill>
                <a:latin typeface="DejaVu Sans"/>
                <a:ea typeface="DejaVu Sans"/>
                <a:cs typeface="DejaVu Sans"/>
              </a:defRPr>
            </a:lvl3pPr>
            <a:lvl4pPr>
              <a:buNone/>
              <a:defRPr sz="1800" b="0">
                <a:solidFill>
                  <a:srgbClr val="50616A"/>
                </a:solidFill>
                <a:latin typeface="DejaVu Sans"/>
                <a:ea typeface="DejaVu Sans"/>
                <a:cs typeface="DejaVu Sans"/>
              </a:defRPr>
            </a:lvl4pPr>
            <a:lvl5pPr>
              <a:buNone/>
              <a:defRPr sz="1800" b="0">
                <a:solidFill>
                  <a:srgbClr val="50616A"/>
                </a:solidFill>
                <a:latin typeface="DejaVu Sans"/>
                <a:ea typeface="DejaVu Sans"/>
                <a:cs typeface="DejaVu Sans"/>
              </a:defRPr>
            </a:lvl5pPr>
            <a:lvl6pPr>
              <a:buNone/>
              <a:defRPr sz="1800" b="0">
                <a:solidFill>
                  <a:srgbClr val="50616A"/>
                </a:solidFill>
                <a:latin typeface="DejaVu Sans"/>
                <a:ea typeface="DejaVu Sans"/>
                <a:cs typeface="DejaVu Sans"/>
              </a:defRPr>
            </a:lvl6pPr>
            <a:lvl7pPr>
              <a:buNone/>
              <a:defRPr sz="1800" b="0">
                <a:solidFill>
                  <a:srgbClr val="50616A"/>
                </a:solidFill>
                <a:latin typeface="DejaVu Sans"/>
                <a:ea typeface="DejaVu Sans"/>
                <a:cs typeface="DejaVu Sans"/>
              </a:defRPr>
            </a:lvl7pPr>
            <a:lvl8pPr>
              <a:buNone/>
              <a:defRPr sz="1800" b="0">
                <a:solidFill>
                  <a:srgbClr val="50616A"/>
                </a:solidFill>
                <a:latin typeface="DejaVu Sans"/>
                <a:ea typeface="DejaVu Sans"/>
                <a:cs typeface="DejaVu Sans"/>
              </a:defRPr>
            </a:lvl8pPr>
            <a:lvl9pPr>
              <a:buNone/>
              <a:defRPr sz="1800" b="0">
                <a:solidFill>
                  <a:srgbClr val="50616A"/>
                </a:solidFill>
                <a:latin typeface="DejaVu Sans"/>
                <a:ea typeface="DejaVu Sans"/>
                <a:cs typeface="DejaVu Sans"/>
              </a:defRPr>
            </a:lvl9pPr>
          </a:lstStyle>
          <a:p xmlns:a="http://schemas.openxmlformats.org/drawingml/2006/main">
            <a:pPr>
              <a:buNone/>
              <a:defRPr sz="1800" b="0">
                <a:solidFill>
                  <a:srgbClr val="50616A"/>
                </a:solidFill>
                <a:latin typeface="DejaVu Sans"/>
                <a:ea typeface="DejaVu Sans"/>
                <a:cs typeface="DejaVu Sans"/>
              </a:defRPr>
            </a:pPr>
            <a:r>
              <a:rPr sz="1800" b="0">
                <a:solidFill>
                  <a:srgbClr val="50616A"/>
                </a:solidFill>
                <a:latin typeface="DejaVu Sans"/>
                <a:ea typeface="DejaVu Sans"/>
                <a:cs typeface="DejaVu Sans"/>
              </a:rPr>
              <a:t>The tool connects operating-system concepts with visible behaviour.</a:t>
            </a:r>
          </a:p>
        </p:txBody>
      </p:sp>
      <p:sp>
        <p:nvSpPr>
          <p:cNvPr id="3" name="">
            <a:extLst xmlns:a="http://schemas.openxmlformats.org/drawingml/2006/main">
              <a:ext uri="{FF2B5EF4-FFF2-40B4-BE49-F238E27FC236}">
                <a16:creationId xmlns:a16="http://schemas.microsoft.com/office/drawing/2014/main" id="{B9B0B29F-C487-4962-A6ED-F20349C2EAF0}"/>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0616A"/>
                </a:solidFill>
                <a:latin typeface="DejaVu Sans"/>
                <a:ea typeface="DejaVu Sans"/>
                <a:cs typeface="DejaVu Sans"/>
              </a:defRPr>
            </a:defPPr>
            <a:lvl1pPr>
              <a:buNone/>
              <a:defRPr sz="1350" b="0">
                <a:solidFill>
                  <a:srgbClr val="50616A"/>
                </a:solidFill>
                <a:latin typeface="DejaVu Sans"/>
                <a:ea typeface="DejaVu Sans"/>
                <a:cs typeface="DejaVu Sans"/>
              </a:defRPr>
            </a:lvl1pPr>
            <a:lvl2pPr>
              <a:buNone/>
              <a:defRPr sz="1350" b="0">
                <a:solidFill>
                  <a:srgbClr val="50616A"/>
                </a:solidFill>
                <a:latin typeface="DejaVu Sans"/>
                <a:ea typeface="DejaVu Sans"/>
                <a:cs typeface="DejaVu Sans"/>
              </a:defRPr>
            </a:lvl2pPr>
            <a:lvl3pPr>
              <a:buNone/>
              <a:defRPr sz="1350" b="0">
                <a:solidFill>
                  <a:srgbClr val="50616A"/>
                </a:solidFill>
                <a:latin typeface="DejaVu Sans"/>
                <a:ea typeface="DejaVu Sans"/>
                <a:cs typeface="DejaVu Sans"/>
              </a:defRPr>
            </a:lvl3pPr>
            <a:lvl4pPr>
              <a:buNone/>
              <a:defRPr sz="1350" b="0">
                <a:solidFill>
                  <a:srgbClr val="50616A"/>
                </a:solidFill>
                <a:latin typeface="DejaVu Sans"/>
                <a:ea typeface="DejaVu Sans"/>
                <a:cs typeface="DejaVu Sans"/>
              </a:defRPr>
            </a:lvl4pPr>
            <a:lvl5pPr>
              <a:buNone/>
              <a:defRPr sz="1350" b="0">
                <a:solidFill>
                  <a:srgbClr val="50616A"/>
                </a:solidFill>
                <a:latin typeface="DejaVu Sans"/>
                <a:ea typeface="DejaVu Sans"/>
                <a:cs typeface="DejaVu Sans"/>
              </a:defRPr>
            </a:lvl5pPr>
            <a:lvl6pPr>
              <a:buNone/>
              <a:defRPr sz="1350" b="0">
                <a:solidFill>
                  <a:srgbClr val="50616A"/>
                </a:solidFill>
                <a:latin typeface="DejaVu Sans"/>
                <a:ea typeface="DejaVu Sans"/>
                <a:cs typeface="DejaVu Sans"/>
              </a:defRPr>
            </a:lvl6pPr>
            <a:lvl7pPr>
              <a:buNone/>
              <a:defRPr sz="1350" b="0">
                <a:solidFill>
                  <a:srgbClr val="50616A"/>
                </a:solidFill>
                <a:latin typeface="DejaVu Sans"/>
                <a:ea typeface="DejaVu Sans"/>
                <a:cs typeface="DejaVu Sans"/>
              </a:defRPr>
            </a:lvl7pPr>
            <a:lvl8pPr>
              <a:buNone/>
              <a:defRPr sz="1350" b="0">
                <a:solidFill>
                  <a:srgbClr val="50616A"/>
                </a:solidFill>
                <a:latin typeface="DejaVu Sans"/>
                <a:ea typeface="DejaVu Sans"/>
                <a:cs typeface="DejaVu Sans"/>
              </a:defRPr>
            </a:lvl8pPr>
            <a:lvl9pPr>
              <a:buNone/>
              <a:defRPr sz="1350" b="0">
                <a:solidFill>
                  <a:srgbClr val="50616A"/>
                </a:solidFill>
                <a:latin typeface="DejaVu Sans"/>
                <a:ea typeface="DejaVu Sans"/>
                <a:cs typeface="DejaVu Sans"/>
              </a:defRPr>
            </a:lvl9pPr>
          </a:lstStyle>
          <a:p xmlns:a="http://schemas.openxmlformats.org/drawingml/2006/main">
            <a:pPr>
              <a:buNone/>
              <a:defRPr sz="1350" b="0">
                <a:solidFill>
                  <a:srgbClr val="50616A"/>
                </a:solidFill>
                <a:latin typeface="DejaVu Sans"/>
                <a:ea typeface="DejaVu Sans"/>
                <a:cs typeface="DejaVu Sans"/>
              </a:defRPr>
            </a:pPr>
            <a:r>
              <a:rPr sz="1350" b="0">
                <a:solidFill>
                  <a:srgbClr val="50616A"/>
                </a:solidFill>
                <a:latin typeface="DejaVu Sans"/>
                <a:ea typeface="DejaVu Sans"/>
                <a:cs typeface="DejaVu Sans"/>
              </a:rPr>
              <a:t>14</a:t>
            </a:r>
          </a:p>
        </p:txBody>
      </p:sp>
      <p:sp>
        <p:nvSpPr>
          <p:cNvPr id="4" name="">
            <a:extLst xmlns:a="http://schemas.openxmlformats.org/drawingml/2006/main">
              <a:ext uri="{FF2B5EF4-FFF2-40B4-BE49-F238E27FC236}">
                <a16:creationId xmlns:a16="http://schemas.microsoft.com/office/drawing/2014/main" id="{456BF32B-4937-435B-8AB1-0BAFDB620DDE}"/>
              </a:ext>
            </a:extLst>
          </p:cNvPr>
          <p:cNvSpPr>
            <a:spLocks xmlns:a="http://schemas.openxmlformats.org/drawingml/2006/main" noGrp="1"/>
          </p:cNvSpPr>
          <p:nvPr/>
        </p:nvSpPr>
        <p:spPr>
          <a:xfrm xmlns:a="http://schemas.openxmlformats.org/drawingml/2006/main">
            <a:off x="609600" y="21907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DFBC9681-9657-4953-A831-C3DF63C48635}"/>
              </a:ext>
            </a:extLst>
          </p:cNvPr>
          <p:cNvSpPr>
            <a:spLocks xmlns:a="http://schemas.openxmlformats.org/drawingml/2006/main" noGrp="1"/>
          </p:cNvSpPr>
          <p:nvPr/>
        </p:nvSpPr>
        <p:spPr>
          <a:xfrm xmlns:a="http://schemas.openxmlformats.org/drawingml/2006/main">
            <a:off x="1524000" y="219075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Helps students understand process creation and cleanup.</a:t>
            </a:r>
          </a:p>
        </p:txBody>
      </p:sp>
      <p:sp>
        <p:nvSpPr>
          <p:cNvPr id="6" name="">
            <a:extLst xmlns:a="http://schemas.openxmlformats.org/drawingml/2006/main">
              <a:ext uri="{FF2B5EF4-FFF2-40B4-BE49-F238E27FC236}">
                <a16:creationId xmlns:a16="http://schemas.microsoft.com/office/drawing/2014/main" id="{17125C72-52AB-41C4-A4FC-4B974E20E010}"/>
              </a:ext>
            </a:extLst>
          </p:cNvPr>
          <p:cNvSpPr>
            <a:spLocks xmlns:a="http://schemas.openxmlformats.org/drawingml/2006/main" noGrp="1"/>
          </p:cNvSpPr>
          <p:nvPr/>
        </p:nvSpPr>
        <p:spPr>
          <a:xfrm xmlns:a="http://schemas.openxmlformats.org/drawingml/2006/main">
            <a:off x="609600" y="3057525"/>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02</a:t>
            </a:r>
          </a:p>
        </p:txBody>
      </p:sp>
      <p:sp>
        <p:nvSpPr>
          <p:cNvPr id="7" name="">
            <a:extLst xmlns:a="http://schemas.openxmlformats.org/drawingml/2006/main">
              <a:ext uri="{FF2B5EF4-FFF2-40B4-BE49-F238E27FC236}">
                <a16:creationId xmlns:a16="http://schemas.microsoft.com/office/drawing/2014/main" id="{58FB8C01-DBAA-4BD7-A7B7-EF3D76FF1521}"/>
              </a:ext>
            </a:extLst>
          </p:cNvPr>
          <p:cNvSpPr>
            <a:spLocks xmlns:a="http://schemas.openxmlformats.org/drawingml/2006/main" noGrp="1"/>
          </p:cNvSpPr>
          <p:nvPr/>
        </p:nvSpPr>
        <p:spPr>
          <a:xfrm xmlns:a="http://schemas.openxmlformats.org/drawingml/2006/main">
            <a:off x="1524000" y="3057525"/>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Supports debugging of uncollected child exit statuses.</a:t>
            </a:r>
          </a:p>
        </p:txBody>
      </p:sp>
      <p:sp>
        <p:nvSpPr>
          <p:cNvPr id="8" name="">
            <a:extLst xmlns:a="http://schemas.openxmlformats.org/drawingml/2006/main">
              <a:ext uri="{FF2B5EF4-FFF2-40B4-BE49-F238E27FC236}">
                <a16:creationId xmlns:a16="http://schemas.microsoft.com/office/drawing/2014/main" id="{ADC149BD-0181-4A1D-8C2E-071A2B5EDEFE}"/>
              </a:ext>
            </a:extLst>
          </p:cNvPr>
          <p:cNvSpPr>
            <a:spLocks xmlns:a="http://schemas.openxmlformats.org/drawingml/2006/main" noGrp="1"/>
          </p:cNvSpPr>
          <p:nvPr/>
        </p:nvSpPr>
        <p:spPr>
          <a:xfrm xmlns:a="http://schemas.openxmlformats.org/drawingml/2006/main">
            <a:off x="609600" y="39243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03</a:t>
            </a:r>
          </a:p>
        </p:txBody>
      </p:sp>
      <p:sp>
        <p:nvSpPr>
          <p:cNvPr id="9" name="">
            <a:extLst xmlns:a="http://schemas.openxmlformats.org/drawingml/2006/main">
              <a:ext uri="{FF2B5EF4-FFF2-40B4-BE49-F238E27FC236}">
                <a16:creationId xmlns:a16="http://schemas.microsoft.com/office/drawing/2014/main" id="{67358674-DF96-4984-A21F-3C9ABFA94B94}"/>
              </a:ext>
            </a:extLst>
          </p:cNvPr>
          <p:cNvSpPr>
            <a:spLocks xmlns:a="http://schemas.openxmlformats.org/drawingml/2006/main" noGrp="1"/>
          </p:cNvSpPr>
          <p:nvPr/>
        </p:nvSpPr>
        <p:spPr>
          <a:xfrm xmlns:a="http://schemas.openxmlformats.org/drawingml/2006/main">
            <a:off x="1524000" y="392430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Makes parent changes visible during a controlled demo.</a:t>
            </a:r>
          </a:p>
        </p:txBody>
      </p:sp>
      <p:sp>
        <p:nvSpPr>
          <p:cNvPr id="10" name="">
            <a:extLst xmlns:a="http://schemas.openxmlformats.org/drawingml/2006/main">
              <a:ext uri="{FF2B5EF4-FFF2-40B4-BE49-F238E27FC236}">
                <a16:creationId xmlns:a16="http://schemas.microsoft.com/office/drawing/2014/main" id="{EED9A117-EFFA-4CE7-8773-2C61A0D06B66}"/>
              </a:ext>
            </a:extLst>
          </p:cNvPr>
          <p:cNvSpPr>
            <a:spLocks xmlns:a="http://schemas.openxmlformats.org/drawingml/2006/main" noGrp="1"/>
          </p:cNvSpPr>
          <p:nvPr/>
        </p:nvSpPr>
        <p:spPr>
          <a:xfrm xmlns:a="http://schemas.openxmlformats.org/drawingml/2006/main">
            <a:off x="609600" y="4791075"/>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7E80"/>
                </a:solidFill>
                <a:latin typeface="DejaVu Sans"/>
                <a:ea typeface="DejaVu Sans"/>
                <a:cs typeface="DejaVu Sans"/>
              </a:defRPr>
            </a:defPPr>
            <a:lvl1pPr>
              <a:buNone/>
              <a:defRPr sz="1950" b="1">
                <a:solidFill>
                  <a:srgbClr val="007E80"/>
                </a:solidFill>
                <a:latin typeface="DejaVu Sans"/>
                <a:ea typeface="DejaVu Sans"/>
                <a:cs typeface="DejaVu Sans"/>
              </a:defRPr>
            </a:lvl1pPr>
            <a:lvl2pPr>
              <a:buNone/>
              <a:defRPr sz="1950" b="1">
                <a:solidFill>
                  <a:srgbClr val="007E80"/>
                </a:solidFill>
                <a:latin typeface="DejaVu Sans"/>
                <a:ea typeface="DejaVu Sans"/>
                <a:cs typeface="DejaVu Sans"/>
              </a:defRPr>
            </a:lvl2pPr>
            <a:lvl3pPr>
              <a:buNone/>
              <a:defRPr sz="1950" b="1">
                <a:solidFill>
                  <a:srgbClr val="007E80"/>
                </a:solidFill>
                <a:latin typeface="DejaVu Sans"/>
                <a:ea typeface="DejaVu Sans"/>
                <a:cs typeface="DejaVu Sans"/>
              </a:defRPr>
            </a:lvl3pPr>
            <a:lvl4pPr>
              <a:buNone/>
              <a:defRPr sz="1950" b="1">
                <a:solidFill>
                  <a:srgbClr val="007E80"/>
                </a:solidFill>
                <a:latin typeface="DejaVu Sans"/>
                <a:ea typeface="DejaVu Sans"/>
                <a:cs typeface="DejaVu Sans"/>
              </a:defRPr>
            </a:lvl4pPr>
            <a:lvl5pPr>
              <a:buNone/>
              <a:defRPr sz="1950" b="1">
                <a:solidFill>
                  <a:srgbClr val="007E80"/>
                </a:solidFill>
                <a:latin typeface="DejaVu Sans"/>
                <a:ea typeface="DejaVu Sans"/>
                <a:cs typeface="DejaVu Sans"/>
              </a:defRPr>
            </a:lvl5pPr>
            <a:lvl6pPr>
              <a:buNone/>
              <a:defRPr sz="1950" b="1">
                <a:solidFill>
                  <a:srgbClr val="007E80"/>
                </a:solidFill>
                <a:latin typeface="DejaVu Sans"/>
                <a:ea typeface="DejaVu Sans"/>
                <a:cs typeface="DejaVu Sans"/>
              </a:defRPr>
            </a:lvl6pPr>
            <a:lvl7pPr>
              <a:buNone/>
              <a:defRPr sz="1950" b="1">
                <a:solidFill>
                  <a:srgbClr val="007E80"/>
                </a:solidFill>
                <a:latin typeface="DejaVu Sans"/>
                <a:ea typeface="DejaVu Sans"/>
                <a:cs typeface="DejaVu Sans"/>
              </a:defRPr>
            </a:lvl7pPr>
            <a:lvl8pPr>
              <a:buNone/>
              <a:defRPr sz="1950" b="1">
                <a:solidFill>
                  <a:srgbClr val="007E80"/>
                </a:solidFill>
                <a:latin typeface="DejaVu Sans"/>
                <a:ea typeface="DejaVu Sans"/>
                <a:cs typeface="DejaVu Sans"/>
              </a:defRPr>
            </a:lvl8pPr>
            <a:lvl9pPr>
              <a:buNone/>
              <a:defRPr sz="1950" b="1">
                <a:solidFill>
                  <a:srgbClr val="007E80"/>
                </a:solidFill>
                <a:latin typeface="DejaVu Sans"/>
                <a:ea typeface="DejaVu Sans"/>
                <a:cs typeface="DejaVu Sans"/>
              </a:defRPr>
            </a:lvl9pPr>
          </a:lstStyle>
          <a:p xmlns:a="http://schemas.openxmlformats.org/drawingml/2006/main">
            <a:pPr>
              <a:buNone/>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04</a:t>
            </a:r>
          </a:p>
        </p:txBody>
      </p:sp>
      <p:sp>
        <p:nvSpPr>
          <p:cNvPr id="11" name="">
            <a:extLst xmlns:a="http://schemas.openxmlformats.org/drawingml/2006/main">
              <a:ext uri="{FF2B5EF4-FFF2-40B4-BE49-F238E27FC236}">
                <a16:creationId xmlns:a16="http://schemas.microsoft.com/office/drawing/2014/main" id="{FA54A734-840E-47DA-8DCC-43E631CC88AC}"/>
              </a:ext>
            </a:extLst>
          </p:cNvPr>
          <p:cNvSpPr>
            <a:spLocks xmlns:a="http://schemas.openxmlformats.org/drawingml/2006/main" noGrp="1"/>
          </p:cNvSpPr>
          <p:nvPr/>
        </p:nvSpPr>
        <p:spPr>
          <a:xfrm xmlns:a="http://schemas.openxmlformats.org/drawingml/2006/main">
            <a:off x="1524000" y="4791075"/>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A36"/>
                </a:solidFill>
                <a:latin typeface="DejaVu Sans"/>
                <a:ea typeface="DejaVu Sans"/>
                <a:cs typeface="DejaVu Sans"/>
              </a:defRPr>
            </a:defPPr>
            <a:lvl1pPr>
              <a:buNone/>
              <a:defRPr sz="2100" b="0">
                <a:solidFill>
                  <a:srgbClr val="102A36"/>
                </a:solidFill>
                <a:latin typeface="DejaVu Sans"/>
                <a:ea typeface="DejaVu Sans"/>
                <a:cs typeface="DejaVu Sans"/>
              </a:defRPr>
            </a:lvl1pPr>
            <a:lvl2pPr>
              <a:buNone/>
              <a:defRPr sz="2100" b="0">
                <a:solidFill>
                  <a:srgbClr val="102A36"/>
                </a:solidFill>
                <a:latin typeface="DejaVu Sans"/>
                <a:ea typeface="DejaVu Sans"/>
                <a:cs typeface="DejaVu Sans"/>
              </a:defRPr>
            </a:lvl2pPr>
            <a:lvl3pPr>
              <a:buNone/>
              <a:defRPr sz="2100" b="0">
                <a:solidFill>
                  <a:srgbClr val="102A36"/>
                </a:solidFill>
                <a:latin typeface="DejaVu Sans"/>
                <a:ea typeface="DejaVu Sans"/>
                <a:cs typeface="DejaVu Sans"/>
              </a:defRPr>
            </a:lvl3pPr>
            <a:lvl4pPr>
              <a:buNone/>
              <a:defRPr sz="2100" b="0">
                <a:solidFill>
                  <a:srgbClr val="102A36"/>
                </a:solidFill>
                <a:latin typeface="DejaVu Sans"/>
                <a:ea typeface="DejaVu Sans"/>
                <a:cs typeface="DejaVu Sans"/>
              </a:defRPr>
            </a:lvl4pPr>
            <a:lvl5pPr>
              <a:buNone/>
              <a:defRPr sz="2100" b="0">
                <a:solidFill>
                  <a:srgbClr val="102A36"/>
                </a:solidFill>
                <a:latin typeface="DejaVu Sans"/>
                <a:ea typeface="DejaVu Sans"/>
                <a:cs typeface="DejaVu Sans"/>
              </a:defRPr>
            </a:lvl5pPr>
            <a:lvl6pPr>
              <a:buNone/>
              <a:defRPr sz="2100" b="0">
                <a:solidFill>
                  <a:srgbClr val="102A36"/>
                </a:solidFill>
                <a:latin typeface="DejaVu Sans"/>
                <a:ea typeface="DejaVu Sans"/>
                <a:cs typeface="DejaVu Sans"/>
              </a:defRPr>
            </a:lvl6pPr>
            <a:lvl7pPr>
              <a:buNone/>
              <a:defRPr sz="2100" b="0">
                <a:solidFill>
                  <a:srgbClr val="102A36"/>
                </a:solidFill>
                <a:latin typeface="DejaVu Sans"/>
                <a:ea typeface="DejaVu Sans"/>
                <a:cs typeface="DejaVu Sans"/>
              </a:defRPr>
            </a:lvl7pPr>
            <a:lvl8pPr>
              <a:buNone/>
              <a:defRPr sz="2100" b="0">
                <a:solidFill>
                  <a:srgbClr val="102A36"/>
                </a:solidFill>
                <a:latin typeface="DejaVu Sans"/>
                <a:ea typeface="DejaVu Sans"/>
                <a:cs typeface="DejaVu Sans"/>
              </a:defRPr>
            </a:lvl8pPr>
            <a:lvl9pPr>
              <a:buNone/>
              <a:defRPr sz="2100" b="0">
                <a:solidFill>
                  <a:srgbClr val="102A36"/>
                </a:solidFill>
                <a:latin typeface="DejaVu Sans"/>
                <a:ea typeface="DejaVu Sans"/>
                <a:cs typeface="DejaVu Sans"/>
              </a:defRPr>
            </a:lvl9pPr>
          </a:lstStyle>
          <a:p xmlns:a="http://schemas.openxmlformats.org/drawingml/2006/main">
            <a:pPr>
              <a:buNone/>
              <a:defRPr sz="2100" b="0">
                <a:solidFill>
                  <a:srgbClr val="102A36"/>
                </a:solidFill>
                <a:latin typeface="DejaVu Sans"/>
                <a:ea typeface="DejaVu Sans"/>
                <a:cs typeface="DejaVu Sans"/>
              </a:defRPr>
            </a:pPr>
            <a:r>
              <a:rPr sz="2100" b="0">
                <a:solidFill>
                  <a:srgbClr val="102A36"/>
                </a:solidFill>
                <a:latin typeface="DejaVu Sans"/>
                <a:ea typeface="DejaVu Sans"/>
                <a:cs typeface="DejaVu Sans"/>
              </a:rPr>
              <a:t>Future work: event tracing and process-history timelines.</a:t>
            </a:r>
          </a:p>
        </p:txBody>
      </p:sp>
      <p:pic xmlns:a="http://schemas.openxmlformats.org/drawingml/2006/main" xmlns:r="http://schemas.openxmlformats.org/officeDocument/2006/relationships">
        <p:nvPicPr>
          <p:cNvPr id="13" name="Picture 12" descr="image.png"/>
          <p:cNvPicPr>
            <a:picLocks noChangeAspect="1"/>
          </p:cNvPicPr>
          <p:nvPr/>
        </p:nvPicPr>
        <p:blipFill>
          <a:blip r:embed="rId3"/>
          <a:stretch>
            <a:fillRect/>
          </a:stretch>
        </p:blipFill>
        <p:spPr>
          <a:xfrm>
            <a:off x="137160" y="91440"/>
            <a:ext cx="960120" cy="526398"/>
          </a:xfrm>
          <a:prstGeom prst="rect">
            <a:avLst/>
          </a:prstGeom>
        </p:spPr>
      </p:pic>
    </p:spTree>
    <p:extLst>
      <p:ext uri="{BB962C8B-B14F-4D97-AF65-F5344CB8AC3E}">
        <p14:creationId xmlns:p14="http://schemas.microsoft.com/office/powerpoint/2010/main" val="1674072496"/>
      </p:ext>
    </p:extLst>
  </p:cSld>
</p:sld>
</file>

<file path=ppt/slides/slide15.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A85A3C-28BB-4669-9030-F25D2FF8FDB0}"/>
              </a:ext>
            </a:extLst>
          </p:cNvPr>
          <p:cNvSpPr>
            <a:spLocks xmlns:a="http://schemas.openxmlformats.org/drawingml/2006/main" noGrp="1"/>
          </p:cNvSpPr>
          <p:nvPr/>
        </p:nvSpPr>
        <p:spPr>
          <a:xfrm xmlns:a="http://schemas.openxmlformats.org/drawingml/2006/main">
            <a:off x="609600" y="514350"/>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02A36"/>
                </a:solidFill>
                <a:latin typeface="DejaVu Sans"/>
                <a:ea typeface="DejaVu Sans"/>
                <a:cs typeface="DejaVu Sans"/>
              </a:defRPr>
            </a:defPPr>
            <a:lvl1pPr>
              <a:buNone/>
              <a:defRPr sz="3225" b="1">
                <a:solidFill>
                  <a:srgbClr val="102A36"/>
                </a:solidFill>
                <a:latin typeface="DejaVu Sans"/>
                <a:ea typeface="DejaVu Sans"/>
                <a:cs typeface="DejaVu Sans"/>
              </a:defRPr>
            </a:lvl1pPr>
            <a:lvl2pPr>
              <a:buNone/>
              <a:defRPr sz="3225" b="1">
                <a:solidFill>
                  <a:srgbClr val="102A36"/>
                </a:solidFill>
                <a:latin typeface="DejaVu Sans"/>
                <a:ea typeface="DejaVu Sans"/>
                <a:cs typeface="DejaVu Sans"/>
              </a:defRPr>
            </a:lvl2pPr>
            <a:lvl3pPr>
              <a:buNone/>
              <a:defRPr sz="3225" b="1">
                <a:solidFill>
                  <a:srgbClr val="102A36"/>
                </a:solidFill>
                <a:latin typeface="DejaVu Sans"/>
                <a:ea typeface="DejaVu Sans"/>
                <a:cs typeface="DejaVu Sans"/>
              </a:defRPr>
            </a:lvl3pPr>
            <a:lvl4pPr>
              <a:buNone/>
              <a:defRPr sz="3225" b="1">
                <a:solidFill>
                  <a:srgbClr val="102A36"/>
                </a:solidFill>
                <a:latin typeface="DejaVu Sans"/>
                <a:ea typeface="DejaVu Sans"/>
                <a:cs typeface="DejaVu Sans"/>
              </a:defRPr>
            </a:lvl4pPr>
            <a:lvl5pPr>
              <a:buNone/>
              <a:defRPr sz="3225" b="1">
                <a:solidFill>
                  <a:srgbClr val="102A36"/>
                </a:solidFill>
                <a:latin typeface="DejaVu Sans"/>
                <a:ea typeface="DejaVu Sans"/>
                <a:cs typeface="DejaVu Sans"/>
              </a:defRPr>
            </a:lvl5pPr>
            <a:lvl6pPr>
              <a:buNone/>
              <a:defRPr sz="3225" b="1">
                <a:solidFill>
                  <a:srgbClr val="102A36"/>
                </a:solidFill>
                <a:latin typeface="DejaVu Sans"/>
                <a:ea typeface="DejaVu Sans"/>
                <a:cs typeface="DejaVu Sans"/>
              </a:defRPr>
            </a:lvl6pPr>
            <a:lvl7pPr>
              <a:buNone/>
              <a:defRPr sz="3225" b="1">
                <a:solidFill>
                  <a:srgbClr val="102A36"/>
                </a:solidFill>
                <a:latin typeface="DejaVu Sans"/>
                <a:ea typeface="DejaVu Sans"/>
                <a:cs typeface="DejaVu Sans"/>
              </a:defRPr>
            </a:lvl7pPr>
            <a:lvl8pPr>
              <a:buNone/>
              <a:defRPr sz="3225" b="1">
                <a:solidFill>
                  <a:srgbClr val="102A36"/>
                </a:solidFill>
                <a:latin typeface="DejaVu Sans"/>
                <a:ea typeface="DejaVu Sans"/>
                <a:cs typeface="DejaVu Sans"/>
              </a:defRPr>
            </a:lvl8pPr>
            <a:lvl9pPr>
              <a:buNone/>
              <a:defRPr sz="3225" b="1">
                <a:solidFill>
                  <a:srgbClr val="102A36"/>
                </a:solidFill>
                <a:latin typeface="DejaVu Sans"/>
                <a:ea typeface="DejaVu Sans"/>
                <a:cs typeface="DejaVu Sans"/>
              </a:defRPr>
            </a:lvl9pPr>
          </a:lstStyle>
          <a:p xmlns:a="http://schemas.openxmlformats.org/drawingml/2006/main">
            <a:pPr>
              <a:buNone/>
              <a:defRPr sz="3225" b="1">
                <a:solidFill>
                  <a:srgbClr val="102A36"/>
                </a:solidFill>
                <a:latin typeface="DejaVu Sans"/>
                <a:ea typeface="DejaVu Sans"/>
                <a:cs typeface="DejaVu Sans"/>
              </a:defRPr>
            </a:pPr>
            <a:r>
              <a:rPr sz="3225" b="1">
                <a:solidFill>
                  <a:srgbClr val="102A36"/>
                </a:solidFill>
                <a:latin typeface="DejaVu Sans"/>
                <a:ea typeface="DejaVu Sans"/>
                <a:cs typeface="DejaVu Sans"/>
              </a:rPr>
              <a:t>Conclusion and references</a:t>
            </a:r>
          </a:p>
        </p:txBody>
      </p:sp>
      <p:sp>
        <p:nvSpPr>
          <p:cNvPr id="2" name="">
            <a:extLst xmlns:a="http://schemas.openxmlformats.org/drawingml/2006/main">
              <a:ext uri="{FF2B5EF4-FFF2-40B4-BE49-F238E27FC236}">
                <a16:creationId xmlns:a16="http://schemas.microsoft.com/office/drawing/2014/main" id="{9EDC9995-F9BF-4DCC-BA13-8732238781B4}"/>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50616A"/>
                </a:solidFill>
                <a:latin typeface="DejaVu Sans"/>
                <a:ea typeface="DejaVu Sans"/>
                <a:cs typeface="DejaVu Sans"/>
              </a:defRPr>
            </a:defPPr>
            <a:lvl1pPr>
              <a:buNone/>
              <a:defRPr sz="1800" b="0">
                <a:solidFill>
                  <a:srgbClr val="50616A"/>
                </a:solidFill>
                <a:latin typeface="DejaVu Sans"/>
                <a:ea typeface="DejaVu Sans"/>
                <a:cs typeface="DejaVu Sans"/>
              </a:defRPr>
            </a:lvl1pPr>
            <a:lvl2pPr>
              <a:buNone/>
              <a:defRPr sz="1800" b="0">
                <a:solidFill>
                  <a:srgbClr val="50616A"/>
                </a:solidFill>
                <a:latin typeface="DejaVu Sans"/>
                <a:ea typeface="DejaVu Sans"/>
                <a:cs typeface="DejaVu Sans"/>
              </a:defRPr>
            </a:lvl2pPr>
            <a:lvl3pPr>
              <a:buNone/>
              <a:defRPr sz="1800" b="0">
                <a:solidFill>
                  <a:srgbClr val="50616A"/>
                </a:solidFill>
                <a:latin typeface="DejaVu Sans"/>
                <a:ea typeface="DejaVu Sans"/>
                <a:cs typeface="DejaVu Sans"/>
              </a:defRPr>
            </a:lvl3pPr>
            <a:lvl4pPr>
              <a:buNone/>
              <a:defRPr sz="1800" b="0">
                <a:solidFill>
                  <a:srgbClr val="50616A"/>
                </a:solidFill>
                <a:latin typeface="DejaVu Sans"/>
                <a:ea typeface="DejaVu Sans"/>
                <a:cs typeface="DejaVu Sans"/>
              </a:defRPr>
            </a:lvl4pPr>
            <a:lvl5pPr>
              <a:buNone/>
              <a:defRPr sz="1800" b="0">
                <a:solidFill>
                  <a:srgbClr val="50616A"/>
                </a:solidFill>
                <a:latin typeface="DejaVu Sans"/>
                <a:ea typeface="DejaVu Sans"/>
                <a:cs typeface="DejaVu Sans"/>
              </a:defRPr>
            </a:lvl5pPr>
            <a:lvl6pPr>
              <a:buNone/>
              <a:defRPr sz="1800" b="0">
                <a:solidFill>
                  <a:srgbClr val="50616A"/>
                </a:solidFill>
                <a:latin typeface="DejaVu Sans"/>
                <a:ea typeface="DejaVu Sans"/>
                <a:cs typeface="DejaVu Sans"/>
              </a:defRPr>
            </a:lvl6pPr>
            <a:lvl7pPr>
              <a:buNone/>
              <a:defRPr sz="1800" b="0">
                <a:solidFill>
                  <a:srgbClr val="50616A"/>
                </a:solidFill>
                <a:latin typeface="DejaVu Sans"/>
                <a:ea typeface="DejaVu Sans"/>
                <a:cs typeface="DejaVu Sans"/>
              </a:defRPr>
            </a:lvl7pPr>
            <a:lvl8pPr>
              <a:buNone/>
              <a:defRPr sz="1800" b="0">
                <a:solidFill>
                  <a:srgbClr val="50616A"/>
                </a:solidFill>
                <a:latin typeface="DejaVu Sans"/>
                <a:ea typeface="DejaVu Sans"/>
                <a:cs typeface="DejaVu Sans"/>
              </a:defRPr>
            </a:lvl8pPr>
            <a:lvl9pPr>
              <a:buNone/>
              <a:defRPr sz="1800" b="0">
                <a:solidFill>
                  <a:srgbClr val="50616A"/>
                </a:solidFill>
                <a:latin typeface="DejaVu Sans"/>
                <a:ea typeface="DejaVu Sans"/>
                <a:cs typeface="DejaVu Sans"/>
              </a:defRPr>
            </a:lvl9pPr>
          </a:lstStyle>
          <a:p xmlns:a="http://schemas.openxmlformats.org/drawingml/2006/main">
            <a:pPr>
              <a:buNone/>
              <a:defRPr sz="1800" b="0">
                <a:solidFill>
                  <a:srgbClr val="50616A"/>
                </a:solidFill>
                <a:latin typeface="DejaVu Sans"/>
                <a:ea typeface="DejaVu Sans"/>
                <a:cs typeface="DejaVu Sans"/>
              </a:defRPr>
            </a:pPr>
            <a:r>
              <a:rPr sz="1800" b="0">
                <a:solidFill>
                  <a:srgbClr val="50616A"/>
                </a:solidFill>
                <a:latin typeface="DejaVu Sans"/>
                <a:ea typeface="DejaVu Sans"/>
                <a:cs typeface="DejaVu Sans"/>
              </a:rPr>
              <a:t>Batch 5: Zombie and Orphan Process Detection System</a:t>
            </a:r>
          </a:p>
        </p:txBody>
      </p:sp>
      <p:sp>
        <p:nvSpPr>
          <p:cNvPr id="3" name="">
            <a:extLst xmlns:a="http://schemas.openxmlformats.org/drawingml/2006/main">
              <a:ext uri="{FF2B5EF4-FFF2-40B4-BE49-F238E27FC236}">
                <a16:creationId xmlns:a16="http://schemas.microsoft.com/office/drawing/2014/main" id="{6027E8F9-60B6-4CE0-AE7B-F9FA06CC99A6}"/>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0616A"/>
                </a:solidFill>
                <a:latin typeface="DejaVu Sans"/>
                <a:ea typeface="DejaVu Sans"/>
                <a:cs typeface="DejaVu Sans"/>
              </a:defRPr>
            </a:defPPr>
            <a:lvl1pPr>
              <a:buNone/>
              <a:defRPr sz="1350" b="0">
                <a:solidFill>
                  <a:srgbClr val="50616A"/>
                </a:solidFill>
                <a:latin typeface="DejaVu Sans"/>
                <a:ea typeface="DejaVu Sans"/>
                <a:cs typeface="DejaVu Sans"/>
              </a:defRPr>
            </a:lvl1pPr>
            <a:lvl2pPr>
              <a:buNone/>
              <a:defRPr sz="1350" b="0">
                <a:solidFill>
                  <a:srgbClr val="50616A"/>
                </a:solidFill>
                <a:latin typeface="DejaVu Sans"/>
                <a:ea typeface="DejaVu Sans"/>
                <a:cs typeface="DejaVu Sans"/>
              </a:defRPr>
            </a:lvl2pPr>
            <a:lvl3pPr>
              <a:buNone/>
              <a:defRPr sz="1350" b="0">
                <a:solidFill>
                  <a:srgbClr val="50616A"/>
                </a:solidFill>
                <a:latin typeface="DejaVu Sans"/>
                <a:ea typeface="DejaVu Sans"/>
                <a:cs typeface="DejaVu Sans"/>
              </a:defRPr>
            </a:lvl3pPr>
            <a:lvl4pPr>
              <a:buNone/>
              <a:defRPr sz="1350" b="0">
                <a:solidFill>
                  <a:srgbClr val="50616A"/>
                </a:solidFill>
                <a:latin typeface="DejaVu Sans"/>
                <a:ea typeface="DejaVu Sans"/>
                <a:cs typeface="DejaVu Sans"/>
              </a:defRPr>
            </a:lvl4pPr>
            <a:lvl5pPr>
              <a:buNone/>
              <a:defRPr sz="1350" b="0">
                <a:solidFill>
                  <a:srgbClr val="50616A"/>
                </a:solidFill>
                <a:latin typeface="DejaVu Sans"/>
                <a:ea typeface="DejaVu Sans"/>
                <a:cs typeface="DejaVu Sans"/>
              </a:defRPr>
            </a:lvl5pPr>
            <a:lvl6pPr>
              <a:buNone/>
              <a:defRPr sz="1350" b="0">
                <a:solidFill>
                  <a:srgbClr val="50616A"/>
                </a:solidFill>
                <a:latin typeface="DejaVu Sans"/>
                <a:ea typeface="DejaVu Sans"/>
                <a:cs typeface="DejaVu Sans"/>
              </a:defRPr>
            </a:lvl6pPr>
            <a:lvl7pPr>
              <a:buNone/>
              <a:defRPr sz="1350" b="0">
                <a:solidFill>
                  <a:srgbClr val="50616A"/>
                </a:solidFill>
                <a:latin typeface="DejaVu Sans"/>
                <a:ea typeface="DejaVu Sans"/>
                <a:cs typeface="DejaVu Sans"/>
              </a:defRPr>
            </a:lvl7pPr>
            <a:lvl8pPr>
              <a:buNone/>
              <a:defRPr sz="1350" b="0">
                <a:solidFill>
                  <a:srgbClr val="50616A"/>
                </a:solidFill>
                <a:latin typeface="DejaVu Sans"/>
                <a:ea typeface="DejaVu Sans"/>
                <a:cs typeface="DejaVu Sans"/>
              </a:defRPr>
            </a:lvl8pPr>
            <a:lvl9pPr>
              <a:buNone/>
              <a:defRPr sz="1350" b="0">
                <a:solidFill>
                  <a:srgbClr val="50616A"/>
                </a:solidFill>
                <a:latin typeface="DejaVu Sans"/>
                <a:ea typeface="DejaVu Sans"/>
                <a:cs typeface="DejaVu Sans"/>
              </a:defRPr>
            </a:lvl9pPr>
          </a:lstStyle>
          <a:p xmlns:a="http://schemas.openxmlformats.org/drawingml/2006/main">
            <a:pPr>
              <a:buNone/>
              <a:defRPr sz="1350" b="0">
                <a:solidFill>
                  <a:srgbClr val="50616A"/>
                </a:solidFill>
                <a:latin typeface="DejaVu Sans"/>
                <a:ea typeface="DejaVu Sans"/>
                <a:cs typeface="DejaVu Sans"/>
              </a:defRPr>
            </a:pPr>
            <a:r>
              <a:rPr sz="1350" b="0">
                <a:solidFill>
                  <a:srgbClr val="50616A"/>
                </a:solidFill>
                <a:latin typeface="DejaVu Sans"/>
                <a:ea typeface="DejaVu Sans"/>
                <a:cs typeface="DejaVu Sans"/>
              </a:rPr>
              <a:t>15</a:t>
            </a:r>
          </a:p>
        </p:txBody>
      </p:sp>
      <p:sp>
        <p:nvSpPr>
          <p:cNvPr id="4" name="">
            <a:extLst xmlns:a="http://schemas.openxmlformats.org/drawingml/2006/main">
              <a:ext uri="{FF2B5EF4-FFF2-40B4-BE49-F238E27FC236}">
                <a16:creationId xmlns:a16="http://schemas.microsoft.com/office/drawing/2014/main" id="{987E7140-AC22-4DED-9F61-AB6983CFE03F}"/>
              </a:ext>
            </a:extLst>
          </p:cNvPr>
          <p:cNvSpPr>
            <a:spLocks xmlns:a="http://schemas.openxmlformats.org/drawingml/2006/main" noGrp="1"/>
          </p:cNvSpPr>
          <p:nvPr/>
        </p:nvSpPr>
        <p:spPr>
          <a:xfrm xmlns:a="http://schemas.openxmlformats.org/drawingml/2006/main">
            <a:off x="609600" y="2238375"/>
            <a:ext cx="108585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007E80"/>
                </a:solidFill>
                <a:latin typeface="DejaVu Sans"/>
                <a:ea typeface="DejaVu Sans"/>
                <a:cs typeface="DejaVu Sans"/>
              </a:defRPr>
            </a:defPPr>
            <a:lvl1pPr>
              <a:buNone/>
              <a:defRPr sz="3300" b="1">
                <a:solidFill>
                  <a:srgbClr val="007E80"/>
                </a:solidFill>
                <a:latin typeface="DejaVu Sans"/>
                <a:ea typeface="DejaVu Sans"/>
                <a:cs typeface="DejaVu Sans"/>
              </a:defRPr>
            </a:lvl1pPr>
            <a:lvl2pPr>
              <a:buNone/>
              <a:defRPr sz="3300" b="1">
                <a:solidFill>
                  <a:srgbClr val="007E80"/>
                </a:solidFill>
                <a:latin typeface="DejaVu Sans"/>
                <a:ea typeface="DejaVu Sans"/>
                <a:cs typeface="DejaVu Sans"/>
              </a:defRPr>
            </a:lvl2pPr>
            <a:lvl3pPr>
              <a:buNone/>
              <a:defRPr sz="3300" b="1">
                <a:solidFill>
                  <a:srgbClr val="007E80"/>
                </a:solidFill>
                <a:latin typeface="DejaVu Sans"/>
                <a:ea typeface="DejaVu Sans"/>
                <a:cs typeface="DejaVu Sans"/>
              </a:defRPr>
            </a:lvl3pPr>
            <a:lvl4pPr>
              <a:buNone/>
              <a:defRPr sz="3300" b="1">
                <a:solidFill>
                  <a:srgbClr val="007E80"/>
                </a:solidFill>
                <a:latin typeface="DejaVu Sans"/>
                <a:ea typeface="DejaVu Sans"/>
                <a:cs typeface="DejaVu Sans"/>
              </a:defRPr>
            </a:lvl4pPr>
            <a:lvl5pPr>
              <a:buNone/>
              <a:defRPr sz="3300" b="1">
                <a:solidFill>
                  <a:srgbClr val="007E80"/>
                </a:solidFill>
                <a:latin typeface="DejaVu Sans"/>
                <a:ea typeface="DejaVu Sans"/>
                <a:cs typeface="DejaVu Sans"/>
              </a:defRPr>
            </a:lvl5pPr>
            <a:lvl6pPr>
              <a:buNone/>
              <a:defRPr sz="3300" b="1">
                <a:solidFill>
                  <a:srgbClr val="007E80"/>
                </a:solidFill>
                <a:latin typeface="DejaVu Sans"/>
                <a:ea typeface="DejaVu Sans"/>
                <a:cs typeface="DejaVu Sans"/>
              </a:defRPr>
            </a:lvl6pPr>
            <a:lvl7pPr>
              <a:buNone/>
              <a:defRPr sz="3300" b="1">
                <a:solidFill>
                  <a:srgbClr val="007E80"/>
                </a:solidFill>
                <a:latin typeface="DejaVu Sans"/>
                <a:ea typeface="DejaVu Sans"/>
                <a:cs typeface="DejaVu Sans"/>
              </a:defRPr>
            </a:lvl7pPr>
            <a:lvl8pPr>
              <a:buNone/>
              <a:defRPr sz="3300" b="1">
                <a:solidFill>
                  <a:srgbClr val="007E80"/>
                </a:solidFill>
                <a:latin typeface="DejaVu Sans"/>
                <a:ea typeface="DejaVu Sans"/>
                <a:cs typeface="DejaVu Sans"/>
              </a:defRPr>
            </a:lvl8pPr>
            <a:lvl9pPr>
              <a:buNone/>
              <a:defRPr sz="3300" b="1">
                <a:solidFill>
                  <a:srgbClr val="007E80"/>
                </a:solidFill>
                <a:latin typeface="DejaVu Sans"/>
                <a:ea typeface="DejaVu Sans"/>
                <a:cs typeface="DejaVu Sans"/>
              </a:defRPr>
            </a:lvl9pPr>
          </a:lstStyle>
          <a:p xmlns:a="http://schemas.openxmlformats.org/drawingml/2006/main">
            <a:pPr>
              <a:buNone/>
              <a:defRPr sz="3300" b="1">
                <a:solidFill>
                  <a:srgbClr val="007E80"/>
                </a:solidFill>
                <a:latin typeface="DejaVu Sans"/>
                <a:ea typeface="DejaVu Sans"/>
                <a:cs typeface="DejaVu Sans"/>
              </a:defRPr>
            </a:pPr>
            <a:r>
              <a:rPr sz="3300" b="1">
                <a:solidFill>
                  <a:srgbClr val="007E80"/>
                </a:solidFill>
                <a:latin typeface="DejaVu Sans"/>
                <a:ea typeface="DejaVu Sans"/>
                <a:cs typeface="DejaVu Sans"/>
              </a:rPr>
              <a:t>One view for process states</a:t>
            </a:r>
          </a:p>
          <a:p xmlns:a="http://schemas.openxmlformats.org/drawingml/2006/main">
            <a:pPr>
              <a:buNone/>
              <a:defRPr sz="3300" b="1">
                <a:solidFill>
                  <a:srgbClr val="007E80"/>
                </a:solidFill>
                <a:latin typeface="DejaVu Sans"/>
                <a:ea typeface="DejaVu Sans"/>
                <a:cs typeface="DejaVu Sans"/>
              </a:defRPr>
            </a:pPr>
            <a:r>
              <a:rPr sz="3300" b="1">
                <a:solidFill>
                  <a:srgbClr val="007E80"/>
                </a:solidFill>
                <a:latin typeface="DejaVu Sans"/>
                <a:ea typeface="DejaVu Sans"/>
                <a:cs typeface="DejaVu Sans"/>
              </a:rPr>
              <a:t>and parent–child relationships</a:t>
            </a:r>
          </a:p>
        </p:txBody>
      </p:sp>
      <p:sp>
        <p:nvSpPr>
          <p:cNvPr id="5" name="">
            <a:extLst xmlns:a="http://schemas.openxmlformats.org/drawingml/2006/main">
              <a:ext uri="{FF2B5EF4-FFF2-40B4-BE49-F238E27FC236}">
                <a16:creationId xmlns:a16="http://schemas.microsoft.com/office/drawing/2014/main" id="{CA22B5D6-80CB-460D-8CA3-63C4DC427527}"/>
              </a:ext>
            </a:extLst>
          </p:cNvPr>
          <p:cNvSpPr>
            <a:spLocks xmlns:a="http://schemas.openxmlformats.org/drawingml/2006/main" noGrp="1"/>
          </p:cNvSpPr>
          <p:nvPr/>
        </p:nvSpPr>
        <p:spPr>
          <a:xfrm xmlns:a="http://schemas.openxmlformats.org/drawingml/2006/main">
            <a:off x="609600" y="4038600"/>
            <a:ext cx="108585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02A36"/>
                </a:solidFill>
                <a:latin typeface="DejaVu Sans"/>
                <a:ea typeface="DejaVu Sans"/>
                <a:cs typeface="DejaVu Sans"/>
              </a:defRPr>
            </a:defPPr>
            <a:lvl1pPr>
              <a:buNone/>
              <a:defRPr sz="2025" b="0">
                <a:solidFill>
                  <a:srgbClr val="102A36"/>
                </a:solidFill>
                <a:latin typeface="DejaVu Sans"/>
                <a:ea typeface="DejaVu Sans"/>
                <a:cs typeface="DejaVu Sans"/>
              </a:defRPr>
            </a:lvl1pPr>
            <a:lvl2pPr>
              <a:buNone/>
              <a:defRPr sz="2025" b="0">
                <a:solidFill>
                  <a:srgbClr val="102A36"/>
                </a:solidFill>
                <a:latin typeface="DejaVu Sans"/>
                <a:ea typeface="DejaVu Sans"/>
                <a:cs typeface="DejaVu Sans"/>
              </a:defRPr>
            </a:lvl2pPr>
            <a:lvl3pPr>
              <a:buNone/>
              <a:defRPr sz="2025" b="0">
                <a:solidFill>
                  <a:srgbClr val="102A36"/>
                </a:solidFill>
                <a:latin typeface="DejaVu Sans"/>
                <a:ea typeface="DejaVu Sans"/>
                <a:cs typeface="DejaVu Sans"/>
              </a:defRPr>
            </a:lvl3pPr>
            <a:lvl4pPr>
              <a:buNone/>
              <a:defRPr sz="2025" b="0">
                <a:solidFill>
                  <a:srgbClr val="102A36"/>
                </a:solidFill>
                <a:latin typeface="DejaVu Sans"/>
                <a:ea typeface="DejaVu Sans"/>
                <a:cs typeface="DejaVu Sans"/>
              </a:defRPr>
            </a:lvl4pPr>
            <a:lvl5pPr>
              <a:buNone/>
              <a:defRPr sz="2025" b="0">
                <a:solidFill>
                  <a:srgbClr val="102A36"/>
                </a:solidFill>
                <a:latin typeface="DejaVu Sans"/>
                <a:ea typeface="DejaVu Sans"/>
                <a:cs typeface="DejaVu Sans"/>
              </a:defRPr>
            </a:lvl5pPr>
            <a:lvl6pPr>
              <a:buNone/>
              <a:defRPr sz="2025" b="0">
                <a:solidFill>
                  <a:srgbClr val="102A36"/>
                </a:solidFill>
                <a:latin typeface="DejaVu Sans"/>
                <a:ea typeface="DejaVu Sans"/>
                <a:cs typeface="DejaVu Sans"/>
              </a:defRPr>
            </a:lvl6pPr>
            <a:lvl7pPr>
              <a:buNone/>
              <a:defRPr sz="2025" b="0">
                <a:solidFill>
                  <a:srgbClr val="102A36"/>
                </a:solidFill>
                <a:latin typeface="DejaVu Sans"/>
                <a:ea typeface="DejaVu Sans"/>
                <a:cs typeface="DejaVu Sans"/>
              </a:defRPr>
            </a:lvl7pPr>
            <a:lvl8pPr>
              <a:buNone/>
              <a:defRPr sz="2025" b="0">
                <a:solidFill>
                  <a:srgbClr val="102A36"/>
                </a:solidFill>
                <a:latin typeface="DejaVu Sans"/>
                <a:ea typeface="DejaVu Sans"/>
                <a:cs typeface="DejaVu Sans"/>
              </a:defRPr>
            </a:lvl8pPr>
            <a:lvl9pPr>
              <a:buNone/>
              <a:defRPr sz="2025" b="0">
                <a:solidFill>
                  <a:srgbClr val="102A36"/>
                </a:solidFill>
                <a:latin typeface="DejaVu Sans"/>
                <a:ea typeface="DejaVu Sans"/>
                <a:cs typeface="DejaVu Sans"/>
              </a:defRPr>
            </a:lvl9pPr>
          </a:lstStyle>
          <a:p xmlns:a="http://schemas.openxmlformats.org/drawingml/2006/main">
            <a:pPr>
              <a:buNone/>
              <a:defRPr sz="2025" b="0">
                <a:solidFill>
                  <a:srgbClr val="102A36"/>
                </a:solidFill>
                <a:latin typeface="DejaVu Sans"/>
                <a:ea typeface="DejaVu Sans"/>
                <a:cs typeface="DejaVu Sans"/>
              </a:defRPr>
            </a:pPr>
            <a:r>
              <a:rPr sz="2025" b="0">
                <a:solidFill>
                  <a:srgbClr val="102A36"/>
                </a:solidFill>
                <a:latin typeface="DejaVu Sans"/>
                <a:ea typeface="DejaVu Sans"/>
                <a:cs typeface="DejaVu Sans"/>
              </a:rPr>
              <a:t>Linux manual: wait(2) and waitpid(2)</a:t>
            </a:r>
          </a:p>
          <a:p xmlns:a="http://schemas.openxmlformats.org/drawingml/2006/main">
            <a:pPr>
              <a:buNone/>
              <a:defRPr sz="2025" b="0">
                <a:solidFill>
                  <a:srgbClr val="102A36"/>
                </a:solidFill>
                <a:latin typeface="DejaVu Sans"/>
                <a:ea typeface="DejaVu Sans"/>
                <a:cs typeface="DejaVu Sans"/>
              </a:defRPr>
            </a:pPr>
            <a:r>
              <a:rPr sz="2025" b="0">
                <a:solidFill>
                  <a:srgbClr val="102A36"/>
                </a:solidFill>
                <a:latin typeface="DejaVu Sans"/>
                <a:ea typeface="DejaVu Sans"/>
                <a:cs typeface="DejaVu Sans"/>
              </a:rPr>
              <a:t>Psutil documentation: process iteration and status</a:t>
            </a:r>
          </a:p>
          <a:p xmlns:a="http://schemas.openxmlformats.org/drawingml/2006/main">
            <a:pPr>
              <a:buNone/>
              <a:defRPr sz="2025" b="0">
                <a:solidFill>
                  <a:srgbClr val="102A36"/>
                </a:solidFill>
                <a:latin typeface="DejaVu Sans"/>
                <a:ea typeface="DejaVu Sans"/>
                <a:cs typeface="DejaVu Sans"/>
              </a:defRPr>
            </a:pPr>
            <a:r>
              <a:rPr sz="2025" b="0">
                <a:solidFill>
                  <a:srgbClr val="102A36"/>
                </a:solidFill>
                <a:latin typeface="DejaVu Sans"/>
                <a:ea typeface="DejaVu Sans"/>
                <a:cs typeface="DejaVu Sans"/>
              </a:rPr>
              <a:t>Hackathon instructions: Dr. K. Anusha</a:t>
            </a:r>
          </a:p>
        </p:txBody>
      </p:sp>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137160" y="91440"/>
            <a:ext cx="960120" cy="526398"/>
          </a:xfrm>
          <a:prstGeom prst="rect">
            <a:avLst/>
          </a:prstGeom>
        </p:spPr>
      </p:pic>
    </p:spTree>
    <p:extLst>
      <p:ext uri="{BB962C8B-B14F-4D97-AF65-F5344CB8AC3E}">
        <p14:creationId xmlns:p14="http://schemas.microsoft.com/office/powerpoint/2010/main" val="12917113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2026-10-17T05:02:41.0940000Z</dcterms:created>
  <dcterms:modified xsi:type="dcterms:W3CDTF">2026-10-17T05:02:41.0940000Z</dcterms:modified>
</coreProperties>
</file>